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azure.microsoft.com/en-us/pricing/details/postgresql/flexible-server/" TargetMode="External"/><Relationship Id="rId8" Type="http://schemas.openxmlformats.org/officeDocument/2006/relationships/hyperlink" Target="https://www.decerto.com/us/post/ai-claims-decisioning-framework-2026-what-us-claims-leaders-told-us-about-how-decisions-actually-get-made" TargetMode="External"/><Relationship Id="rId9" Type="http://schemas.openxmlformats.org/officeDocument/2006/relationships/hyperlink" Target="https://www.bcg.com/publications/2024/transforming-customer-service-operations-with-genai" TargetMode="External"/><Relationship Id="rId10" Type="http://schemas.openxmlformats.org/officeDocument/2006/relationships/hyperlink" Target="https://www.glukhov.org/app-architecture/integration-patterns/dead-letter-queues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“€153k” means: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year, at the loaded cost of a handler-hour. Capacity, not cash — it becomes money only if the hours go to the backlog or are absorbed by normal staff turnover. Full build-up on slide 7.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914400"/>
          </a:xfrm>
          <a:prstGeom prst="roundRect">
            <a:avLst>
              <a:gd name="adj" fmla="val 6000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 not what decides this — the value released covers running and maintaining it 5.7 times over. What decides it is governance: proving a person reviewed anything that can go against a claimant, and whether handlers trust the drafts.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throughout: the 21-minute-per-claim saving is a three-point estimate (best 30 / likely 21 / worst 12), not the design maximum. Build-up on slide 7, sources on slide 8.</a:t>
            </a:r>
            <a:endParaRPr lang="en-US" sz="76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 across all three parts:
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LLM agents + 1 rules-only node · 2 human checkpoints kept by design · 3 entry channels → 1 · 3 sequential gates → 1 parallel check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on the same state, beside claim creation — so the handoff between the two workflows disappears rather than being managed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 —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graph, one typed state object, and a person before anything leaves the building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IMPLEMENTATION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08860" y="1042416"/>
            <a:ext cx="7552944" cy="402336"/>
          </a:xfrm>
          <a:prstGeom prst="roundRect">
            <a:avLst>
              <a:gd name="adj" fmla="val 11364"/>
            </a:avLst>
          </a:prstGeom>
          <a:solidFill>
            <a:srgbClr val="EEF3F8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08860" y="1042416"/>
            <a:ext cx="7552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state graph  ·  one ClaimState carries fields, confidence and the audit trail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80" dirty="0"/>
          </a:p>
        </p:txBody>
      </p:sp>
      <p:sp>
        <p:nvSpPr>
          <p:cNvPr id="9" name="Shape 7"/>
          <p:cNvSpPr/>
          <p:nvPr/>
        </p:nvSpPr>
        <p:spPr>
          <a:xfrm>
            <a:off x="21168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3088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003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4003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0599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519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434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3434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60030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1950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865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865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 — no model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9461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outcome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889236" y="2194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081260" y="1627632"/>
            <a:ext cx="1723644" cy="1133856"/>
          </a:xfrm>
          <a:prstGeom prst="roundRect">
            <a:avLst>
              <a:gd name="adj" fmla="val 4839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72700" y="1865376"/>
            <a:ext cx="15407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approves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228600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8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written to IDB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5760" y="2852928"/>
            <a:ext cx="1723644" cy="347472"/>
          </a:xfrm>
          <a:prstGeom prst="roundRect">
            <a:avLst>
              <a:gd name="adj" fmla="val 13158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20624" y="2852928"/>
            <a:ext cx="16139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7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4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2308860" y="2852928"/>
            <a:ext cx="9496044" cy="347472"/>
          </a:xfrm>
          <a:prstGeom prst="roundRect">
            <a:avLst>
              <a:gd name="adj" fmla="val 13158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08860" y="2852928"/>
            <a:ext cx="94960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32918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 — WHO OWNS WHAT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493008"/>
            <a:ext cx="3697224" cy="384048"/>
          </a:xfrm>
          <a:prstGeom prst="roundRect">
            <a:avLst>
              <a:gd name="adj" fmla="val 11905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93776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057400" y="3493008"/>
            <a:ext cx="191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 — never decide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4245864" y="3493008"/>
            <a:ext cx="3697224" cy="384048"/>
          </a:xfrm>
          <a:prstGeom prst="roundRect">
            <a:avLst>
              <a:gd name="adj" fmla="val 11905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73880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937504" y="3493008"/>
            <a:ext cx="191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 — pass or fail, nothing in between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25968" y="3493008"/>
            <a:ext cx="3697224" cy="384048"/>
          </a:xfrm>
          <a:prstGeom prst="roundRect">
            <a:avLst>
              <a:gd name="adj" fmla="val 11905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253984" y="3493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9817608" y="3493008"/>
            <a:ext cx="1914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780" dirty="0"/>
          </a:p>
        </p:txBody>
      </p:sp>
      <p:sp>
        <p:nvSpPr>
          <p:cNvPr id="43" name="Text 41"/>
          <p:cNvSpPr txBox="1"/>
          <p:nvPr/>
        </p:nvSpPr>
        <p:spPr>
          <a:xfrm>
            <a:off x="365760" y="39136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owns the drafting. Rules own the facts. A person owns every call that can go against a claimant.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365760" y="42062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65760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02336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655064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691640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780" dirty="0"/>
          </a:p>
        </p:txBody>
      </p:sp>
      <p:sp>
        <p:nvSpPr>
          <p:cNvPr id="49" name="Shape 47"/>
          <p:cNvSpPr/>
          <p:nvPr/>
        </p:nvSpPr>
        <p:spPr>
          <a:xfrm>
            <a:off x="2944368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980944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780" dirty="0"/>
          </a:p>
        </p:txBody>
      </p:sp>
      <p:sp>
        <p:nvSpPr>
          <p:cNvPr id="51" name="Shape 49"/>
          <p:cNvSpPr/>
          <p:nvPr/>
        </p:nvSpPr>
        <p:spPr>
          <a:xfrm>
            <a:off x="4233672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270248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5522976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559552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6812280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848856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8101584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138160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780" dirty="0"/>
          </a:p>
        </p:txBody>
      </p:sp>
      <p:sp>
        <p:nvSpPr>
          <p:cNvPr id="59" name="Shape 57"/>
          <p:cNvSpPr/>
          <p:nvPr/>
        </p:nvSpPr>
        <p:spPr>
          <a:xfrm>
            <a:off x="9390888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427464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10680192" y="4407408"/>
            <a:ext cx="1143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716768" y="4407408"/>
            <a:ext cx="1069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78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4809744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 · infrastructure as code · one on/off switch per agent · model version pinned</a:t>
            </a:r>
            <a:endParaRPr lang="en-US" sz="760" dirty="0"/>
          </a:p>
        </p:txBody>
      </p:sp>
      <p:sp>
        <p:nvSpPr>
          <p:cNvPr id="64" name="Text 62"/>
          <p:cNvSpPr txBox="1"/>
          <p:nvPr/>
        </p:nvSpPr>
        <p:spPr>
          <a:xfrm>
            <a:off x="365760" y="51023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65760" y="5303520"/>
            <a:ext cx="2699766" cy="640080"/>
          </a:xfrm>
          <a:prstGeom prst="roundRect">
            <a:avLst>
              <a:gd name="adj" fmla="val 8571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12064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960" dirty="0"/>
          </a:p>
        </p:txBody>
      </p:sp>
      <p:sp>
        <p:nvSpPr>
          <p:cNvPr id="67" name="Text 65"/>
          <p:cNvSpPr txBox="1"/>
          <p:nvPr/>
        </p:nvSpPr>
        <p:spPr>
          <a:xfrm>
            <a:off x="512064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40" dirty="0"/>
          </a:p>
        </p:txBody>
      </p:sp>
      <p:sp>
        <p:nvSpPr>
          <p:cNvPr id="68" name="Text 66"/>
          <p:cNvSpPr txBox="1"/>
          <p:nvPr/>
        </p:nvSpPr>
        <p:spPr>
          <a:xfrm>
            <a:off x="512064" y="5559552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760" dirty="0"/>
          </a:p>
        </p:txBody>
      </p:sp>
      <p:sp>
        <p:nvSpPr>
          <p:cNvPr id="69" name="Shape 67"/>
          <p:cNvSpPr/>
          <p:nvPr/>
        </p:nvSpPr>
        <p:spPr>
          <a:xfrm>
            <a:off x="3092958" y="5623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284982" y="5303520"/>
            <a:ext cx="2699766" cy="640080"/>
          </a:xfrm>
          <a:prstGeom prst="roundRect">
            <a:avLst>
              <a:gd name="adj" fmla="val 8571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431286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960" dirty="0"/>
          </a:p>
        </p:txBody>
      </p:sp>
      <p:sp>
        <p:nvSpPr>
          <p:cNvPr id="72" name="Text 70"/>
          <p:cNvSpPr txBox="1"/>
          <p:nvPr/>
        </p:nvSpPr>
        <p:spPr>
          <a:xfrm>
            <a:off x="3431286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40" dirty="0"/>
          </a:p>
        </p:txBody>
      </p:sp>
      <p:sp>
        <p:nvSpPr>
          <p:cNvPr id="73" name="Text 71"/>
          <p:cNvSpPr txBox="1"/>
          <p:nvPr/>
        </p:nvSpPr>
        <p:spPr>
          <a:xfrm>
            <a:off x="3431286" y="5559552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6012180" y="5623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6204204" y="5303520"/>
            <a:ext cx="2699766" cy="640080"/>
          </a:xfrm>
          <a:prstGeom prst="roundRect">
            <a:avLst>
              <a:gd name="adj" fmla="val 8571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350508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60" dirty="0"/>
          </a:p>
        </p:txBody>
      </p:sp>
      <p:sp>
        <p:nvSpPr>
          <p:cNvPr id="77" name="Text 75"/>
          <p:cNvSpPr txBox="1"/>
          <p:nvPr/>
        </p:nvSpPr>
        <p:spPr>
          <a:xfrm>
            <a:off x="6350508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40" dirty="0"/>
          </a:p>
        </p:txBody>
      </p:sp>
      <p:sp>
        <p:nvSpPr>
          <p:cNvPr id="78" name="Text 76"/>
          <p:cNvSpPr txBox="1"/>
          <p:nvPr/>
        </p:nvSpPr>
        <p:spPr>
          <a:xfrm>
            <a:off x="6350508" y="5559552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8931402" y="562356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9123426" y="5303520"/>
            <a:ext cx="2699766" cy="640080"/>
          </a:xfrm>
          <a:prstGeom prst="roundRect">
            <a:avLst>
              <a:gd name="adj" fmla="val 8571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269730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960" dirty="0"/>
          </a:p>
        </p:txBody>
      </p:sp>
      <p:sp>
        <p:nvSpPr>
          <p:cNvPr id="82" name="Text 80"/>
          <p:cNvSpPr txBox="1"/>
          <p:nvPr/>
        </p:nvSpPr>
        <p:spPr>
          <a:xfrm>
            <a:off x="9269730" y="5376672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40" dirty="0"/>
          </a:p>
        </p:txBody>
      </p:sp>
      <p:sp>
        <p:nvSpPr>
          <p:cNvPr id="83" name="Text 81"/>
          <p:cNvSpPr txBox="1"/>
          <p:nvPr/>
        </p:nvSpPr>
        <p:spPr>
          <a:xfrm>
            <a:off x="9269730" y="5559552"/>
            <a:ext cx="24071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760" dirty="0"/>
          </a:p>
        </p:txBody>
      </p:sp>
      <p:sp>
        <p:nvSpPr>
          <p:cNvPr id="84" name="Text 82"/>
          <p:cNvSpPr txBox="1"/>
          <p:nvPr/>
        </p:nvSpPr>
        <p:spPr>
          <a:xfrm>
            <a:off x="365760" y="6035040"/>
            <a:ext cx="1143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drops into today's manual queue — slower, never wrong · what it costs is on slide 7</a:t>
            </a:r>
            <a:endParaRPr lang="en-US" sz="700" dirty="0"/>
          </a:p>
        </p:txBody>
      </p:sp>
      <p:sp>
        <p:nvSpPr>
          <p:cNvPr id="85" name="Text 8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86" name="Text 8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built from observed steps and list prices — none of it is a best case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0" y="146304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INTAKE TIME — MINUTES PER CLAIM, PER PERSON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960120"/>
                <a:gridCol w="960120"/>
              </a:tblGrid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the report, re-read it, open attachments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 notes, check fields, chase a missing CPR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Attach policy · duplicate check · coverage date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 / open the full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 an escalation or an underwriting hold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EASY, IDB, e-mail and paper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Breaks, fatigue, interruptions, rework (+30%)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 — what the design allows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business case actually banks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12724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design allows 10.1 min a claim. We do not bank that. The case uses a three-point estimate — (best 30 + 4 × likely 21 + worst 12) ÷ 6 = 21.0 min saved a claim — which is the 19.0 min above, and the 19 minutes on slide 1. In plain terms: we assume handlers capture 70% of the saving the design allows.</a:t>
            </a:r>
            <a:endParaRPr lang="en-US" sz="740" dirty="0"/>
          </a:p>
        </p:txBody>
      </p:sp>
      <p:sp>
        <p:nvSpPr>
          <p:cNvPr id="7" name="Shape 4"/>
          <p:cNvSpPr/>
          <p:nvPr/>
        </p:nvSpPr>
        <p:spPr>
          <a:xfrm>
            <a:off x="365760" y="3493008"/>
            <a:ext cx="5486400" cy="548640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" y="3493008"/>
            <a:ext cx="5157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2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  </a:t>
            </a:r>
            <a:pPr indent="0" marL="0">
              <a:lnSpc>
                <a:spcPct val="115000"/>
              </a:lnSpc>
              <a:buNone/>
            </a:pPr>
            <a:r>
              <a:rPr lang="en-US" sz="82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× 12,500 claims a year = 8,332 handler-hours — 26% of the 20 handlers' year, 17% of all 30. Per handler: 2.5 claims a day at 40 min is 1.7 of a 6.4-hour day.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365760" y="4114800"/>
            <a:ext cx="5486400" cy="2395728"/>
          </a:xfrm>
          <a:prstGeom prst="roundRect">
            <a:avLst>
              <a:gd name="adj" fmla="val 2290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420624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· THE BUSINESS CASE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425696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76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608576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069080" y="4608576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84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05172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4805172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 a year</a:t>
            </a:r>
            <a:endParaRPr lang="en-US" sz="84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0176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84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500176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9836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4069080" y="519836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84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394960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840" dirty="0"/>
          </a:p>
        </p:txBody>
      </p:sp>
      <p:sp>
        <p:nvSpPr>
          <p:cNvPr id="21" name="Text 18"/>
          <p:cNvSpPr txBox="1"/>
          <p:nvPr/>
        </p:nvSpPr>
        <p:spPr>
          <a:xfrm>
            <a:off x="4069080" y="5394960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840" dirty="0"/>
          </a:p>
        </p:txBody>
      </p:sp>
      <p:sp>
        <p:nvSpPr>
          <p:cNvPr id="22" name="Shape 19"/>
          <p:cNvSpPr/>
          <p:nvPr/>
        </p:nvSpPr>
        <p:spPr>
          <a:xfrm>
            <a:off x="548640" y="5614416"/>
            <a:ext cx="5120640" cy="10973"/>
          </a:xfrm>
          <a:prstGeom prst="rect">
            <a:avLst/>
          </a:prstGeom>
          <a:solidFill>
            <a:srgbClr val="E4E4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66928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12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76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70448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840" dirty="0"/>
          </a:p>
        </p:txBody>
      </p:sp>
      <p:sp>
        <p:nvSpPr>
          <p:cNvPr id="25" name="Text 22"/>
          <p:cNvSpPr txBox="1"/>
          <p:nvPr/>
        </p:nvSpPr>
        <p:spPr>
          <a:xfrm>
            <a:off x="4069080" y="5870448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84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67044"/>
            <a:ext cx="35204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840" dirty="0"/>
          </a:p>
        </p:txBody>
      </p:sp>
      <p:sp>
        <p:nvSpPr>
          <p:cNvPr id="27" name="Text 24"/>
          <p:cNvSpPr txBox="1"/>
          <p:nvPr/>
        </p:nvSpPr>
        <p:spPr>
          <a:xfrm>
            <a:off x="4069080" y="6067044"/>
            <a:ext cx="16002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84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7278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2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 New cash needed: €2,400 a year. A shorter build costs less: 4 months ≈ €98k.</a:t>
            </a:r>
            <a:endParaRPr lang="en-US" sz="720" dirty="0"/>
          </a:p>
        </p:txBody>
      </p:sp>
      <p:sp>
        <p:nvSpPr>
          <p:cNvPr id="29" name="Text 26"/>
          <p:cNvSpPr txBox="1"/>
          <p:nvPr/>
        </p:nvSpPr>
        <p:spPr>
          <a:xfrm>
            <a:off x="6263640" y="53035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AI COST TO PROCESS ONE CLAIM</a:t>
            </a:r>
            <a:endParaRPr lang="en-US" sz="9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786384"/>
          <a:ext cx="548640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914400"/>
                <a:gridCol w="640080"/>
                <a:gridCol w="594360"/>
                <a:gridCol w="9144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/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Classification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0.0032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— rules only, no model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research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0.0020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 drafting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2,200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0.0110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 1.75 for retries, guardrails, evals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0.0833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€0.077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263640" y="27432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≈ a scanned form, an e-mail and 3–4 attachments. All four agents run on one model tier — gpt-5.6 terra, $2 in / $12 out per million tokens.</a:t>
            </a:r>
            <a:endParaRPr lang="en-US" sz="740" dirty="0"/>
          </a:p>
        </p:txBody>
      </p:sp>
      <p:sp>
        <p:nvSpPr>
          <p:cNvPr id="32" name="Text 28"/>
          <p:cNvSpPr txBox="1"/>
          <p:nvPr/>
        </p:nvSpPr>
        <p:spPr>
          <a:xfrm>
            <a:off x="6263640" y="30358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· AZURE, WEST EUROPE — MONTHLY</a:t>
            </a:r>
            <a:endParaRPr lang="en-US" sz="9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291840"/>
          <a:ext cx="5486400" cy="914400"/>
        </p:xfrm>
        <a:graphic>
          <a:graphicData uri="http://schemas.openxmlformats.org/drawingml/2006/table">
            <a:tbl>
              <a:tblPr/>
              <a:tblGrid>
                <a:gridCol w="4434840"/>
                <a:gridCol w="105156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US$/mth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container apps — 2 always on, 2 burst only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B2s + 64 GiB storage and backup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Blob storage for documents + audit logs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new, incl. ~8% West Europe premium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9"/>
          <p:cNvSpPr txBox="1"/>
          <p:nvPr/>
        </p:nvSpPr>
        <p:spPr>
          <a:xfrm>
            <a:off x="6263640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4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Registry, networking, Key Vault and DevOps (≈ €670/yr) already exist, so they are not charged here. Azure DevOps gives repos and pipelines, not a database — PostgreSQL is genuinely new.</a:t>
            </a:r>
            <a:endParaRPr lang="en-US" sz="740" dirty="0"/>
          </a:p>
        </p:txBody>
      </p:sp>
      <p:sp>
        <p:nvSpPr>
          <p:cNvPr id="35" name="Text 30"/>
          <p:cNvSpPr txBox="1"/>
          <p:nvPr/>
        </p:nvSpPr>
        <p:spPr>
          <a:xfrm>
            <a:off x="6263640" y="470001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WHO GETS THE TIME BACK — CONFIRMED BY GGW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6263640" y="490118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handlers, 10 support staff (GGW, 8 Sep) · 52.4 min each × 20 = 17.5 h a day</a:t>
            </a:r>
            <a:endParaRPr lang="en-US" sz="780" dirty="0"/>
          </a:p>
        </p:txBody>
      </p:sp>
      <p:graphicFrame>
        <p:nvGraphicFramePr>
          <p:cNvPr id="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13892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34440"/>
                <a:gridCol w="1188720"/>
                <a:gridCol w="114300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claim handler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Claims taken in,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on intake,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a productive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− 14 pts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back, each, per day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 min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 32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sourced, what GGW confirmed, and what is still our assumption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680960" y="146304"/>
            <a:ext cx="4142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SOURCES &amp; ASSUMPTIONS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</a:t>
            </a:r>
            <a:endParaRPr lang="en-US" sz="86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claim handlers process claims; 10 support staff besides</a:t>
            </a:r>
            <a:endParaRPr lang="en-US" sz="78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365760" y="1042416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EASY imports</a:t>
            </a:r>
            <a:endParaRPr lang="en-US" sz="860" dirty="0"/>
          </a:p>
        </p:txBody>
      </p:sp>
      <p:sp>
        <p:nvSpPr>
          <p:cNvPr id="10" name="Text 8"/>
          <p:cNvSpPr txBox="1"/>
          <p:nvPr/>
        </p:nvSpPr>
        <p:spPr>
          <a:xfrm>
            <a:off x="53035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— so detection comes before retries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3035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(P. Gossmann), 8 Sep 2026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65760" y="1517904"/>
            <a:ext cx="45720" cy="402336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and shares</a:t>
            </a:r>
            <a:endParaRPr lang="en-US" sz="860" dirty="0"/>
          </a:p>
        </p:txBody>
      </p:sp>
      <p:sp>
        <p:nvSpPr>
          <p:cNvPr id="14" name="Text 12"/>
          <p:cNvSpPr txBox="1"/>
          <p:nvPr/>
        </p:nvSpPr>
        <p:spPr>
          <a:xfrm>
            <a:off x="53035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 first reports a day · 65% minor · ~30 in the team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53035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case study brief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36576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Wage base — handlers</a:t>
            </a:r>
            <a:endParaRPr lang="en-US" sz="860" dirty="0"/>
          </a:p>
        </p:txBody>
      </p:sp>
      <p:sp>
        <p:nvSpPr>
          <p:cNvPr id="18" name="Text 16"/>
          <p:cNvSpPr txBox="1"/>
          <p:nvPr/>
        </p:nvSpPr>
        <p:spPr>
          <a:xfrm>
            <a:off x="53035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Schadenregulierer/in, €45,100 gross — the role doing intake</a:t>
            </a:r>
            <a:endParaRPr lang="en-US" sz="780" dirty="0"/>
          </a:p>
        </p:txBody>
      </p:sp>
      <p:sp>
        <p:nvSpPr>
          <p:cNvPr id="19" name="Text 17">
            <a:hlinkClick r:id="rId1" tooltip="StepStone Gehaltsreport"/>
          </p:cNvPr>
          <p:cNvSpPr txBox="1"/>
          <p:nvPr/>
        </p:nvSpPr>
        <p:spPr>
          <a:xfrm>
            <a:off x="53035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 Gehaltsrepor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StepStone Gehaltsreport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6576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 on-cost</a:t>
            </a:r>
            <a:endParaRPr lang="en-US" sz="860" dirty="0"/>
          </a:p>
        </p:txBody>
      </p:sp>
      <p:sp>
        <p:nvSpPr>
          <p:cNvPr id="22" name="Text 20"/>
          <p:cNvSpPr txBox="1"/>
          <p:nvPr/>
        </p:nvSpPr>
        <p:spPr>
          <a:xfrm>
            <a:off x="53035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€23 per €100 gross — health, pension, care</a:t>
            </a:r>
            <a:endParaRPr lang="en-US" sz="780" dirty="0"/>
          </a:p>
        </p:txBody>
      </p:sp>
      <p:sp>
        <p:nvSpPr>
          <p:cNvPr id="23" name="Text 21">
            <a:hlinkClick r:id="rId2" tooltip="Lohnnebenkosten 2026, sevdesk"/>
          </p:cNvPr>
          <p:cNvSpPr txBox="1"/>
          <p:nvPr/>
        </p:nvSpPr>
        <p:spPr>
          <a:xfrm>
            <a:off x="53035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Lohnnebenkosten 2026, 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Lohnnebenkosten 2026, sevdesk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6576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time, breaks</a:t>
            </a:r>
            <a:endParaRPr lang="en-US" sz="860" dirty="0"/>
          </a:p>
        </p:txBody>
      </p:sp>
      <p:sp>
        <p:nvSpPr>
          <p:cNvPr id="26" name="Text 24"/>
          <p:cNvSpPr txBox="1"/>
          <p:nvPr/>
        </p:nvSpPr>
        <p:spPr>
          <a:xfrm>
            <a:off x="53035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h tariff week; statutory break rules</a:t>
            </a:r>
            <a:endParaRPr lang="en-US" sz="780" dirty="0"/>
          </a:p>
        </p:txBody>
      </p:sp>
      <p:sp>
        <p:nvSpPr>
          <p:cNvPr id="27" name="Text 25">
            <a:hlinkClick r:id="rId3" tooltip="Arbeitszeitgesetz §4"/>
          </p:cNvPr>
          <p:cNvSpPr txBox="1"/>
          <p:nvPr/>
        </p:nvSpPr>
        <p:spPr>
          <a:xfrm>
            <a:off x="53035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Arbeitszeitgesetz §4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36576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3035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upkeep pay</a:t>
            </a:r>
            <a:endParaRPr lang="en-US" sz="860" dirty="0"/>
          </a:p>
        </p:txBody>
      </p:sp>
      <p:sp>
        <p:nvSpPr>
          <p:cNvPr id="30" name="Text 28"/>
          <p:cNvSpPr txBox="1"/>
          <p:nvPr/>
        </p:nvSpPr>
        <p:spPr>
          <a:xfrm>
            <a:off x="53035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ML engineer ≈ €98k; juniors at €70k as briefed</a:t>
            </a:r>
            <a:endParaRPr lang="en-US" sz="780" dirty="0"/>
          </a:p>
        </p:txBody>
      </p:sp>
      <p:sp>
        <p:nvSpPr>
          <p:cNvPr id="31" name="Text 29">
            <a:hlinkClick r:id="rId4" tooltip="Glassdoor, ML Engineer Germany"/>
          </p:cNvPr>
          <p:cNvSpPr txBox="1"/>
          <p:nvPr/>
        </p:nvSpPr>
        <p:spPr>
          <a:xfrm>
            <a:off x="53035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, ML Engineer German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Glassdoor, ML Engineer Germany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6172200" y="56692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336792" y="5486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prices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6336792" y="70408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— $2 in / $12 out per million tokens</a:t>
            </a:r>
            <a:endParaRPr lang="en-US" sz="780" dirty="0"/>
          </a:p>
        </p:txBody>
      </p:sp>
      <p:sp>
        <p:nvSpPr>
          <p:cNvPr id="35" name="Text 33">
            <a:hlinkClick r:id="rId5" tooltip="OpenAI API pricing"/>
          </p:cNvPr>
          <p:cNvSpPr txBox="1"/>
          <p:nvPr/>
        </p:nvSpPr>
        <p:spPr>
          <a:xfrm>
            <a:off x="6336792" y="8503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 API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API pricing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104241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36792" y="10241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hosting</a:t>
            </a:r>
            <a:endParaRPr lang="en-US" sz="860" dirty="0"/>
          </a:p>
        </p:txBody>
      </p:sp>
      <p:sp>
        <p:nvSpPr>
          <p:cNvPr id="38" name="Text 36"/>
          <p:cNvSpPr txBox="1"/>
          <p:nvPr/>
        </p:nvSpPr>
        <p:spPr>
          <a:xfrm>
            <a:off x="6336792" y="117957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Consumption plan rates and the monthly free grant</a:t>
            </a:r>
            <a:endParaRPr lang="en-US" sz="780" dirty="0"/>
          </a:p>
        </p:txBody>
      </p:sp>
      <p:sp>
        <p:nvSpPr>
          <p:cNvPr id="39" name="Text 37">
            <a:hlinkClick r:id="rId6" tooltip="Azure Container Apps pricing"/>
          </p:cNvPr>
          <p:cNvSpPr txBox="1"/>
          <p:nvPr/>
        </p:nvSpPr>
        <p:spPr>
          <a:xfrm>
            <a:off x="6336792" y="13258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Container Apps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Container Apps pricing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6172200" y="1517904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336792" y="14996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860" dirty="0"/>
          </a:p>
        </p:txBody>
      </p:sp>
      <p:sp>
        <p:nvSpPr>
          <p:cNvPr id="42" name="Text 40"/>
          <p:cNvSpPr txBox="1"/>
          <p:nvPr/>
        </p:nvSpPr>
        <p:spPr>
          <a:xfrm>
            <a:off x="6336792" y="165506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Flexible Server B2s — 2 vCore / 4 GiB</a:t>
            </a:r>
            <a:endParaRPr lang="en-US" sz="780" dirty="0"/>
          </a:p>
        </p:txBody>
      </p:sp>
      <p:sp>
        <p:nvSpPr>
          <p:cNvPr id="43" name="Text 41">
            <a:hlinkClick r:id="rId7" tooltip="Azure Database for PostgreSQL"/>
          </p:cNvPr>
          <p:cNvSpPr txBox="1"/>
          <p:nvPr/>
        </p:nvSpPr>
        <p:spPr>
          <a:xfrm>
            <a:off x="6336792" y="18013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Azure Database for PostgreSQ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Azure Database for PostgreSQL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6172200" y="1993392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36792" y="197510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Upkeep after go-live</a:t>
            </a:r>
            <a:endParaRPr lang="en-US" sz="860" dirty="0"/>
          </a:p>
        </p:txBody>
      </p:sp>
      <p:sp>
        <p:nvSpPr>
          <p:cNvPr id="46" name="Text 44"/>
          <p:cNvSpPr txBox="1"/>
          <p:nvPr/>
        </p:nvSpPr>
        <p:spPr>
          <a:xfrm>
            <a:off x="6336792" y="213055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15–20% of build effort a year — our 0.25 FTE is 17%</a:t>
            </a:r>
            <a:endParaRPr lang="en-US" sz="780" dirty="0"/>
          </a:p>
        </p:txBody>
      </p:sp>
      <p:sp>
        <p:nvSpPr>
          <p:cNvPr id="47" name="Text 45"/>
          <p:cNvSpPr txBox="1"/>
          <p:nvPr/>
        </p:nvSpPr>
        <p:spPr>
          <a:xfrm>
            <a:off x="6336792" y="227685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maintenance rule of thumb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172200" y="2468880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36792" y="245059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baseline</a:t>
            </a:r>
            <a:endParaRPr lang="en-US" sz="860" dirty="0"/>
          </a:p>
        </p:txBody>
      </p:sp>
      <p:sp>
        <p:nvSpPr>
          <p:cNvPr id="50" name="Text 48"/>
          <p:cNvSpPr txBox="1"/>
          <p:nvPr/>
        </p:nvSpPr>
        <p:spPr>
          <a:xfrm>
            <a:off x="6336792" y="260604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of 20 carriers still manual; none let AI decide alone</a:t>
            </a:r>
            <a:endParaRPr lang="en-US" sz="780" dirty="0"/>
          </a:p>
        </p:txBody>
      </p:sp>
      <p:sp>
        <p:nvSpPr>
          <p:cNvPr id="51" name="Text 49">
            <a:hlinkClick r:id="rId8" tooltip="Decerto, 2026 Claims Decisioning Pulse"/>
          </p:cNvPr>
          <p:cNvSpPr txBox="1"/>
          <p:nvPr/>
        </p:nvSpPr>
        <p:spPr>
          <a:xfrm>
            <a:off x="6336792" y="2752344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Decerto, 2026 Claims Decisioning Pulse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172200" y="2944368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36792" y="292608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value comes from</a:t>
            </a:r>
            <a:endParaRPr lang="en-US" sz="860" dirty="0"/>
          </a:p>
        </p:txBody>
      </p:sp>
      <p:sp>
        <p:nvSpPr>
          <p:cNvPr id="54" name="Text 52"/>
          <p:cNvSpPr txBox="1"/>
          <p:nvPr/>
        </p:nvSpPr>
        <p:spPr>
          <a:xfrm>
            <a:off x="6336792" y="308152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10-20-70 split — algorithms, technology, people</a:t>
            </a:r>
            <a:endParaRPr lang="en-US" sz="780" dirty="0"/>
          </a:p>
        </p:txBody>
      </p:sp>
      <p:sp>
        <p:nvSpPr>
          <p:cNvPr id="55" name="Text 53">
            <a:hlinkClick r:id="rId9" tooltip="BCG, AI in customer service operations"/>
          </p:cNvPr>
          <p:cNvSpPr txBox="1"/>
          <p:nvPr/>
        </p:nvSpPr>
        <p:spPr>
          <a:xfrm>
            <a:off x="6336792" y="3227832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CG, AI in customer service operatio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BCG, AI in customer service operations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419856"/>
            <a:ext cx="45720" cy="40233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36792" y="340156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Fixing import failures</a:t>
            </a:r>
            <a:endParaRPr lang="en-US" sz="860" dirty="0"/>
          </a:p>
        </p:txBody>
      </p:sp>
      <p:sp>
        <p:nvSpPr>
          <p:cNvPr id="58" name="Text 56"/>
          <p:cNvSpPr txBox="1"/>
          <p:nvPr/>
        </p:nvSpPr>
        <p:spPr>
          <a:xfrm>
            <a:off x="6336792" y="3557016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vs. dead-letter, idempotency keys, alert on rate</a:t>
            </a:r>
            <a:endParaRPr lang="en-US" sz="780" dirty="0"/>
          </a:p>
        </p:txBody>
      </p:sp>
      <p:sp>
        <p:nvSpPr>
          <p:cNvPr id="59" name="Text 57">
            <a:hlinkClick r:id="rId10" tooltip="Dead-letter queues and poison messages"/>
          </p:cNvPr>
          <p:cNvSpPr txBox="1"/>
          <p:nvPr/>
        </p:nvSpPr>
        <p:spPr>
          <a:xfrm>
            <a:off x="6336792" y="3703320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u="sng" dirty="0">
                <a:solidFill>
                  <a:srgbClr val="0B5F8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Dead-letter queues and poison messag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Dead-letter queues and poison messages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65760" y="3986784"/>
            <a:ext cx="11457432" cy="1152144"/>
          </a:xfrm>
          <a:prstGeom prst="roundRect">
            <a:avLst>
              <a:gd name="adj" fmla="val 476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87368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60" kern="0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OUR ASSUMPTIONS — AND THE FIRST THING WE WOULD TEST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431596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7 · the 30% allowance for breaks and interruptions · how often a CPR is missing (30%) or underwriting is asked (25%) · how often the redesign raises an exception (20%) · the tokens a typical claim needs · the €146k build · the 0.25 FTE upkeep.</a:t>
            </a: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endParaRPr lang="en-US" sz="84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intake is no longer among them — GGW answered it, and every per-person figure in this deck is rebuilt on that answer. Two weeks of watching live intake would replace the rest with measurements.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365760" y="5303520"/>
            <a:ext cx="45720" cy="182880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3035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by GGW or stated in the brief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3657600" y="5303520"/>
            <a:ext cx="45720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22192" y="52852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source, linked</a:t>
            </a:r>
            <a:endParaRPr lang="en-US" sz="76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50992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— gross pay plus employer contributions</a:t>
            </a:r>
            <a:endParaRPr lang="en-US" sz="70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2026-09-16T12:19:39Z</dcterms:created>
  <dcterms:modified xsi:type="dcterms:W3CDTF">2026-09-16T12:19:39Z</dcterms:modified>
</cp:coreProperties>
</file>