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tepstone.de/gehalt/Schadenregulierer-in.html" TargetMode="External"/><Relationship Id="rId2" Type="http://schemas.openxmlformats.org/officeDocument/2006/relationships/hyperlink" Target="https://sevdesk.de/ratgeber/buchhaltung-finanzen/lohnbuchhaltung/lohnnebenkosten/" TargetMode="External"/><Relationship Id="rId3" Type="http://schemas.openxmlformats.org/officeDocument/2006/relationships/hyperlink" Target="https://www.gesetze-im-internet.de/arbzg/__4.html" TargetMode="External"/><Relationship Id="rId4" Type="http://schemas.openxmlformats.org/officeDocument/2006/relationships/hyperlink" Target="https://www.glassdoor.com/Salaries/germany-machine-learning-engineer-salary-SRCH_IL.0,7_IN96_KO8,33.htm" TargetMode="External"/><Relationship Id="rId5" Type="http://schemas.openxmlformats.org/officeDocument/2006/relationships/hyperlink" Target="https://openai.com/api/pricing/" TargetMode="External"/><Relationship Id="rId6" Type="http://schemas.openxmlformats.org/officeDocument/2006/relationships/hyperlink" Target="https://azure.microsoft.com/en-us/pricing/details/container-apps/" TargetMode="External"/><Relationship Id="rId7" Type="http://schemas.openxmlformats.org/officeDocument/2006/relationships/hyperlink" Target="https://www.decerto.com/us/post/ai-claims-decisioning-framework-2026-what-us-claims-leaders-told-us-about-how-decisions-actually-get-made" TargetMode="External"/><Relationship Id="rId8" Type="http://schemas.openxmlformats.org/officeDocument/2006/relationships/hyperlink" Target="https://www.bcg.com/publications/2024/transforming-customer-service-operations-with-genai" TargetMode="External"/><Relationship Id="rId9" Type="http://schemas.openxmlformats.org/officeDocument/2006/relationships/hyperlink" Target="https://www.glukhov.org/app-architecture/integration-patterns/dead-letter-queues/" TargetMode="Externa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0B3B3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060704"/>
            <a:ext cx="12191695" cy="457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778240" y="155448"/>
            <a:ext cx="2953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60" kern="0" dirty="0">
                <a:solidFill>
                  <a:srgbClr val="7FB3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371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Redesigning intake gives each claim handler back 52 minutes a day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76072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9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17.5 hours a day across the 20 of them, or 2.8 full-time people. Most of it goes to the ~65% of claims that close at intake with no permanent injury.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FDF3E3"/>
          </a:solidFill>
          <a:ln w="13970">
            <a:solidFill>
              <a:srgbClr val="D9770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440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one claim costs one claim handler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pPr indent="0" marL="0">
              <a:buNone/>
            </a:pPr>
            <a:r>
              <a:rPr lang="en-US" sz="1200" dirty="0">
                <a:solidFill>
                  <a:srgbClr val="6B62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58368" y="2752344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0467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Re-reads the report, opens attachments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658368" y="2985516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0467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Chases a missing CPR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658368" y="3218688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0467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EASY · IDB · e-mail · paper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658368" y="3451860"/>
            <a:ext cx="54864" cy="54864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0467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for breaks and interruptions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4160520" y="1325880"/>
            <a:ext cx="3429000" cy="2487168"/>
          </a:xfrm>
          <a:prstGeom prst="roundRect">
            <a:avLst>
              <a:gd name="adj" fmla="val 2206"/>
            </a:avLst>
          </a:prstGeom>
          <a:solidFill>
            <a:srgbClr val="E4F4F8"/>
          </a:solidFill>
          <a:ln w="1397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61688" y="1463040"/>
            <a:ext cx="3026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REDESIGNED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4361688" y="1728216"/>
            <a:ext cx="3026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3447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check and every exit kept, run in a new order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361688" y="2112264"/>
            <a:ext cx="3026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pPr indent="0" marL="0">
              <a:buNone/>
            </a:pPr>
            <a:r>
              <a:rPr lang="en-US" sz="1200" dirty="0">
                <a:solidFill>
                  <a:srgbClr val="5A6E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minutes per claim</a:t>
            </a:r>
            <a:endParaRPr lang="en-US" sz="4200" dirty="0"/>
          </a:p>
        </p:txBody>
      </p:sp>
      <p:sp>
        <p:nvSpPr>
          <p:cNvPr id="23" name="Shape 21"/>
          <p:cNvSpPr/>
          <p:nvPr/>
        </p:nvSpPr>
        <p:spPr>
          <a:xfrm>
            <a:off x="4361688" y="2752344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07992" y="2697480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minutes back on every claim (a 52% cut)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4361688" y="2985516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07992" y="2930652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AI agents, 1 rules-only step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4361688" y="3218688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07992" y="3163824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human checkpoints kept</a:t>
            </a:r>
            <a:endParaRPr lang="en-US" sz="860" dirty="0"/>
          </a:p>
        </p:txBody>
      </p:sp>
      <p:sp>
        <p:nvSpPr>
          <p:cNvPr id="29" name="Shape 27"/>
          <p:cNvSpPr/>
          <p:nvPr/>
        </p:nvSpPr>
        <p:spPr>
          <a:xfrm>
            <a:off x="4361688" y="3451860"/>
            <a:ext cx="54864" cy="5486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07992" y="3396996"/>
            <a:ext cx="2880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Handlers re-check before they trust it</a:t>
            </a:r>
            <a:endParaRPr lang="en-US" sz="860" dirty="0"/>
          </a:p>
        </p:txBody>
      </p:sp>
      <p:sp>
        <p:nvSpPr>
          <p:cNvPr id="31" name="Shape 29"/>
          <p:cNvSpPr/>
          <p:nvPr/>
        </p:nvSpPr>
        <p:spPr>
          <a:xfrm>
            <a:off x="7863840" y="1325880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DECFB"/>
          </a:solidFill>
          <a:ln w="1397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65008" y="1463040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10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EFFORT ACTUALLY GOES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8065008" y="1746504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93024" y="1709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5%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8887968" y="1700784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machines</a:t>
            </a:r>
            <a:endParaRPr lang="en-US" sz="930" dirty="0"/>
          </a:p>
        </p:txBody>
      </p:sp>
      <p:sp>
        <p:nvSpPr>
          <p:cNvPr id="36" name="Text 34"/>
          <p:cNvSpPr txBox="1"/>
          <p:nvPr/>
        </p:nvSpPr>
        <p:spPr>
          <a:xfrm>
            <a:off x="8887968" y="1911096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€0.08 a claim · €2,400 a year</a:t>
            </a:r>
            <a:endParaRPr lang="en-US" sz="820" dirty="0"/>
          </a:p>
        </p:txBody>
      </p:sp>
      <p:sp>
        <p:nvSpPr>
          <p:cNvPr id="37" name="Shape 35"/>
          <p:cNvSpPr/>
          <p:nvPr/>
        </p:nvSpPr>
        <p:spPr>
          <a:xfrm>
            <a:off x="8065008" y="2350008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193024" y="231343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8887968" y="2304288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Plumbing and audit trail</a:t>
            </a:r>
            <a:endParaRPr lang="en-US" sz="930" dirty="0"/>
          </a:p>
        </p:txBody>
      </p:sp>
      <p:sp>
        <p:nvSpPr>
          <p:cNvPr id="40" name="Text 38"/>
          <p:cNvSpPr txBox="1"/>
          <p:nvPr/>
        </p:nvSpPr>
        <p:spPr>
          <a:xfrm>
            <a:off x="8887968" y="2514600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EASY/IDB wiring, logging every decision</a:t>
            </a:r>
            <a:endParaRPr lang="en-US" sz="820" dirty="0"/>
          </a:p>
        </p:txBody>
      </p:sp>
      <p:sp>
        <p:nvSpPr>
          <p:cNvPr id="41" name="Shape 39"/>
          <p:cNvSpPr/>
          <p:nvPr/>
        </p:nvSpPr>
        <p:spPr>
          <a:xfrm>
            <a:off x="8065008" y="2953512"/>
            <a:ext cx="50292" cy="530352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8193024" y="291693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1700" dirty="0"/>
          </a:p>
        </p:txBody>
      </p:sp>
      <p:sp>
        <p:nvSpPr>
          <p:cNvPr id="43" name="Text 41"/>
          <p:cNvSpPr txBox="1"/>
          <p:nvPr/>
        </p:nvSpPr>
        <p:spPr>
          <a:xfrm>
            <a:off x="8887968" y="2907792"/>
            <a:ext cx="2642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Process, training, trust</a:t>
            </a:r>
            <a:endParaRPr lang="en-US" sz="930" dirty="0"/>
          </a:p>
        </p:txBody>
      </p:sp>
      <p:sp>
        <p:nvSpPr>
          <p:cNvPr id="44" name="Text 42"/>
          <p:cNvSpPr txBox="1"/>
          <p:nvPr/>
        </p:nvSpPr>
        <p:spPr>
          <a:xfrm>
            <a:off x="8887968" y="3118104"/>
            <a:ext cx="2642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20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the real schedule risk</a:t>
            </a:r>
            <a:endParaRPr lang="en-US" sz="820" dirty="0"/>
          </a:p>
        </p:txBody>
      </p:sp>
      <p:sp>
        <p:nvSpPr>
          <p:cNvPr id="45" name="Text 43"/>
          <p:cNvSpPr txBox="1"/>
          <p:nvPr/>
        </p:nvSpPr>
        <p:spPr>
          <a:xfrm>
            <a:off x="8065008" y="3557016"/>
            <a:ext cx="34655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i="1" dirty="0">
                <a:solidFill>
                  <a:srgbClr val="5A5A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BCG's 10-20-70, tilted to plumbing: EASY and IDB are the constraint</a:t>
            </a:r>
            <a:endParaRPr lang="en-US" sz="740" dirty="0"/>
          </a:p>
        </p:txBody>
      </p:sp>
      <p:sp>
        <p:nvSpPr>
          <p:cNvPr id="46" name="Shape 44"/>
          <p:cNvSpPr/>
          <p:nvPr/>
        </p:nvSpPr>
        <p:spPr>
          <a:xfrm>
            <a:off x="45720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D97706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2179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min</a:t>
            </a:r>
            <a:endParaRPr lang="en-US" sz="2000" dirty="0"/>
          </a:p>
        </p:txBody>
      </p:sp>
      <p:sp>
        <p:nvSpPr>
          <p:cNvPr id="48" name="Text 46"/>
          <p:cNvSpPr txBox="1"/>
          <p:nvPr/>
        </p:nvSpPr>
        <p:spPr>
          <a:xfrm>
            <a:off x="62179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freed per claim handler per day, out of 6.4 productive hours</a:t>
            </a:r>
            <a:endParaRPr lang="en-US" sz="840" dirty="0"/>
          </a:p>
        </p:txBody>
      </p:sp>
      <p:sp>
        <p:nvSpPr>
          <p:cNvPr id="49" name="Shape 47"/>
          <p:cNvSpPr/>
          <p:nvPr/>
        </p:nvSpPr>
        <p:spPr>
          <a:xfrm>
            <a:off x="3340303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0891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504895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17.5 h</a:t>
            </a:r>
            <a:endParaRPr lang="en-US" sz="2000" dirty="0"/>
          </a:p>
        </p:txBody>
      </p:sp>
      <p:sp>
        <p:nvSpPr>
          <p:cNvPr id="51" name="Text 49"/>
          <p:cNvSpPr txBox="1"/>
          <p:nvPr/>
        </p:nvSpPr>
        <p:spPr>
          <a:xfrm>
            <a:off x="3504895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the 20 claim handlers, or 2.8 full-time people</a:t>
            </a:r>
            <a:endParaRPr lang="en-US" sz="840" dirty="0"/>
          </a:p>
        </p:txBody>
      </p:sp>
      <p:sp>
        <p:nvSpPr>
          <p:cNvPr id="52" name="Shape 50"/>
          <p:cNvSpPr/>
          <p:nvPr/>
        </p:nvSpPr>
        <p:spPr>
          <a:xfrm>
            <a:off x="6223406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BE185D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87998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E185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€153k a year</a:t>
            </a:r>
            <a:endParaRPr lang="en-US" sz="2000" dirty="0"/>
          </a:p>
        </p:txBody>
      </p:sp>
      <p:sp>
        <p:nvSpPr>
          <p:cNvPr id="54" name="Text 52"/>
          <p:cNvSpPr txBox="1"/>
          <p:nvPr/>
        </p:nvSpPr>
        <p:spPr>
          <a:xfrm>
            <a:off x="6387998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4,370 freed handler-hours are worth, at €34.92 fully loaded</a:t>
            </a:r>
            <a:endParaRPr lang="en-US" sz="840" dirty="0"/>
          </a:p>
        </p:txBody>
      </p:sp>
      <p:sp>
        <p:nvSpPr>
          <p:cNvPr id="55" name="Shape 53"/>
          <p:cNvSpPr/>
          <p:nvPr/>
        </p:nvSpPr>
        <p:spPr>
          <a:xfrm>
            <a:off x="9106510" y="3968496"/>
            <a:ext cx="2627071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4338C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271102" y="4032504"/>
            <a:ext cx="229788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 mths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271102" y="4416552"/>
            <a:ext cx="229788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4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pay back the one-off build of €146k</a:t>
            </a:r>
            <a:endParaRPr lang="en-US" sz="840" dirty="0"/>
          </a:p>
        </p:txBody>
      </p:sp>
      <p:sp>
        <p:nvSpPr>
          <p:cNvPr id="58" name="Shape 56"/>
          <p:cNvSpPr/>
          <p:nvPr/>
        </p:nvSpPr>
        <p:spPr>
          <a:xfrm>
            <a:off x="457200" y="5047488"/>
            <a:ext cx="11274552" cy="585216"/>
          </a:xfrm>
          <a:prstGeom prst="roundRect">
            <a:avLst>
              <a:gd name="adj" fmla="val 9375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58368" y="5047488"/>
            <a:ext cx="10881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 </a:t>
            </a:r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3A2A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the failed imports nobody sees today, then intake. A person approves every decision that can go against a claimant, at every stage.</a:t>
            </a:r>
            <a:endParaRPr lang="en-US" sz="950" dirty="0"/>
          </a:p>
        </p:txBody>
      </p:sp>
      <p:sp>
        <p:nvSpPr>
          <p:cNvPr id="60" name="Text 58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9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stations share one claim record, so nothing is handed off or read twice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46304"/>
            <a:ext cx="35935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AT A GLANCE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/ trigger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65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67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16052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6537960" y="512064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739128" y="466344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732520" y="576072"/>
            <a:ext cx="320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9098280" y="457200"/>
            <a:ext cx="27249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conditional path (~20% of claims)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5760" y="859536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2FAF9"/>
          </a:solidFill>
          <a:ln/>
        </p:spPr>
      </p:sp>
      <p:sp>
        <p:nvSpPr>
          <p:cNvPr id="15" name="Shape 13"/>
          <p:cNvSpPr/>
          <p:nvPr/>
        </p:nvSpPr>
        <p:spPr>
          <a:xfrm>
            <a:off x="365760" y="859536"/>
            <a:ext cx="54864" cy="1005840"/>
          </a:xfrm>
          <a:prstGeom prst="rect">
            <a:avLst/>
          </a:prstGeom>
          <a:solidFill>
            <a:srgbClr val="007A8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914400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007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365760" y="1993392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4F5F6"/>
          </a:solidFill>
          <a:ln/>
        </p:spPr>
      </p:sp>
      <p:sp>
        <p:nvSpPr>
          <p:cNvPr id="18" name="Shape 16"/>
          <p:cNvSpPr/>
          <p:nvPr/>
        </p:nvSpPr>
        <p:spPr>
          <a:xfrm>
            <a:off x="365760" y="1993392"/>
            <a:ext cx="54864" cy="1005840"/>
          </a:xfrm>
          <a:prstGeom prst="rect">
            <a:avLst/>
          </a:prstGeom>
          <a:solidFill>
            <a:srgbClr val="6B778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840480" y="204825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B77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— NO MODEL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365760" y="3127248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1F5FA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" y="3127248"/>
            <a:ext cx="54864" cy="1005840"/>
          </a:xfrm>
          <a:prstGeom prst="rect">
            <a:avLst/>
          </a:prstGeom>
          <a:solidFill>
            <a:srgbClr val="3B6FA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12064" y="3182112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65760" y="4261104"/>
            <a:ext cx="11457432" cy="1005840"/>
          </a:xfrm>
          <a:prstGeom prst="roundRect">
            <a:avLst>
              <a:gd name="adj" fmla="val 3636"/>
            </a:avLst>
          </a:prstGeom>
          <a:solidFill>
            <a:srgbClr val="FAF3F6"/>
          </a:solidFill>
          <a:ln/>
        </p:spPr>
      </p:sp>
      <p:sp>
        <p:nvSpPr>
          <p:cNvPr id="24" name="Shape 22"/>
          <p:cNvSpPr/>
          <p:nvPr/>
        </p:nvSpPr>
        <p:spPr>
          <a:xfrm>
            <a:off x="365760" y="4261104"/>
            <a:ext cx="54864" cy="1005840"/>
          </a:xfrm>
          <a:prstGeom prst="rect">
            <a:avLst/>
          </a:prstGeom>
          <a:solidFill>
            <a:srgbClr val="7A4A6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12064" y="431596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7A4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 DECIDES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1170432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6F8F7"/>
          </a:solidFill>
          <a:ln w="17780">
            <a:solidFill>
              <a:srgbClr val="007A8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912" y="1243584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</a:t>
            </a:r>
            <a:endParaRPr lang="en-US" sz="960" dirty="0"/>
          </a:p>
        </p:txBody>
      </p:sp>
      <p:sp>
        <p:nvSpPr>
          <p:cNvPr id="28" name="Text 26"/>
          <p:cNvSpPr txBox="1"/>
          <p:nvPr/>
        </p:nvSpPr>
        <p:spPr>
          <a:xfrm>
            <a:off x="438912" y="1499616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· AES mail · e-mail</a:t>
            </a:r>
            <a:endParaRPr lang="en-US" sz="740" dirty="0"/>
          </a:p>
        </p:txBody>
      </p:sp>
      <p:sp>
        <p:nvSpPr>
          <p:cNvPr id="29" name="Shape 27"/>
          <p:cNvSpPr/>
          <p:nvPr/>
        </p:nvSpPr>
        <p:spPr>
          <a:xfrm>
            <a:off x="23088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3820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960" dirty="0"/>
          </a:p>
        </p:txBody>
      </p:sp>
      <p:sp>
        <p:nvSpPr>
          <p:cNvPr id="31" name="Text 29"/>
          <p:cNvSpPr txBox="1"/>
          <p:nvPr/>
        </p:nvSpPr>
        <p:spPr>
          <a:xfrm>
            <a:off x="23820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→ structured fields</a:t>
            </a:r>
            <a:endParaRPr lang="en-US" sz="740" dirty="0"/>
          </a:p>
        </p:txBody>
      </p:sp>
      <p:sp>
        <p:nvSpPr>
          <p:cNvPr id="32" name="Shape 30"/>
          <p:cNvSpPr/>
          <p:nvPr/>
        </p:nvSpPr>
        <p:spPr>
          <a:xfrm>
            <a:off x="42519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251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960" dirty="0"/>
          </a:p>
        </p:txBody>
      </p:sp>
      <p:sp>
        <p:nvSpPr>
          <p:cNvPr id="34" name="Text 32"/>
          <p:cNvSpPr txBox="1"/>
          <p:nvPr/>
        </p:nvSpPr>
        <p:spPr>
          <a:xfrm>
            <a:off x="43251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740" dirty="0"/>
          </a:p>
        </p:txBody>
      </p:sp>
      <p:sp>
        <p:nvSpPr>
          <p:cNvPr id="35" name="Shape 33"/>
          <p:cNvSpPr/>
          <p:nvPr/>
        </p:nvSpPr>
        <p:spPr>
          <a:xfrm>
            <a:off x="61950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2682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</a:t>
            </a:r>
            <a:endParaRPr lang="en-US" sz="960" dirty="0"/>
          </a:p>
        </p:txBody>
      </p:sp>
      <p:sp>
        <p:nvSpPr>
          <p:cNvPr id="37" name="Text 35"/>
          <p:cNvSpPr txBox="1"/>
          <p:nvPr/>
        </p:nvSpPr>
        <p:spPr>
          <a:xfrm>
            <a:off x="62682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· policy · duplicates</a:t>
            </a:r>
            <a:endParaRPr lang="en-US" sz="740" dirty="0"/>
          </a:p>
        </p:txBody>
      </p:sp>
      <p:sp>
        <p:nvSpPr>
          <p:cNvPr id="38" name="Shape 36"/>
          <p:cNvSpPr/>
          <p:nvPr/>
        </p:nvSpPr>
        <p:spPr>
          <a:xfrm>
            <a:off x="61950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CEFD6"/>
          </a:solidFill>
          <a:ln w="13970">
            <a:solidFill>
              <a:srgbClr val="EF9F27"/>
            </a:solidFill>
            <a:prstDash val="dash"/>
          </a:ln>
        </p:spPr>
      </p:sp>
      <p:sp>
        <p:nvSpPr>
          <p:cNvPr id="39" name="Text 37"/>
          <p:cNvSpPr txBox="1"/>
          <p:nvPr/>
        </p:nvSpPr>
        <p:spPr>
          <a:xfrm>
            <a:off x="62682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</a:t>
            </a:r>
            <a:endParaRPr lang="en-US" sz="960" dirty="0"/>
          </a:p>
        </p:txBody>
      </p:sp>
      <p:sp>
        <p:nvSpPr>
          <p:cNvPr id="40" name="Text 38"/>
          <p:cNvSpPr txBox="1"/>
          <p:nvPr/>
        </p:nvSpPr>
        <p:spPr>
          <a:xfrm>
            <a:off x="62682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evidence · ~20% of claims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8138160" y="2304288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CEFF3"/>
          </a:solidFill>
          <a:ln w="17780">
            <a:solidFill>
              <a:srgbClr val="6B7787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211312" y="2377440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</a:t>
            </a:r>
            <a:endParaRPr lang="en-US" sz="960" dirty="0"/>
          </a:p>
        </p:txBody>
      </p:sp>
      <p:sp>
        <p:nvSpPr>
          <p:cNvPr id="43" name="Text 41"/>
          <p:cNvSpPr txBox="1"/>
          <p:nvPr/>
        </p:nvSpPr>
        <p:spPr>
          <a:xfrm>
            <a:off x="8211312" y="2633472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cover, dates, sums · same record</a:t>
            </a:r>
            <a:endParaRPr lang="en-US" sz="740" dirty="0"/>
          </a:p>
        </p:txBody>
      </p:sp>
      <p:sp>
        <p:nvSpPr>
          <p:cNvPr id="44" name="Shape 42"/>
          <p:cNvSpPr/>
          <p:nvPr/>
        </p:nvSpPr>
        <p:spPr>
          <a:xfrm>
            <a:off x="8138160" y="3438144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E3EDF6"/>
          </a:solidFill>
          <a:ln w="17780">
            <a:solidFill>
              <a:srgbClr val="3B6FA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211312" y="3511296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Agent</a:t>
            </a:r>
            <a:endParaRPr lang="en-US" sz="960" dirty="0"/>
          </a:p>
        </p:txBody>
      </p:sp>
      <p:sp>
        <p:nvSpPr>
          <p:cNvPr id="46" name="Text 44"/>
          <p:cNvSpPr txBox="1"/>
          <p:nvPr/>
        </p:nvSpPr>
        <p:spPr>
          <a:xfrm>
            <a:off x="8211312" y="3767328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the letter, cites its reasoning</a:t>
            </a:r>
            <a:endParaRPr lang="en-US" sz="740" dirty="0"/>
          </a:p>
        </p:txBody>
      </p:sp>
      <p:sp>
        <p:nvSpPr>
          <p:cNvPr id="47" name="Shape 45"/>
          <p:cNvSpPr/>
          <p:nvPr/>
        </p:nvSpPr>
        <p:spPr>
          <a:xfrm>
            <a:off x="10081260" y="4572000"/>
            <a:ext cx="1723644" cy="621792"/>
          </a:xfrm>
          <a:prstGeom prst="roundRect">
            <a:avLst>
              <a:gd name="adj" fmla="val 8824"/>
            </a:avLst>
          </a:prstGeom>
          <a:solidFill>
            <a:srgbClr val="F1E6ED"/>
          </a:solidFill>
          <a:ln w="17780">
            <a:solidFill>
              <a:srgbClr val="7A4A66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10154412" y="4645152"/>
            <a:ext cx="15773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</a:t>
            </a:r>
            <a:endParaRPr lang="en-US" sz="960" dirty="0"/>
          </a:p>
        </p:txBody>
      </p:sp>
      <p:sp>
        <p:nvSpPr>
          <p:cNvPr id="49" name="Text 47"/>
          <p:cNvSpPr txBox="1"/>
          <p:nvPr/>
        </p:nvSpPr>
        <p:spPr>
          <a:xfrm>
            <a:off x="10154412" y="4901184"/>
            <a:ext cx="15773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anything sends</a:t>
            </a:r>
            <a:endParaRPr lang="en-US" sz="740" dirty="0"/>
          </a:p>
        </p:txBody>
      </p:sp>
      <p:sp>
        <p:nvSpPr>
          <p:cNvPr id="50" name="Shape 48"/>
          <p:cNvSpPr/>
          <p:nvPr/>
        </p:nvSpPr>
        <p:spPr>
          <a:xfrm>
            <a:off x="411480" y="1216152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11480" y="1216152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740" dirty="0"/>
          </a:p>
        </p:txBody>
      </p:sp>
      <p:sp>
        <p:nvSpPr>
          <p:cNvPr id="52" name="Shape 50"/>
          <p:cNvSpPr/>
          <p:nvPr/>
        </p:nvSpPr>
        <p:spPr>
          <a:xfrm>
            <a:off x="23545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23545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40" dirty="0"/>
          </a:p>
        </p:txBody>
      </p:sp>
      <p:sp>
        <p:nvSpPr>
          <p:cNvPr id="54" name="Shape 52"/>
          <p:cNvSpPr/>
          <p:nvPr/>
        </p:nvSpPr>
        <p:spPr>
          <a:xfrm>
            <a:off x="42976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2976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40" dirty="0"/>
          </a:p>
        </p:txBody>
      </p:sp>
      <p:sp>
        <p:nvSpPr>
          <p:cNvPr id="56" name="Shape 54"/>
          <p:cNvSpPr/>
          <p:nvPr/>
        </p:nvSpPr>
        <p:spPr>
          <a:xfrm>
            <a:off x="62407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2407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40" dirty="0"/>
          </a:p>
        </p:txBody>
      </p:sp>
      <p:sp>
        <p:nvSpPr>
          <p:cNvPr id="58" name="Shape 56"/>
          <p:cNvSpPr/>
          <p:nvPr/>
        </p:nvSpPr>
        <p:spPr>
          <a:xfrm>
            <a:off x="8183880" y="2350008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183880" y="2350008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40" dirty="0"/>
          </a:p>
        </p:txBody>
      </p:sp>
      <p:sp>
        <p:nvSpPr>
          <p:cNvPr id="60" name="Shape 58"/>
          <p:cNvSpPr/>
          <p:nvPr/>
        </p:nvSpPr>
        <p:spPr>
          <a:xfrm>
            <a:off x="8183880" y="3483864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183880" y="3483864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40" dirty="0"/>
          </a:p>
        </p:txBody>
      </p:sp>
      <p:sp>
        <p:nvSpPr>
          <p:cNvPr id="62" name="Shape 60"/>
          <p:cNvSpPr/>
          <p:nvPr/>
        </p:nvSpPr>
        <p:spPr>
          <a:xfrm>
            <a:off x="10126980" y="4617720"/>
            <a:ext cx="164592" cy="164592"/>
          </a:xfrm>
          <a:prstGeom prst="ellipse">
            <a:avLst/>
          </a:prstGeom>
          <a:solidFill>
            <a:srgbClr val="1B2430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126980" y="4617720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40" dirty="0"/>
          </a:p>
        </p:txBody>
      </p:sp>
      <p:sp>
        <p:nvSpPr>
          <p:cNvPr id="64" name="Shape 62"/>
          <p:cNvSpPr/>
          <p:nvPr/>
        </p:nvSpPr>
        <p:spPr>
          <a:xfrm>
            <a:off x="1227582" y="1792224"/>
            <a:ext cx="1943100" cy="164592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40325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 flipV="1">
            <a:off x="5113782" y="2926080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7" name="Shape 65"/>
          <p:cNvSpPr/>
          <p:nvPr/>
        </p:nvSpPr>
        <p:spPr>
          <a:xfrm>
            <a:off x="7918704" y="2615184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89999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7056882" y="2926080"/>
            <a:ext cx="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0" name="Shape 68"/>
          <p:cNvSpPr/>
          <p:nvPr/>
        </p:nvSpPr>
        <p:spPr>
          <a:xfrm>
            <a:off x="7918704" y="3749040"/>
            <a:ext cx="219456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8999982" y="4059936"/>
            <a:ext cx="1943100" cy="512064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365760" y="5449824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i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drafts. Rules check. A person decides anything that can go against a claimant.</a:t>
            </a:r>
            <a:endParaRPr lang="en-US" sz="860" dirty="0"/>
          </a:p>
        </p:txBody>
      </p:sp>
      <p:sp>
        <p:nvSpPr>
          <p:cNvPr id="73" name="Text 71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74" name="Text 72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in and a separate side-track diagram become one classified intake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on the left, the redesign on the right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1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6F8F7"/>
          </a:solidFill>
          <a:ln w="12700">
            <a:solidFill>
              <a:srgbClr val="007A8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 / start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6916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5B7D8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928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/ decision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063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CEFD6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64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/ rework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8920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DF7DB"/>
          </a:solidFill>
          <a:ln w="12700">
            <a:solidFill>
              <a:srgbClr val="6FA0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932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30936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3EDF6"/>
          </a:solidFill>
          <a:ln w="12700">
            <a:solidFill>
              <a:srgbClr val="3B6FA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052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 (LLM call)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924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only, no model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9921240" y="713232"/>
            <a:ext cx="137160" cy="137160"/>
          </a:xfrm>
          <a:prstGeom prst="roundRect">
            <a:avLst>
              <a:gd name="adj" fmla="val 13333"/>
            </a:avLst>
          </a:prstGeom>
          <a:solidFill>
            <a:srgbClr val="F1E6ED"/>
          </a:solidFill>
          <a:ln w="12700">
            <a:solidFill>
              <a:srgbClr val="7A4A6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122408" y="667512"/>
            <a:ext cx="1325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checkpoint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1417320"/>
            <a:ext cx="4206240" cy="378079"/>
          </a:xfrm>
          <a:prstGeom prst="roundRect">
            <a:avLst>
              <a:gd name="adj" fmla="val 9674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report filed</a:t>
            </a:r>
            <a:endParaRPr lang="en-US" sz="95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(usually the employer)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1089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40280" y="214884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Channel?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97764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251960" y="203263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to AES, secure mail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4251960" y="225209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already gathered it;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only re-checks coverage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246888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208521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Teeth/glasses: 'tooth' · email + invoices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230466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track (not PD/LOEC)</a:t>
            </a:r>
            <a:endParaRPr lang="en-US" sz="78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1.1</a:t>
            </a:r>
            <a:endParaRPr lang="en-US" sz="780" dirty="0"/>
          </a:p>
        </p:txBody>
      </p:sp>
      <p:sp>
        <p:nvSpPr>
          <p:cNvPr id="33" name="Text 31"/>
          <p:cNvSpPr txBox="1"/>
          <p:nvPr/>
        </p:nvSpPr>
        <p:spPr>
          <a:xfrm>
            <a:off x="3218688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/ IDB auto-import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3108960" y="2788920"/>
            <a:ext cx="0" cy="45720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240280" y="32461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Auto-import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worked?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 flipH="1">
            <a:off x="1965960" y="35661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411480" y="323434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502920" y="3453797"/>
            <a:ext cx="1463040" cy="224727"/>
          </a:xfrm>
          <a:prstGeom prst="roundRect">
            <a:avLst>
              <a:gd name="adj" fmla="val 1627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claim creation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1965960" y="3678523"/>
            <a:ext cx="1143000" cy="48199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3218688" y="39136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3108960" y="3886200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5715000" y="2685669"/>
            <a:ext cx="0" cy="1593723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 flipH="1">
            <a:off x="3108960" y="4279392"/>
            <a:ext cx="260604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4" name="Text 42"/>
          <p:cNvSpPr txBox="1"/>
          <p:nvPr/>
        </p:nvSpPr>
        <p:spPr>
          <a:xfrm>
            <a:off x="1645920" y="43891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Data / Policy / Duplicate checks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6583680" y="1417320"/>
            <a:ext cx="4937760" cy="239332"/>
          </a:xfrm>
          <a:prstGeom prst="roundRect">
            <a:avLst>
              <a:gd name="adj" fmla="val 15283"/>
            </a:avLst>
          </a:prstGeom>
          <a:solidFill>
            <a:srgbClr val="E6F8F7"/>
          </a:solidFill>
          <a:ln w="15875">
            <a:solidFill>
              <a:srgbClr val="007A82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0037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arrives: EASY, AES secure mail, or email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052560" y="1783080"/>
            <a:ext cx="0" cy="36576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7" name="Text 45"/>
          <p:cNvSpPr txBox="1"/>
          <p:nvPr/>
        </p:nvSpPr>
        <p:spPr>
          <a:xfrm>
            <a:off x="6583680" y="2148840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format in, structured fields out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9052560" y="254152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6583680" y="2861564"/>
            <a:ext cx="4937760" cy="392684"/>
          </a:xfrm>
          <a:prstGeom prst="roundRect">
            <a:avLst>
              <a:gd name="adj" fmla="val 9314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+ confidence score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9052560" y="3254248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1" name="Text 49"/>
          <p:cNvSpPr txBox="1"/>
          <p:nvPr/>
        </p:nvSpPr>
        <p:spPr>
          <a:xfrm>
            <a:off x="8183880" y="3574288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≥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threshold?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10058400" y="3684016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 strict, loosens with data</a:t>
            </a:r>
            <a:endParaRPr lang="en-US" sz="720" dirty="0"/>
          </a:p>
        </p:txBody>
      </p:sp>
      <p:sp>
        <p:nvSpPr>
          <p:cNvPr id="53" name="Shape 51"/>
          <p:cNvSpPr/>
          <p:nvPr/>
        </p:nvSpPr>
        <p:spPr>
          <a:xfrm flipH="1">
            <a:off x="7909560" y="3894328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6355080" y="3510661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6446520" y="3730117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Falls back to today's manual queue</a:t>
            </a:r>
            <a:endParaRPr lang="en-US" sz="780" dirty="0"/>
          </a:p>
        </p:txBody>
      </p:sp>
      <p:sp>
        <p:nvSpPr>
          <p:cNvPr id="56" name="Text 54"/>
          <p:cNvSpPr txBox="1"/>
          <p:nvPr/>
        </p:nvSpPr>
        <p:spPr>
          <a:xfrm>
            <a:off x="9162288" y="42418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9052560" y="4214368"/>
            <a:ext cx="0" cy="41148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8" name="Text 56"/>
          <p:cNvSpPr txBox="1"/>
          <p:nvPr/>
        </p:nvSpPr>
        <p:spPr>
          <a:xfrm>
            <a:off x="7589520" y="46990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2 · Parallel Validation</a:t>
            </a:r>
            <a:endParaRPr lang="en-US" sz="830" dirty="0"/>
          </a:p>
        </p:txBody>
      </p:sp>
      <p:sp>
        <p:nvSpPr>
          <p:cNvPr id="59" name="Shape 57"/>
          <p:cNvSpPr/>
          <p:nvPr/>
        </p:nvSpPr>
        <p:spPr>
          <a:xfrm>
            <a:off x="6400800" y="4991608"/>
            <a:ext cx="5303520" cy="566928"/>
          </a:xfrm>
          <a:prstGeom prst="roundRect">
            <a:avLst>
              <a:gd name="adj" fmla="val 8065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537960" y="4991608"/>
            <a:ext cx="5029200" cy="5669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two agents replace 3 entry channels, the auto-import failure path, and the whole 1.1 side track.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checks done one after another become one check done all at once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None of the three checks depends on the other two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2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correct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complete?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229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Missing CPR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174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/ fill fields (via questionnaire)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1965960" y="2130171"/>
            <a:ext cx="1143000" cy="521589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65176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policy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attached?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43632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/ old policy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63088"/>
            <a:ext cx="1463040" cy="217424"/>
          </a:xfrm>
          <a:prstGeom prst="roundRect">
            <a:avLst>
              <a:gd name="adj" fmla="val 16822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Reattach correct policy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965960" y="3080512"/>
            <a:ext cx="1143000" cy="6502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3977640" y="297180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4251960" y="2588133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valid policy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4251960" y="2807589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employer: correct insurer</a:t>
            </a:r>
            <a:endParaRPr lang="en-US" sz="780" dirty="0"/>
          </a:p>
        </p:txBody>
      </p:sp>
      <p:sp>
        <p:nvSpPr>
          <p:cNvPr id="27" name="Text 25"/>
          <p:cNvSpPr txBox="1"/>
          <p:nvPr/>
        </p:nvSpPr>
        <p:spPr>
          <a:xfrm>
            <a:off x="3218688" y="33192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08960" y="3291840"/>
            <a:ext cx="0" cy="43891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240280" y="3730752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or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duplicate?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 flipH="1">
            <a:off x="1965960" y="4050792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411480" y="366712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502920" y="3886581"/>
            <a:ext cx="1463040" cy="328422"/>
          </a:xfrm>
          <a:prstGeom prst="roundRect">
            <a:avLst>
              <a:gd name="adj" fmla="val 11137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8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 / connect same-CPR claims</a:t>
            </a:r>
            <a:endParaRPr lang="en-US" sz="780" dirty="0"/>
          </a:p>
        </p:txBody>
      </p:sp>
      <p:sp>
        <p:nvSpPr>
          <p:cNvPr id="33" name="Shape 31"/>
          <p:cNvSpPr/>
          <p:nvPr/>
        </p:nvSpPr>
        <p:spPr>
          <a:xfrm>
            <a:off x="1965960" y="4215003"/>
            <a:ext cx="1143000" cy="631317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218688" y="439826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108960" y="4370832"/>
            <a:ext cx="0" cy="47548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16459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Escalation &amp; Close-Out</a:t>
            </a:r>
            <a:endParaRPr lang="en-US" sz="830" dirty="0"/>
          </a:p>
        </p:txBody>
      </p:sp>
      <p:sp>
        <p:nvSpPr>
          <p:cNvPr id="37" name="Text 35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1</a:t>
            </a:r>
            <a:endParaRPr lang="en-US" sz="830" dirty="0"/>
          </a:p>
        </p:txBody>
      </p:sp>
      <p:sp>
        <p:nvSpPr>
          <p:cNvPr id="38" name="Shape 36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CEFF3"/>
          </a:solidFill>
          <a:ln w="15875">
            <a:solidFill>
              <a:srgbClr val="6B778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Validation Node (rules only)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CPR dedup · policy in force · completeness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lookups at once, no model call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9052560" y="2184654"/>
            <a:ext cx="0" cy="32004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1" name="Text 39"/>
          <p:cNvSpPr txBox="1"/>
          <p:nvPr/>
        </p:nvSpPr>
        <p:spPr>
          <a:xfrm>
            <a:off x="8183880" y="2504694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check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failed?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921240" y="2824734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0195560" y="2388489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2607945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Exception Research Agent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gathers CVR and fuzzy-match evidence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0927080" y="3041523"/>
            <a:ext cx="0" cy="21945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195560" y="3260979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Underwriter decides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(AI prepares only)</a:t>
            </a:r>
            <a:endParaRPr lang="en-US" sz="760" dirty="0"/>
          </a:p>
        </p:txBody>
      </p:sp>
      <p:sp>
        <p:nvSpPr>
          <p:cNvPr id="47" name="Text 45"/>
          <p:cNvSpPr txBox="1"/>
          <p:nvPr/>
        </p:nvSpPr>
        <p:spPr>
          <a:xfrm>
            <a:off x="9162288" y="317220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52560" y="3144774"/>
            <a:ext cx="0" cy="1701546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9" name="Text 47"/>
          <p:cNvSpPr txBox="1"/>
          <p:nvPr/>
        </p:nvSpPr>
        <p:spPr>
          <a:xfrm>
            <a:off x="7589520" y="49377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continues, part 3 · Outcome Drafting Agent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8138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writes the draft; the handler still makes the decision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402336"/>
            <a:ext cx="10607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that can go against a claimant is automated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FNOL REDESIGN · 3 OF 3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6062472" y="1024128"/>
            <a:ext cx="0" cy="5440680"/>
          </a:xfrm>
          <a:prstGeom prst="line">
            <a:avLst/>
          </a:prstGeom>
          <a:noFill/>
          <a:ln w="9525">
            <a:solidFill>
              <a:srgbClr val="D7DCE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00584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B6F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 </a:t>
            </a:r>
            <a:pPr indent="0" marL="0">
              <a:buNone/>
            </a:pPr>
            <a:r>
              <a:rPr lang="en-US" sz="85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claim record, one audit trail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31089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240280" y="1645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 warning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claim?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 flipH="1">
            <a:off x="1965960" y="1965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411480" y="1585214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1804670"/>
            <a:ext cx="1463040" cy="322580"/>
          </a:xfrm>
          <a:prstGeom prst="roundRect">
            <a:avLst>
              <a:gd name="adj" fmla="val 11339"/>
            </a:avLst>
          </a:prstGeom>
          <a:solidFill>
            <a:srgbClr val="FCEFD6"/>
          </a:solidFill>
          <a:ln w="15875">
            <a:solidFill>
              <a:srgbClr val="EF9F27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6B4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hold: check with UW before it can move on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1965960" y="2127250"/>
            <a:ext cx="1143000" cy="66167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218688" y="224028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108960" y="2212848"/>
            <a:ext cx="0" cy="57607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2240280" y="27889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 flipH="1">
            <a:off x="196596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1148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Yes, ~65%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letter, no permanent injury</a:t>
            </a:r>
            <a:endParaRPr lang="en-US" sz="760" dirty="0"/>
          </a:p>
        </p:txBody>
      </p:sp>
      <p:sp>
        <p:nvSpPr>
          <p:cNvPr id="23" name="Shape 21"/>
          <p:cNvSpPr/>
          <p:nvPr/>
        </p:nvSpPr>
        <p:spPr>
          <a:xfrm>
            <a:off x="3977640" y="31089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251960" y="26727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25" name="Text 23"/>
          <p:cNvSpPr txBox="1"/>
          <p:nvPr/>
        </p:nvSpPr>
        <p:spPr>
          <a:xfrm>
            <a:off x="4251960" y="28921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IDB: fields checked, task opened, questionnaire</a:t>
            </a:r>
            <a:endParaRPr lang="en-US" sz="760" dirty="0"/>
          </a:p>
        </p:txBody>
      </p:sp>
      <p:sp>
        <p:nvSpPr>
          <p:cNvPr id="26" name="Shape 24"/>
          <p:cNvSpPr/>
          <p:nvPr/>
        </p:nvSpPr>
        <p:spPr>
          <a:xfrm>
            <a:off x="365760" y="4160520"/>
            <a:ext cx="5486400" cy="685800"/>
          </a:xfrm>
          <a:prstGeom prst="roundRect">
            <a:avLst>
              <a:gd name="adj" fmla="val 6667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2920" y="4160520"/>
            <a:ext cx="5212080" cy="6858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7 decision gates, 3 entry channels, 10 exception or exit branches across the full FNOL flow.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589520" y="128016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continued from part 2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9052560" y="1481328"/>
            <a:ext cx="0" cy="164592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583680" y="1645920"/>
            <a:ext cx="4937760" cy="538734"/>
          </a:xfrm>
          <a:prstGeom prst="roundRect">
            <a:avLst>
              <a:gd name="adj" fmla="val 6789"/>
            </a:avLst>
          </a:prstGeom>
          <a:solidFill>
            <a:srgbClr val="E3EDF6"/>
          </a:solidFill>
          <a:ln w="15875">
            <a:solidFill>
              <a:srgbClr val="3B6FA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 Drafting Agent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drafts the letter or the IDB record,</a:t>
            </a:r>
            <a:endParaRPr lang="en-US" sz="10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10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its reasoning attached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9052560" y="2184654"/>
            <a:ext cx="0" cy="20116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7040880" y="2385822"/>
            <a:ext cx="4023360" cy="351790"/>
          </a:xfrm>
          <a:prstGeom prst="roundRect">
            <a:avLst>
              <a:gd name="adj" fmla="val 10397"/>
            </a:avLst>
          </a:prstGeom>
          <a:solidFill>
            <a:srgbClr val="F1E6ED"/>
          </a:solidFill>
          <a:ln w="15875">
            <a:solidFill>
              <a:srgbClr val="7A4A6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Handler approves before anything sends</a:t>
            </a:r>
            <a:endParaRPr lang="en-US" sz="8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6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(we monitor edit rate, not model accuracy)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9052560" y="2737612"/>
            <a:ext cx="0" cy="292608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8183880" y="3030220"/>
            <a:ext cx="1737360" cy="64008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5B7D8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Injury minor?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430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(~65%)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 flipH="1">
            <a:off x="790956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35508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644652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at intake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AI-drafted, handler approved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921240" y="3350260"/>
            <a:ext cx="274320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0195560" y="2914015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00" dirty="0"/>
          </a:p>
        </p:txBody>
      </p:sp>
      <p:sp>
        <p:nvSpPr>
          <p:cNvPr id="40" name="Text 38"/>
          <p:cNvSpPr txBox="1"/>
          <p:nvPr/>
        </p:nvSpPr>
        <p:spPr>
          <a:xfrm>
            <a:off x="10195560" y="3133471"/>
            <a:ext cx="1463040" cy="433578"/>
          </a:xfrm>
          <a:prstGeom prst="roundRect">
            <a:avLst>
              <a:gd name="adj" fmla="val 8436"/>
            </a:avLst>
          </a:prstGeom>
          <a:solidFill>
            <a:srgbClr val="EDF7DB"/>
          </a:solidFill>
          <a:ln w="15875">
            <a:solidFill>
              <a:srgbClr val="6FA01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in IDB</a:t>
            </a:r>
            <a:endParaRPr lang="en-US" sz="76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760" dirty="0">
                <a:solidFill>
                  <a:srgbClr val="3348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Coverage Check runs alongside</a:t>
            </a:r>
            <a:endParaRPr lang="en-US" sz="760" dirty="0"/>
          </a:p>
        </p:txBody>
      </p:sp>
      <p:sp>
        <p:nvSpPr>
          <p:cNvPr id="41" name="Shape 39"/>
          <p:cNvSpPr/>
          <p:nvPr/>
        </p:nvSpPr>
        <p:spPr>
          <a:xfrm>
            <a:off x="6400800" y="4081780"/>
            <a:ext cx="5303520" cy="9144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2700">
            <a:solidFill>
              <a:srgbClr val="D7DCE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37960" y="4081780"/>
            <a:ext cx="502920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0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result:  </a:t>
            </a:r>
            <a:pPr algn="ctr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3A42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entry channels → 1 · 3 sequential gates → 1 parallel check · the Coverage Check handoff disappears, it runs on the same state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where a mistake is cheap. That is what earns the trust the bigger wins need.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9509760" y="146304"/>
            <a:ext cx="2313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SEQUENCING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45720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“Hard” means build effort and regulatory exposure together, not just weeks of work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 rot="16200000">
            <a:off x="18288" y="307238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OFTEN IT HAPPENS  →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557784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HARD AND HOW RISKY IT IS  →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051560" y="914400"/>
            <a:ext cx="3931920" cy="2286000"/>
          </a:xfrm>
          <a:prstGeom prst="rect">
            <a:avLst/>
          </a:prstGeom>
          <a:solidFill>
            <a:srgbClr val="FDF3E3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3444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— START HERE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to get wrong, happens constantly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28016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41732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 failed EASY → IDB imports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is alerted today, so a claim can go missing unseen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128016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41732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classify, check CPR and policy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agent plus plain rules, ending the teeth dependency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4983480" y="914400"/>
            <a:ext cx="3931920" cy="2286000"/>
          </a:xfrm>
          <a:prstGeom prst="rect">
            <a:avLst/>
          </a:prstGeom>
          <a:solidFill>
            <a:srgbClr val="E4F4F8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66360" y="1060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2 — ONCE TRUSTED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166360" y="1298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prize, but needs the audit trail live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1627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49240" y="1627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the close-out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~65% of claims · a handler still approves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5212080" y="2322576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49240" y="232257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AES secure mail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only channel with no automation today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1051560" y="3200400"/>
            <a:ext cx="3931920" cy="2286000"/>
          </a:xfrm>
          <a:prstGeom prst="rect">
            <a:avLst/>
          </a:prstGeom>
          <a:solidFill>
            <a:srgbClr val="EDECFB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3444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FIX THE IMPORT ITSELF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23444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IT defect, once you can see it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28016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41732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park and replay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first, because you cannot fix what nobody reports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4983480" y="3200400"/>
            <a:ext cx="3931920" cy="2286000"/>
          </a:xfrm>
          <a:prstGeom prst="rect">
            <a:avLst/>
          </a:prstGeom>
          <a:solidFill>
            <a:srgbClr val="FBE9F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66360" y="334670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LEAVE MANUAL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66360" y="358444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 rare to earn the effort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212080" y="3913632"/>
            <a:ext cx="34747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349240" y="39136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"Violence cover" entitlement letter
</a:t>
            </a:r>
            <a:endParaRPr lang="en-US" sz="92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claims so far (GGW) · a checklist beats a model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9189720" y="914400"/>
            <a:ext cx="2633472" cy="4572000"/>
          </a:xfrm>
          <a:prstGeom prst="roundRect">
            <a:avLst>
              <a:gd name="adj" fmla="val 2083"/>
            </a:avLst>
          </a:prstGeom>
          <a:solidFill>
            <a:srgbClr val="EDECFB"/>
          </a:solidFill>
          <a:ln w="16510">
            <a:solidFill>
              <a:srgbClr val="4338C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390888" y="1060704"/>
            <a:ext cx="2231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IMPORT FAILURES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9390888" y="1298448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i="1" dirty="0">
                <a:solidFill>
                  <a:srgbClr val="4A4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noticed today (GGW), so detection comes before retries:</a:t>
            </a:r>
            <a:endParaRPr lang="en-US" sz="780" dirty="0"/>
          </a:p>
        </p:txBody>
      </p:sp>
      <p:sp>
        <p:nvSpPr>
          <p:cNvPr id="34" name="Shape 32"/>
          <p:cNvSpPr/>
          <p:nvPr/>
        </p:nvSpPr>
        <p:spPr>
          <a:xfrm>
            <a:off x="9390888" y="170078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390888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738360" y="168249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 what should arrive</a:t>
            </a:r>
            <a:endParaRPr lang="en-US" sz="880" dirty="0"/>
          </a:p>
        </p:txBody>
      </p:sp>
      <p:sp>
        <p:nvSpPr>
          <p:cNvPr id="37" name="Text 35"/>
          <p:cNvSpPr txBox="1"/>
          <p:nvPr/>
        </p:nvSpPr>
        <p:spPr>
          <a:xfrm>
            <a:off x="9738360" y="184708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reconciliation catches gaps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9390888" y="2189988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9390888" y="21899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9738360" y="2171700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Sort the failure</a:t>
            </a:r>
            <a:endParaRPr lang="en-US" sz="88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2336292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timeout vs. missing field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9390888" y="2679192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390888" y="2679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9738360" y="2660904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with backoff</a:t>
            </a:r>
            <a:endParaRPr lang="en-US" sz="880" dirty="0"/>
          </a:p>
        </p:txBody>
      </p:sp>
      <p:sp>
        <p:nvSpPr>
          <p:cNvPr id="45" name="Text 43"/>
          <p:cNvSpPr txBox="1"/>
          <p:nvPr/>
        </p:nvSpPr>
        <p:spPr>
          <a:xfrm>
            <a:off x="9738360" y="28254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1s, 2s, 4s + jitter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9390888" y="3168396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9390888" y="31683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738360" y="3150108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key per claim</a:t>
            </a:r>
            <a:endParaRPr lang="en-US" sz="880" dirty="0"/>
          </a:p>
        </p:txBody>
      </p:sp>
      <p:sp>
        <p:nvSpPr>
          <p:cNvPr id="49" name="Text 47"/>
          <p:cNvSpPr txBox="1"/>
          <p:nvPr/>
        </p:nvSpPr>
        <p:spPr>
          <a:xfrm>
            <a:off x="9738360" y="3314700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duplicate replays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9390888" y="3657600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39088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9738360" y="3639312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Park, don't drop</a:t>
            </a:r>
            <a:endParaRPr lang="en-US" sz="880" dirty="0"/>
          </a:p>
        </p:txBody>
      </p:sp>
      <p:sp>
        <p:nvSpPr>
          <p:cNvPr id="53" name="Text 51"/>
          <p:cNvSpPr txBox="1"/>
          <p:nvPr/>
        </p:nvSpPr>
        <p:spPr>
          <a:xfrm>
            <a:off x="9738360" y="3803904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holding queue for review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9390888" y="4146804"/>
            <a:ext cx="274320" cy="2743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9390888" y="41468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50" dirty="0"/>
          </a:p>
        </p:txBody>
      </p:sp>
      <p:sp>
        <p:nvSpPr>
          <p:cNvPr id="56" name="Text 54"/>
          <p:cNvSpPr txBox="1"/>
          <p:nvPr/>
        </p:nvSpPr>
        <p:spPr>
          <a:xfrm>
            <a:off x="9738360" y="4128516"/>
            <a:ext cx="1883664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2A2A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 on the rate</a:t>
            </a:r>
            <a:endParaRPr lang="en-US" sz="880" dirty="0"/>
          </a:p>
        </p:txBody>
      </p:sp>
      <p:sp>
        <p:nvSpPr>
          <p:cNvPr id="57" name="Text 55"/>
          <p:cNvSpPr txBox="1"/>
          <p:nvPr/>
        </p:nvSpPr>
        <p:spPr>
          <a:xfrm>
            <a:off x="9738360" y="4293108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A6A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spike matters, a trickle does not</a:t>
            </a:r>
            <a:endParaRPr lang="en-US" sz="760" dirty="0"/>
          </a:p>
        </p:txBody>
      </p:sp>
      <p:sp>
        <p:nvSpPr>
          <p:cNvPr id="58" name="Text 56"/>
          <p:cNvSpPr txBox="1"/>
          <p:nvPr/>
        </p:nvSpPr>
        <p:spPr>
          <a:xfrm>
            <a:off x="365760" y="6035040"/>
            <a:ext cx="11430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AES rulings and underwriting authority are deliberately absent. Those decisions are not ours to make.</a:t>
            </a:r>
            <a:endParaRPr lang="en-US" sz="700" dirty="0"/>
          </a:p>
        </p:txBody>
      </p:sp>
      <p:sp>
        <p:nvSpPr>
          <p:cNvPr id="59" name="Text 5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0" name="Text 5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Deployed on the cloud GGW already run, and released in three gated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595360" y="14630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&amp; ROLLOUT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365760" y="640080"/>
            <a:ext cx="1723644" cy="475488"/>
          </a:xfrm>
          <a:prstGeom prst="roundRect">
            <a:avLst>
              <a:gd name="adj" fmla="val 9615"/>
            </a:avLst>
          </a:prstGeom>
          <a:solidFill>
            <a:srgbClr val="FDF3E3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38912" y="640080"/>
            <a:ext cx="15773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00" dirty="0"/>
          </a:p>
          <a:p>
            <a:pPr algn="ctr" indent="0" marL="0">
              <a:lnSpc>
                <a:spcPct val="108000"/>
              </a:lnSpc>
              <a:buNone/>
            </a:pPr>
            <a:r>
              <a:rPr lang="en-US" sz="800" b="1" dirty="0">
                <a:solidFill>
                  <a:srgbClr val="9A5A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failures park, nothing is lost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2308860" y="640080"/>
            <a:ext cx="9185148" cy="475488"/>
          </a:xfrm>
          <a:prstGeom prst="roundRect">
            <a:avLst>
              <a:gd name="adj" fmla="val 9615"/>
            </a:avLst>
          </a:prstGeom>
          <a:solidFill>
            <a:srgbClr val="ECEFF3"/>
          </a:solidFill>
          <a:ln w="12700">
            <a:solidFill>
              <a:srgbClr val="6B778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08860" y="640080"/>
            <a:ext cx="91851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graph checkpoint and audit log in one place: every decision, its inputs, its confidence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0817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STACK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6576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860" dirty="0"/>
          </a:p>
        </p:txBody>
      </p:sp>
      <p:sp>
        <p:nvSpPr>
          <p:cNvPr id="11" name="Shape 9"/>
          <p:cNvSpPr/>
          <p:nvPr/>
        </p:nvSpPr>
        <p:spPr>
          <a:xfrm>
            <a:off x="165709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69367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endParaRPr lang="en-US" sz="860" dirty="0"/>
          </a:p>
        </p:txBody>
      </p:sp>
      <p:sp>
        <p:nvSpPr>
          <p:cNvPr id="13" name="Shape 11"/>
          <p:cNvSpPr/>
          <p:nvPr/>
        </p:nvSpPr>
        <p:spPr>
          <a:xfrm>
            <a:off x="294843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8500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860" dirty="0"/>
          </a:p>
        </p:txBody>
      </p:sp>
      <p:sp>
        <p:nvSpPr>
          <p:cNvPr id="15" name="Shape 13"/>
          <p:cNvSpPr/>
          <p:nvPr/>
        </p:nvSpPr>
        <p:spPr>
          <a:xfrm>
            <a:off x="423976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7634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860" dirty="0"/>
          </a:p>
        </p:txBody>
      </p:sp>
      <p:sp>
        <p:nvSpPr>
          <p:cNvPr id="17" name="Shape 15"/>
          <p:cNvSpPr/>
          <p:nvPr/>
        </p:nvSpPr>
        <p:spPr>
          <a:xfrm>
            <a:off x="5531104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567680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Bus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6822440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9016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 Apps</a:t>
            </a:r>
            <a:endParaRPr lang="en-US" sz="860" dirty="0"/>
          </a:p>
        </p:txBody>
      </p:sp>
      <p:sp>
        <p:nvSpPr>
          <p:cNvPr id="21" name="Shape 19"/>
          <p:cNvSpPr/>
          <p:nvPr/>
        </p:nvSpPr>
        <p:spPr>
          <a:xfrm>
            <a:off x="8113776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150352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Blob + Key Vault</a:t>
            </a:r>
            <a:endParaRPr lang="en-US" sz="860" dirty="0"/>
          </a:p>
        </p:txBody>
      </p:sp>
      <p:sp>
        <p:nvSpPr>
          <p:cNvPr id="23" name="Shape 21"/>
          <p:cNvSpPr/>
          <p:nvPr/>
        </p:nvSpPr>
        <p:spPr>
          <a:xfrm>
            <a:off x="9405112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41688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OpenAI</a:t>
            </a:r>
            <a:endParaRPr lang="en-US" sz="860" dirty="0"/>
          </a:p>
        </p:txBody>
      </p:sp>
      <p:sp>
        <p:nvSpPr>
          <p:cNvPr id="25" name="Shape 23"/>
          <p:cNvSpPr/>
          <p:nvPr/>
        </p:nvSpPr>
        <p:spPr>
          <a:xfrm>
            <a:off x="10696448" y="1682496"/>
            <a:ext cx="1126744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733024" y="1682496"/>
            <a:ext cx="105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0B5A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Azure DevOps</a:t>
            </a:r>
            <a:endParaRPr lang="en-US" sz="86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268833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MODEL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65760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3EDF6"/>
          </a:solidFill>
          <a:ln w="15240">
            <a:solidFill>
              <a:srgbClr val="3B6FA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93776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agents</a:t>
            </a:r>
            <a:endParaRPr lang="en-US" sz="920" dirty="0"/>
          </a:p>
        </p:txBody>
      </p:sp>
      <p:sp>
        <p:nvSpPr>
          <p:cNvPr id="30" name="Text 28"/>
          <p:cNvSpPr txBox="1"/>
          <p:nvPr/>
        </p:nvSpPr>
        <p:spPr>
          <a:xfrm>
            <a:off x="2057400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draft, classify, extract, but never decide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245864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ECEFF3"/>
          </a:solidFill>
          <a:ln w="15240">
            <a:solidFill>
              <a:srgbClr val="6B7787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373880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Rules, no model</a:t>
            </a:r>
            <a:endParaRPr lang="en-US" sz="920" dirty="0"/>
          </a:p>
        </p:txBody>
      </p:sp>
      <p:sp>
        <p:nvSpPr>
          <p:cNvPr id="33" name="Text 31"/>
          <p:cNvSpPr txBox="1"/>
          <p:nvPr/>
        </p:nvSpPr>
        <p:spPr>
          <a:xfrm>
            <a:off x="5937504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the record: pass or fail, nothing in between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8125968" y="2962656"/>
            <a:ext cx="3697224" cy="420624"/>
          </a:xfrm>
          <a:prstGeom prst="roundRect">
            <a:avLst>
              <a:gd name="adj" fmla="val 10870"/>
            </a:avLst>
          </a:prstGeom>
          <a:solidFill>
            <a:srgbClr val="F1E6ED"/>
          </a:solidFill>
          <a:ln w="15240">
            <a:solidFill>
              <a:srgbClr val="7A4A6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53984" y="296265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</a:t>
            </a:r>
            <a:endParaRPr lang="en-US" sz="920" dirty="0"/>
          </a:p>
        </p:txBody>
      </p:sp>
      <p:sp>
        <p:nvSpPr>
          <p:cNvPr id="36" name="Text 34"/>
          <p:cNvSpPr txBox="1"/>
          <p:nvPr/>
        </p:nvSpPr>
        <p:spPr>
          <a:xfrm>
            <a:off x="9817608" y="2962656"/>
            <a:ext cx="19141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4A2C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approves before anything can go against a claimant</a:t>
            </a:r>
            <a:endParaRPr lang="en-US" sz="800" dirty="0"/>
          </a:p>
        </p:txBody>
      </p:sp>
      <p:sp>
        <p:nvSpPr>
          <p:cNvPr id="37" name="Text 35"/>
          <p:cNvSpPr txBox="1"/>
          <p:nvPr/>
        </p:nvSpPr>
        <p:spPr>
          <a:xfrm>
            <a:off x="365760" y="3639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9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GOES LIVE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65760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DF3E3"/>
          </a:solidFill>
          <a:ln w="15240">
            <a:solidFill>
              <a:srgbClr val="D97706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Shadow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512064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1–8</a:t>
            </a:r>
            <a:endParaRPr lang="en-US" sz="780" dirty="0"/>
          </a:p>
        </p:txBody>
      </p:sp>
      <p:sp>
        <p:nvSpPr>
          <p:cNvPr id="41" name="Text 39"/>
          <p:cNvSpPr txBox="1"/>
          <p:nvPr/>
        </p:nvSpPr>
        <p:spPr>
          <a:xfrm>
            <a:off x="512064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on live claims. Nobody sees the output.</a:t>
            </a:r>
            <a:endParaRPr lang="en-US" sz="820" dirty="0"/>
          </a:p>
        </p:txBody>
      </p:sp>
      <p:sp>
        <p:nvSpPr>
          <p:cNvPr id="42" name="Shape 40"/>
          <p:cNvSpPr/>
          <p:nvPr/>
        </p:nvSpPr>
        <p:spPr>
          <a:xfrm>
            <a:off x="512064" y="4480560"/>
            <a:ext cx="2407158" cy="9144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12064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extraction agrees with the handler on 95% of fields.</a:t>
            </a:r>
            <a:endParaRPr lang="en-US" sz="720" dirty="0"/>
          </a:p>
        </p:txBody>
      </p:sp>
      <p:sp>
        <p:nvSpPr>
          <p:cNvPr id="44" name="Shape 42"/>
          <p:cNvSpPr/>
          <p:nvPr/>
        </p:nvSpPr>
        <p:spPr>
          <a:xfrm>
            <a:off x="3092958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3284982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4F4F8"/>
          </a:solidFill>
          <a:ln w="15240">
            <a:solidFill>
              <a:srgbClr val="0891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3431286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9–16</a:t>
            </a:r>
            <a:endParaRPr lang="en-US" sz="780" dirty="0"/>
          </a:p>
        </p:txBody>
      </p:sp>
      <p:sp>
        <p:nvSpPr>
          <p:cNvPr id="48" name="Text 46"/>
          <p:cNvSpPr txBox="1"/>
          <p:nvPr/>
        </p:nvSpPr>
        <p:spPr>
          <a:xfrm>
            <a:off x="3431286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handler must edit or approve. Nothing sends itself.</a:t>
            </a:r>
            <a:endParaRPr lang="en-US" sz="820" dirty="0"/>
          </a:p>
        </p:txBody>
      </p:sp>
      <p:sp>
        <p:nvSpPr>
          <p:cNvPr id="49" name="Shape 47"/>
          <p:cNvSpPr/>
          <p:nvPr/>
        </p:nvSpPr>
        <p:spPr>
          <a:xfrm>
            <a:off x="3431286" y="4480560"/>
            <a:ext cx="2407158" cy="91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431286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Exit: edit rate on minor claims settles below 20%.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6012180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6204204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EDECFB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350508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months 5–6</a:t>
            </a:r>
            <a:endParaRPr lang="en-US" sz="780" dirty="0"/>
          </a:p>
        </p:txBody>
      </p:sp>
      <p:sp>
        <p:nvSpPr>
          <p:cNvPr id="55" name="Text 53"/>
          <p:cNvSpPr txBox="1"/>
          <p:nvPr/>
        </p:nvSpPr>
        <p:spPr>
          <a:xfrm>
            <a:off x="6350508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Minor claims pre-filled. One click accepts.</a:t>
            </a:r>
            <a:endParaRPr lang="en-US" sz="820" dirty="0"/>
          </a:p>
        </p:txBody>
      </p:sp>
      <p:sp>
        <p:nvSpPr>
          <p:cNvPr id="56" name="Shape 54"/>
          <p:cNvSpPr/>
          <p:nvPr/>
        </p:nvSpPr>
        <p:spPr>
          <a:xfrm>
            <a:off x="6350508" y="4480560"/>
            <a:ext cx="2407158" cy="9144"/>
          </a:xfrm>
          <a:prstGeom prst="rect">
            <a:avLst/>
          </a:prstGeom>
          <a:solidFill>
            <a:srgbClr val="4338CA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50508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criteria reviewed monthly with the claims lead.</a:t>
            </a:r>
            <a:endParaRPr lang="en-US" sz="720" dirty="0"/>
          </a:p>
        </p:txBody>
      </p:sp>
      <p:sp>
        <p:nvSpPr>
          <p:cNvPr id="58" name="Shape 56"/>
          <p:cNvSpPr/>
          <p:nvPr/>
        </p:nvSpPr>
        <p:spPr>
          <a:xfrm>
            <a:off x="8931402" y="4297680"/>
            <a:ext cx="164592" cy="0"/>
          </a:xfrm>
          <a:prstGeom prst="line">
            <a:avLst/>
          </a:prstGeom>
          <a:noFill/>
          <a:ln w="12700">
            <a:solidFill>
              <a:srgbClr val="5B7D80"/>
            </a:solidFill>
            <a:prstDash val="solid"/>
            <a:tailEnd type="triangle"/>
          </a:ln>
        </p:spPr>
      </p:sp>
      <p:sp>
        <p:nvSpPr>
          <p:cNvPr id="59" name="Shape 57"/>
          <p:cNvSpPr/>
          <p:nvPr/>
        </p:nvSpPr>
        <p:spPr>
          <a:xfrm>
            <a:off x="9123426" y="3877056"/>
            <a:ext cx="2699766" cy="841248"/>
          </a:xfrm>
          <a:prstGeom prst="roundRect">
            <a:avLst>
              <a:gd name="adj" fmla="val 6522"/>
            </a:avLst>
          </a:prstGeom>
          <a:solidFill>
            <a:srgbClr val="FBE9F1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</a:t>
            </a:r>
            <a:endParaRPr lang="en-US" sz="1050" dirty="0"/>
          </a:p>
        </p:txBody>
      </p:sp>
      <p:sp>
        <p:nvSpPr>
          <p:cNvPr id="61" name="Text 59"/>
          <p:cNvSpPr txBox="1"/>
          <p:nvPr/>
        </p:nvSpPr>
        <p:spPr>
          <a:xfrm>
            <a:off x="9269730" y="3968496"/>
            <a:ext cx="24071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</a:t>
            </a:r>
            <a:endParaRPr lang="en-US" sz="780" dirty="0"/>
          </a:p>
        </p:txBody>
      </p:sp>
      <p:sp>
        <p:nvSpPr>
          <p:cNvPr id="62" name="Text 60"/>
          <p:cNvSpPr txBox="1"/>
          <p:nvPr/>
        </p:nvSpPr>
        <p:spPr>
          <a:xfrm>
            <a:off x="9269730" y="4187952"/>
            <a:ext cx="2407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Nothing adverse to a claimant is ever automatic.</a:t>
            </a:r>
            <a:endParaRPr lang="en-US" sz="820" dirty="0"/>
          </a:p>
        </p:txBody>
      </p:sp>
      <p:sp>
        <p:nvSpPr>
          <p:cNvPr id="63" name="Shape 61"/>
          <p:cNvSpPr/>
          <p:nvPr/>
        </p:nvSpPr>
        <p:spPr>
          <a:xfrm>
            <a:off x="9269730" y="4480560"/>
            <a:ext cx="2407158" cy="9144"/>
          </a:xfrm>
          <a:prstGeom prst="rect">
            <a:avLst/>
          </a:prstGeom>
          <a:solidFill>
            <a:srgbClr val="BE185D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269730" y="4517136"/>
            <a:ext cx="24071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720" i="1" dirty="0">
                <a:solidFill>
                  <a:srgbClr val="6A1F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a boundary, not a phase.</a:t>
            </a:r>
            <a:endParaRPr lang="en-US" sz="720" dirty="0"/>
          </a:p>
        </p:txBody>
      </p:sp>
      <p:sp>
        <p:nvSpPr>
          <p:cNvPr id="65" name="Text 63"/>
          <p:cNvSpPr txBox="1"/>
          <p:nvPr/>
        </p:nvSpPr>
        <p:spPr>
          <a:xfrm>
            <a:off x="365760" y="484632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an agent fails or is unsure, the claim falls back to today's manual queue. Slower, never wrong.</a:t>
            </a:r>
            <a:endParaRPr lang="en-US" sz="740" dirty="0"/>
          </a:p>
        </p:txBody>
      </p:sp>
      <p:sp>
        <p:nvSpPr>
          <p:cNvPr id="66" name="Text 64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18872"/>
            <a:ext cx="9326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minute is observed, and the redesign pays for itself in 14 months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0" y="146304"/>
            <a:ext cx="5422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· HOW THE NUMBERS ARE BUILT</a:t>
            </a:r>
            <a:endParaRPr lang="en-US" sz="95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· TIME PER CLAIM, PER HANDLER (MINUTES)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841248"/>
          <a:ext cx="5650992" cy="914400"/>
        </p:xfrm>
        <a:graphic>
          <a:graphicData uri="http://schemas.openxmlformats.org/drawingml/2006/table">
            <a:tbl>
              <a:tblPr/>
              <a:tblGrid>
                <a:gridCol w="3639312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Redesigned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 &amp; extract the report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Check policy, CPR &amp; escalations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Decide, draft and send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between systems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Touch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+30% breaks &amp; interruptions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bank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A3A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4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365760" y="39319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bank 19 min, not the 10.1 the design allows: the business case runs on a three-point estimate of best, likely and worst case.</a:t>
            </a:r>
            <a:endParaRPr lang="en-US" sz="86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4224528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Basis: 20 claim handlers × 2.5 claims a day, confirmed by GGW (8 Sep 2026). 52 min back, each, per day.</a:t>
            </a:r>
            <a:endParaRPr lang="en-US" sz="860" dirty="0"/>
          </a:p>
        </p:txBody>
      </p:sp>
      <p:sp>
        <p:nvSpPr>
          <p:cNvPr id="8" name="Text 5"/>
          <p:cNvSpPr txBox="1"/>
          <p:nvPr/>
        </p:nvSpPr>
        <p:spPr>
          <a:xfrm>
            <a:off x="6172200" y="530352"/>
            <a:ext cx="5650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· THE BUSINESS CASE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841248"/>
            <a:ext cx="5650992" cy="3072384"/>
          </a:xfrm>
          <a:prstGeom prst="roundRect">
            <a:avLst>
              <a:gd name="adj" fmla="val 1786"/>
            </a:avLst>
          </a:prstGeom>
          <a:solidFill>
            <a:srgbClr val="FFFFFF"/>
          </a:solidFill>
          <a:ln w="15240">
            <a:solidFill>
              <a:srgbClr val="BE185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5080" y="969264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YEAR</a:t>
            </a:r>
            <a:endParaRPr lang="en-US" sz="840" dirty="0"/>
          </a:p>
        </p:txBody>
      </p:sp>
      <p:sp>
        <p:nvSpPr>
          <p:cNvPr id="11" name="Text 8"/>
          <p:cNvSpPr txBox="1"/>
          <p:nvPr/>
        </p:nvSpPr>
        <p:spPr>
          <a:xfrm>
            <a:off x="6355080" y="1280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released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921240" y="1280160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4,370 handler-h · 2.8 FTE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15910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Worth, at €34.92 per handler-hour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9921240" y="159105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€152,600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355080" y="190195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 it — AI models and Azure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9921240" y="190195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€2,400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2128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A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support — 0.25 of an engineer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921240" y="221284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 €24,400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35508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value, every year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921240" y="2523744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€125,800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2834640"/>
            <a:ext cx="5285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100" kern="0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ONE-OFF</a:t>
            </a:r>
            <a:endParaRPr lang="en-US" sz="84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31455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— 3 people × 6 months, fully loaded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21240" y="3145536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€146,400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6355080" y="34564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Payback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9921240" y="345643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E18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months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172200" y="4096512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cost in full: ≈ €0.08/claim in AI tokens + ≈ $134/month in Azure → €2,400/year, all in.</a:t>
            </a:r>
            <a:endParaRPr lang="en-US" sz="860" dirty="0"/>
          </a:p>
        </p:txBody>
      </p:sp>
      <p:sp>
        <p:nvSpPr>
          <p:cNvPr id="27" name="Text 24"/>
          <p:cNvSpPr txBox="1"/>
          <p:nvPr/>
        </p:nvSpPr>
        <p:spPr>
          <a:xfrm>
            <a:off x="6172200" y="4389120"/>
            <a:ext cx="5650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60" i="1" dirty="0">
                <a:solidFill>
                  <a:srgbClr val="6A6A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 is loaded team capacity, not new cash. The AI team is already funded.</a:t>
            </a:r>
            <a:endParaRPr lang="en-US" sz="86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46304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number is sourced, dated, or named as an assumption we'd test first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628632" y="1828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40" kern="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does intake — 20 claim handlers process claims; 10 support staff besides.  (GGW (P. Gossmann), 8 Sep 2026)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964692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Failed EASY imports — Not noticed today — so detection comes before retries.  (GGW (P. Gossmann), 8 Sep 2026)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65760" y="1271016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Volumes and shares — ~50 first reports a day · 65% minor · ~30 in the team.  (GGW case study brief)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57734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Wage base — Schadenregulierer/in, €45,100 gross — the role doing intake.  </a:t>
            </a:r>
            <a:endParaRPr lang="en-US" sz="1000" dirty="0"/>
          </a:p>
        </p:txBody>
      </p:sp>
      <p:sp>
        <p:nvSpPr>
          <p:cNvPr id="8" name="Text 6">
            <a:hlinkClick r:id="rId1" tooltip="StepStone"/>
          </p:cNvPr>
          <p:cNvSpPr txBox="1"/>
          <p:nvPr/>
        </p:nvSpPr>
        <p:spPr>
          <a:xfrm>
            <a:off x="9189720" y="157734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StepSton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(StepStone)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5760" y="1883664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Employer on-cost — ≈ €23 per €100 gross — health, pension, care.  </a:t>
            </a:r>
            <a:endParaRPr lang="en-US" sz="1000" dirty="0"/>
          </a:p>
        </p:txBody>
      </p:sp>
      <p:sp>
        <p:nvSpPr>
          <p:cNvPr id="10" name="Text 8">
            <a:hlinkClick r:id="rId2" tooltip="sevdesk"/>
          </p:cNvPr>
          <p:cNvSpPr txBox="1"/>
          <p:nvPr/>
        </p:nvSpPr>
        <p:spPr>
          <a:xfrm>
            <a:off x="9189720" y="1883664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sevdesk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(sevdesk)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65760" y="21899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Working time &amp; breaks — 38h tariff week; statutory break rules.  </a:t>
            </a:r>
            <a:endParaRPr lang="en-US" sz="1000" dirty="0"/>
          </a:p>
        </p:txBody>
      </p:sp>
      <p:sp>
        <p:nvSpPr>
          <p:cNvPr id="12" name="Text 10">
            <a:hlinkClick r:id="rId3" tooltip="Arbeitszeitgesetz §4"/>
          </p:cNvPr>
          <p:cNvSpPr txBox="1"/>
          <p:nvPr/>
        </p:nvSpPr>
        <p:spPr>
          <a:xfrm>
            <a:off x="9189720" y="218998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Arbeitszeitgesetz §4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(Arbeitszeitgesetz §4)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49631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Build &amp; upkeep pay — Senior ML engineer ≈ €98k; juniors ≈ €70k, as briefed.  </a:t>
            </a:r>
            <a:endParaRPr lang="en-US" sz="1000" dirty="0"/>
          </a:p>
        </p:txBody>
      </p:sp>
      <p:sp>
        <p:nvSpPr>
          <p:cNvPr id="14" name="Text 12">
            <a:hlinkClick r:id="rId4" tooltip="Glassdoor"/>
          </p:cNvPr>
          <p:cNvSpPr txBox="1"/>
          <p:nvPr/>
        </p:nvSpPr>
        <p:spPr>
          <a:xfrm>
            <a:off x="9189720" y="249631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invalidUrl="" action="" tgtFrame="" tooltip="Glassdoo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(Glassdoor)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280263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Model prices — gpt-5.6 terra — $2 in / $12 out per million tokens.  </a:t>
            </a:r>
            <a:endParaRPr lang="en-US" sz="1000" dirty="0"/>
          </a:p>
        </p:txBody>
      </p:sp>
      <p:sp>
        <p:nvSpPr>
          <p:cNvPr id="16" name="Text 14">
            <a:hlinkClick r:id="rId5" tooltip="OpenAI"/>
          </p:cNvPr>
          <p:cNvSpPr txBox="1"/>
          <p:nvPr/>
        </p:nvSpPr>
        <p:spPr>
          <a:xfrm>
            <a:off x="9189720" y="280263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invalidUrl="" action="" tgtFrame="" tooltip="OpenAI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(OpenAI)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3108960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Hosting &amp; database — Container Apps consumption rates; PostgreSQL B2s.  </a:t>
            </a:r>
            <a:endParaRPr lang="en-US" sz="1000" dirty="0"/>
          </a:p>
        </p:txBody>
      </p:sp>
      <p:sp>
        <p:nvSpPr>
          <p:cNvPr id="18" name="Text 16">
            <a:hlinkClick r:id="rId6" tooltip="Azure pricing"/>
          </p:cNvPr>
          <p:cNvSpPr txBox="1"/>
          <p:nvPr/>
        </p:nvSpPr>
        <p:spPr>
          <a:xfrm>
            <a:off x="9189720" y="310896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6" invalidUrl="" action="" tgtFrame="" tooltip="Azure pricin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(Azure pricing)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65760" y="3415284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Upkeep after go-live — 15–20% of build effort a year, ours is 17%.  (Standard maintenance rule of thumb)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" y="372160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 Industry baseline — 17 of 20 carriers still manual; none let AI decide alone.  </a:t>
            </a:r>
            <a:endParaRPr lang="en-US" sz="1000" dirty="0"/>
          </a:p>
        </p:txBody>
      </p:sp>
      <p:sp>
        <p:nvSpPr>
          <p:cNvPr id="21" name="Text 19">
            <a:hlinkClick r:id="rId7" tooltip="Decerto, 2026 Claims Decisioning Pulse"/>
          </p:cNvPr>
          <p:cNvSpPr txBox="1"/>
          <p:nvPr/>
        </p:nvSpPr>
        <p:spPr>
          <a:xfrm>
            <a:off x="9189720" y="3721608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7" invalidUrl="" action="" tgtFrame="" tooltip="Decerto, 2026 Claims Decisioning Pulse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(Decerto, 2026 Claims Decisioning Pulse)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65760" y="4027932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 Where value comes from — The 10-20-70 split — algorithms, technology, people.  </a:t>
            </a:r>
            <a:endParaRPr lang="en-US" sz="1000" dirty="0"/>
          </a:p>
        </p:txBody>
      </p:sp>
      <p:sp>
        <p:nvSpPr>
          <p:cNvPr id="23" name="Text 21">
            <a:hlinkClick r:id="rId8" tooltip="BCG"/>
          </p:cNvPr>
          <p:cNvSpPr txBox="1"/>
          <p:nvPr/>
        </p:nvSpPr>
        <p:spPr>
          <a:xfrm>
            <a:off x="9189720" y="4027932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8" invalidUrl="" action="" tgtFrame="" tooltip="BCG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(BCG)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4334256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 Fixing import failures — Retry vs. dead-letter, idempotency, alert on rate.  </a:t>
            </a:r>
            <a:endParaRPr lang="en-US" sz="1000" dirty="0"/>
          </a:p>
        </p:txBody>
      </p:sp>
      <p:sp>
        <p:nvSpPr>
          <p:cNvPr id="25" name="Text 23">
            <a:hlinkClick r:id="rId9" tooltip="Standard integration pattern"/>
          </p:cNvPr>
          <p:cNvSpPr txBox="1"/>
          <p:nvPr/>
        </p:nvSpPr>
        <p:spPr>
          <a:xfrm>
            <a:off x="9189720" y="4334256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u="sng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9" invalidUrl="" action="" tgtFrame="" tooltip="Standard integration patter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(Standard integration pattern)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4732020"/>
            <a:ext cx="11457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assumptions, not sourced. The first thing we would test: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365760" y="4988052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per-step minute on slide 8 · the 30% allowance for breaks and interruptions · how often a CPR is missing (30%) or underwriting is asked (25%) · how often the redesign raises an exception (20%) · the tokens a typical claim needs · the €146k build · the 0.25 FTE upkeep. Two weeks of watching live intake would replace all of this with measurements.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65760" y="6309360"/>
            <a:ext cx="11430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Prices checked September 2026 · US$ converted at €0.92 · every euro figure is fully loaded (gross pay plus employer contributions).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365760" y="660196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GGW Claims Workflow Redesign · FNOL</a:t>
            </a:r>
            <a:endParaRPr lang="en-US" sz="800" dirty="0"/>
          </a:p>
        </p:txBody>
      </p:sp>
      <p:sp>
        <p:nvSpPr>
          <p:cNvPr id="30" name="Text 28"/>
          <p:cNvSpPr txBox="1"/>
          <p:nvPr/>
        </p:nvSpPr>
        <p:spPr>
          <a:xfrm>
            <a:off x="11247120" y="6601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FNOL — Today vs. AI-Native, in three parts</dc:title>
  <dc:subject>PptxGenJS Presentation</dc:subject>
  <dc:creator>GGW Case Study</dc:creator>
  <cp:lastModifiedBy>GGW Case Study</cp:lastModifiedBy>
  <cp:revision>1</cp:revision>
  <dcterms:created xsi:type="dcterms:W3CDTF">2026-09-16T15:02:07Z</dcterms:created>
  <dcterms:modified xsi:type="dcterms:W3CDTF">2026-09-16T15:02:07Z</dcterms:modified>
</cp:coreProperties>
</file>