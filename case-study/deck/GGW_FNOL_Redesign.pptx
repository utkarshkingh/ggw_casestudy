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epstone.de/gehalt/Schadenregulierer-in.html" TargetMode="External"/><Relationship Id="rId2" Type="http://schemas.openxmlformats.org/officeDocument/2006/relationships/hyperlink" Target="https://sevdesk.de/ratgeber/buchhaltung-finanzen/lohnbuchhaltung/lohnnebenkosten/" TargetMode="External"/><Relationship Id="rId3" Type="http://schemas.openxmlformats.org/officeDocument/2006/relationships/hyperlink" Target="https://www.gesetze-im-internet.de/arbzg/__4.html" TargetMode="External"/><Relationship Id="rId4" Type="http://schemas.openxmlformats.org/officeDocument/2006/relationships/hyperlink" Target="https://www.glassdoor.com/Salaries/germany-machine-learning-engineer-salary-SRCH_IL.0,7_IN96_KO8,33.htm" TargetMode="External"/><Relationship Id="rId5" Type="http://schemas.openxmlformats.org/officeDocument/2006/relationships/hyperlink" Target="https://openai.com/api/pricing/" TargetMode="External"/><Relationship Id="rId6" Type="http://schemas.openxmlformats.org/officeDocument/2006/relationships/hyperlink" Target="https://azure.microsoft.com/en-us/pricing/details/container-apps/" TargetMode="External"/><Relationship Id="rId7" Type="http://schemas.openxmlformats.org/officeDocument/2006/relationships/hyperlink" Target="https://www.decerto.com/us/post/ai-claims-decisioning-framework-2026-what-us-claims-leaders-told-us-about-how-decisions-actually-get-made" TargetMode="External"/><Relationship Id="rId8" Type="http://schemas.openxmlformats.org/officeDocument/2006/relationships/hyperlink" Target="https://www.bcg.com/publications/2024/transforming-customer-service-operations-with-genai" TargetMode="External"/><Relationship Id="rId9" Type="http://schemas.openxmlformats.org/officeDocument/2006/relationships/hyperlink" Target="https://www.glukhov.org/app-architecture/integration-patterns/dead-letter-queues/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60704"/>
            <a:ext cx="12191695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0" y="155448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60" kern="0" dirty="0">
                <a:solidFill>
                  <a:srgbClr val="7FB3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Redesigning intake roughly doubles a claim handler's daily capacity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7607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9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claim drops from 40 to 19 minutes. Same 20 handlers, same shift: that's a capacity ceiling, not confirmed extra demand.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FDF3E3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claim costs one claim handler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6B62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658368" y="2752344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Re-reads the report, opens attachments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658368" y="2985516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Chases a missing CPR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658368" y="3218688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 EASY · IDB · e-mail · paper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58368" y="3451860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 for breaks and interruptions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416052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E4F4F8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6168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REDESIGNED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436168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check and every exit kept, run in a new order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36168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pPr indent="0" marL="0">
              <a:buNone/>
            </a:pPr>
            <a:r>
              <a:rPr lang="en-US" sz="1200" dirty="0">
                <a:solidFill>
                  <a:srgbClr val="5A6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23" name="Shape 21"/>
          <p:cNvSpPr/>
          <p:nvPr/>
        </p:nvSpPr>
        <p:spPr>
          <a:xfrm>
            <a:off x="4361688" y="2752344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0799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minutes back on every claim (a 52% cut)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4361688" y="2985516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0799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AI agents, 1 rules-only step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4361688" y="3218688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0799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human checkpoints kept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4361688" y="3451860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0799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Handlers re-check before they trust it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7863840" y="1325880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DECFB"/>
          </a:solidFill>
          <a:ln w="1397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65008" y="14630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EFFORT ACTUALLY GOES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8065008" y="1746504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193024" y="17099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8887968" y="1700784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machines</a:t>
            </a:r>
            <a:endParaRPr lang="en-US" sz="930" dirty="0"/>
          </a:p>
        </p:txBody>
      </p:sp>
      <p:sp>
        <p:nvSpPr>
          <p:cNvPr id="36" name="Text 34"/>
          <p:cNvSpPr txBox="1"/>
          <p:nvPr/>
        </p:nvSpPr>
        <p:spPr>
          <a:xfrm>
            <a:off x="8887968" y="1911096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€0.08 a claim · €2,400 a year</a:t>
            </a:r>
            <a:endParaRPr lang="en-US" sz="820" dirty="0"/>
          </a:p>
        </p:txBody>
      </p:sp>
      <p:sp>
        <p:nvSpPr>
          <p:cNvPr id="37" name="Shape 35"/>
          <p:cNvSpPr/>
          <p:nvPr/>
        </p:nvSpPr>
        <p:spPr>
          <a:xfrm>
            <a:off x="8065008" y="2350008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193024" y="231343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8887968" y="2304288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Plumbing and audit trail</a:t>
            </a:r>
            <a:endParaRPr lang="en-US" sz="930" dirty="0"/>
          </a:p>
        </p:txBody>
      </p:sp>
      <p:sp>
        <p:nvSpPr>
          <p:cNvPr id="40" name="Text 38"/>
          <p:cNvSpPr txBox="1"/>
          <p:nvPr/>
        </p:nvSpPr>
        <p:spPr>
          <a:xfrm>
            <a:off x="8887968" y="2514600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EASY/IDB wiring, logging every decision</a:t>
            </a:r>
            <a:endParaRPr lang="en-US" sz="820" dirty="0"/>
          </a:p>
        </p:txBody>
      </p:sp>
      <p:sp>
        <p:nvSpPr>
          <p:cNvPr id="41" name="Shape 39"/>
          <p:cNvSpPr/>
          <p:nvPr/>
        </p:nvSpPr>
        <p:spPr>
          <a:xfrm>
            <a:off x="8065008" y="2953512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193024" y="29169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8887968" y="2907792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training, trust</a:t>
            </a:r>
            <a:endParaRPr lang="en-US" sz="930" dirty="0"/>
          </a:p>
        </p:txBody>
      </p:sp>
      <p:sp>
        <p:nvSpPr>
          <p:cNvPr id="44" name="Text 42"/>
          <p:cNvSpPr txBox="1"/>
          <p:nvPr/>
        </p:nvSpPr>
        <p:spPr>
          <a:xfrm>
            <a:off x="8887968" y="3118104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schedule risk</a:t>
            </a:r>
            <a:endParaRPr lang="en-US" sz="820" dirty="0"/>
          </a:p>
        </p:txBody>
      </p:sp>
      <p:sp>
        <p:nvSpPr>
          <p:cNvPr id="45" name="Text 43"/>
          <p:cNvSpPr txBox="1"/>
          <p:nvPr/>
        </p:nvSpPr>
        <p:spPr>
          <a:xfrm>
            <a:off x="8065008" y="355701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i="1" dirty="0">
                <a:solidFill>
                  <a:srgbClr val="5A5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BCG's 10-20-70, tilted to plumbing: EASY and IDB are the constraint</a:t>
            </a:r>
            <a:endParaRPr lang="en-US" sz="740" dirty="0"/>
          </a:p>
        </p:txBody>
      </p:sp>
      <p:sp>
        <p:nvSpPr>
          <p:cNvPr id="46" name="Shape 44"/>
          <p:cNvSpPr/>
          <p:nvPr/>
        </p:nvSpPr>
        <p:spPr>
          <a:xfrm>
            <a:off x="45720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2179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min</a:t>
            </a:r>
            <a:endParaRPr lang="en-US" sz="2000" dirty="0"/>
          </a:p>
        </p:txBody>
      </p:sp>
      <p:sp>
        <p:nvSpPr>
          <p:cNvPr id="48" name="Text 46"/>
          <p:cNvSpPr txBox="1"/>
          <p:nvPr/>
        </p:nvSpPr>
        <p:spPr>
          <a:xfrm>
            <a:off x="62179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freed per claim handler per day, out of 6.0 productive hours</a:t>
            </a:r>
            <a:endParaRPr lang="en-US" sz="840" dirty="0"/>
          </a:p>
        </p:txBody>
      </p:sp>
      <p:sp>
        <p:nvSpPr>
          <p:cNvPr id="49" name="Shape 47"/>
          <p:cNvSpPr/>
          <p:nvPr/>
        </p:nvSpPr>
        <p:spPr>
          <a:xfrm>
            <a:off x="3340303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91B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504895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17.5 h</a:t>
            </a:r>
            <a:endParaRPr lang="en-US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3504895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20 claim handlers, or 2.9 full-time people</a:t>
            </a:r>
            <a:endParaRPr lang="en-US" sz="840" dirty="0"/>
          </a:p>
        </p:txBody>
      </p:sp>
      <p:sp>
        <p:nvSpPr>
          <p:cNvPr id="52" name="Shape 50"/>
          <p:cNvSpPr/>
          <p:nvPr/>
        </p:nvSpPr>
        <p:spPr>
          <a:xfrm>
            <a:off x="6223406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E185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87998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1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€162k a year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6387998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4,370 freed handler-hours are worth, at €36.98 fully loaded</a:t>
            </a:r>
            <a:endParaRPr lang="en-US" sz="840" dirty="0"/>
          </a:p>
        </p:txBody>
      </p:sp>
      <p:sp>
        <p:nvSpPr>
          <p:cNvPr id="55" name="Shape 53"/>
          <p:cNvSpPr/>
          <p:nvPr/>
        </p:nvSpPr>
        <p:spPr>
          <a:xfrm>
            <a:off x="910651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4338C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27110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mths</a:t>
            </a:r>
            <a:endParaRPr lang="en-US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927110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pay back the one-off build of €146k</a:t>
            </a:r>
            <a:endParaRPr lang="en-US" sz="840" dirty="0"/>
          </a:p>
        </p:txBody>
      </p:sp>
      <p:sp>
        <p:nvSpPr>
          <p:cNvPr id="58" name="Shape 56"/>
          <p:cNvSpPr/>
          <p:nvPr/>
        </p:nvSpPr>
        <p:spPr>
          <a:xfrm>
            <a:off x="457200" y="5047488"/>
            <a:ext cx="11274552" cy="585216"/>
          </a:xfrm>
          <a:prstGeom prst="roundRect">
            <a:avLst>
              <a:gd name="adj" fmla="val 9375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58368" y="5047488"/>
            <a:ext cx="10881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Recommendation:  </a:t>
            </a:r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A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the failed imports nobody sees today, then intake. A person approves every decision that can go against a claimant, at every stage.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9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stations share one claim record, so nothing is handed off or read twice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46304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AT A GLANCE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/ trigger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965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67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16052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168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37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39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732520" y="576072"/>
            <a:ext cx="320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9098280" y="457200"/>
            <a:ext cx="2724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conditional path (~20% of claims)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5760" y="859536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2FAF9"/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" y="859536"/>
            <a:ext cx="54864" cy="1005840"/>
          </a:xfrm>
          <a:prstGeom prst="rect">
            <a:avLst/>
          </a:prstGeom>
          <a:solidFill>
            <a:srgbClr val="007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2064" y="91440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07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1993392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4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5760" y="1993392"/>
            <a:ext cx="54864" cy="1005840"/>
          </a:xfrm>
          <a:prstGeom prst="rect">
            <a:avLst/>
          </a:prstGeom>
          <a:solidFill>
            <a:srgbClr val="6B778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840480" y="20482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— NO MODEL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65760" y="3127248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1F5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" y="3127248"/>
            <a:ext cx="54864" cy="1005840"/>
          </a:xfrm>
          <a:prstGeom prst="rect">
            <a:avLst/>
          </a:prstGeom>
          <a:solidFill>
            <a:srgbClr val="3B6FA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12064" y="318211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65760" y="4261104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AF3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" y="4261104"/>
            <a:ext cx="54864" cy="1005840"/>
          </a:xfrm>
          <a:prstGeom prst="rect">
            <a:avLst/>
          </a:prstGeom>
          <a:solidFill>
            <a:srgbClr val="7A4A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12064" y="431596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7A4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DECIDES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1170432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6F8F7"/>
          </a:solidFill>
          <a:ln w="17780">
            <a:solidFill>
              <a:srgbClr val="007A8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8912" y="1243584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</a:t>
            </a:r>
            <a:endParaRPr lang="en-US" sz="960" dirty="0"/>
          </a:p>
        </p:txBody>
      </p:sp>
      <p:sp>
        <p:nvSpPr>
          <p:cNvPr id="28" name="Text 26"/>
          <p:cNvSpPr txBox="1"/>
          <p:nvPr/>
        </p:nvSpPr>
        <p:spPr>
          <a:xfrm>
            <a:off x="438912" y="1499616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· AES mail · e-mail</a:t>
            </a:r>
            <a:endParaRPr lang="en-US" sz="740" dirty="0"/>
          </a:p>
        </p:txBody>
      </p:sp>
      <p:sp>
        <p:nvSpPr>
          <p:cNvPr id="29" name="Shape 27"/>
          <p:cNvSpPr/>
          <p:nvPr/>
        </p:nvSpPr>
        <p:spPr>
          <a:xfrm>
            <a:off x="23088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3820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960" dirty="0"/>
          </a:p>
        </p:txBody>
      </p:sp>
      <p:sp>
        <p:nvSpPr>
          <p:cNvPr id="31" name="Text 29"/>
          <p:cNvSpPr txBox="1"/>
          <p:nvPr/>
        </p:nvSpPr>
        <p:spPr>
          <a:xfrm>
            <a:off x="23820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format → structured fields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42519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251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960" dirty="0"/>
          </a:p>
        </p:txBody>
      </p:sp>
      <p:sp>
        <p:nvSpPr>
          <p:cNvPr id="34" name="Text 32"/>
          <p:cNvSpPr txBox="1"/>
          <p:nvPr/>
        </p:nvSpPr>
        <p:spPr>
          <a:xfrm>
            <a:off x="43251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+ confidence score</a:t>
            </a:r>
            <a:endParaRPr lang="en-US" sz="740" dirty="0"/>
          </a:p>
        </p:txBody>
      </p:sp>
      <p:sp>
        <p:nvSpPr>
          <p:cNvPr id="35" name="Shape 33"/>
          <p:cNvSpPr/>
          <p:nvPr/>
        </p:nvSpPr>
        <p:spPr>
          <a:xfrm>
            <a:off x="6195060" y="2304288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8212" y="2377440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960" dirty="0"/>
          </a:p>
        </p:txBody>
      </p:sp>
      <p:sp>
        <p:nvSpPr>
          <p:cNvPr id="37" name="Text 35"/>
          <p:cNvSpPr txBox="1"/>
          <p:nvPr/>
        </p:nvSpPr>
        <p:spPr>
          <a:xfrm>
            <a:off x="6268212" y="2633472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· policy · duplicates</a:t>
            </a:r>
            <a:endParaRPr lang="en-US" sz="740" dirty="0"/>
          </a:p>
        </p:txBody>
      </p:sp>
      <p:sp>
        <p:nvSpPr>
          <p:cNvPr id="38" name="Shape 36"/>
          <p:cNvSpPr/>
          <p:nvPr/>
        </p:nvSpPr>
        <p:spPr>
          <a:xfrm>
            <a:off x="61950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CEFD6"/>
          </a:solidFill>
          <a:ln w="13970">
            <a:solidFill>
              <a:srgbClr val="EF9F27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62682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</a:t>
            </a:r>
            <a:endParaRPr lang="en-US" sz="960" dirty="0"/>
          </a:p>
        </p:txBody>
      </p:sp>
      <p:sp>
        <p:nvSpPr>
          <p:cNvPr id="40" name="Text 38"/>
          <p:cNvSpPr txBox="1"/>
          <p:nvPr/>
        </p:nvSpPr>
        <p:spPr>
          <a:xfrm>
            <a:off x="62682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evidence · ~20% of claims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8138160" y="2304288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211312" y="2377440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</a:t>
            </a:r>
            <a:endParaRPr lang="en-US" sz="960" dirty="0"/>
          </a:p>
        </p:txBody>
      </p:sp>
      <p:sp>
        <p:nvSpPr>
          <p:cNvPr id="43" name="Text 41"/>
          <p:cNvSpPr txBox="1"/>
          <p:nvPr/>
        </p:nvSpPr>
        <p:spPr>
          <a:xfrm>
            <a:off x="8211312" y="2633472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cover, dates, sums · same record</a:t>
            </a:r>
            <a:endParaRPr lang="en-US" sz="740" dirty="0"/>
          </a:p>
        </p:txBody>
      </p:sp>
      <p:sp>
        <p:nvSpPr>
          <p:cNvPr id="44" name="Shape 42"/>
          <p:cNvSpPr/>
          <p:nvPr/>
        </p:nvSpPr>
        <p:spPr>
          <a:xfrm>
            <a:off x="81381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113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Agent</a:t>
            </a:r>
            <a:endParaRPr lang="en-US" sz="960" dirty="0"/>
          </a:p>
        </p:txBody>
      </p:sp>
      <p:sp>
        <p:nvSpPr>
          <p:cNvPr id="46" name="Text 44"/>
          <p:cNvSpPr txBox="1"/>
          <p:nvPr/>
        </p:nvSpPr>
        <p:spPr>
          <a:xfrm>
            <a:off x="82113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the letter, cites its reasoning</a:t>
            </a:r>
            <a:endParaRPr lang="en-US" sz="740" dirty="0"/>
          </a:p>
        </p:txBody>
      </p:sp>
      <p:sp>
        <p:nvSpPr>
          <p:cNvPr id="47" name="Shape 45"/>
          <p:cNvSpPr/>
          <p:nvPr/>
        </p:nvSpPr>
        <p:spPr>
          <a:xfrm>
            <a:off x="10081260" y="4572000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1E6ED"/>
          </a:solidFill>
          <a:ln w="17780">
            <a:solidFill>
              <a:srgbClr val="7A4A6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154412" y="4645152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</a:t>
            </a:r>
            <a:endParaRPr lang="en-US" sz="960" dirty="0"/>
          </a:p>
        </p:txBody>
      </p:sp>
      <p:sp>
        <p:nvSpPr>
          <p:cNvPr id="49" name="Text 47"/>
          <p:cNvSpPr txBox="1"/>
          <p:nvPr/>
        </p:nvSpPr>
        <p:spPr>
          <a:xfrm>
            <a:off x="10154412" y="4901184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anything sends</a:t>
            </a:r>
            <a:endParaRPr lang="en-US" sz="740" dirty="0"/>
          </a:p>
        </p:txBody>
      </p:sp>
      <p:sp>
        <p:nvSpPr>
          <p:cNvPr id="50" name="Shape 48"/>
          <p:cNvSpPr/>
          <p:nvPr/>
        </p:nvSpPr>
        <p:spPr>
          <a:xfrm>
            <a:off x="411480" y="1216152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11480" y="12161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40" dirty="0"/>
          </a:p>
        </p:txBody>
      </p:sp>
      <p:sp>
        <p:nvSpPr>
          <p:cNvPr id="52" name="Shape 50"/>
          <p:cNvSpPr/>
          <p:nvPr/>
        </p:nvSpPr>
        <p:spPr>
          <a:xfrm>
            <a:off x="23545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3545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40" dirty="0"/>
          </a:p>
        </p:txBody>
      </p:sp>
      <p:sp>
        <p:nvSpPr>
          <p:cNvPr id="54" name="Shape 52"/>
          <p:cNvSpPr/>
          <p:nvPr/>
        </p:nvSpPr>
        <p:spPr>
          <a:xfrm>
            <a:off x="42976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2976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40" dirty="0"/>
          </a:p>
        </p:txBody>
      </p:sp>
      <p:sp>
        <p:nvSpPr>
          <p:cNvPr id="56" name="Shape 54"/>
          <p:cNvSpPr/>
          <p:nvPr/>
        </p:nvSpPr>
        <p:spPr>
          <a:xfrm>
            <a:off x="6240780" y="2350008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240780" y="2350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40" dirty="0"/>
          </a:p>
        </p:txBody>
      </p:sp>
      <p:sp>
        <p:nvSpPr>
          <p:cNvPr id="58" name="Shape 56"/>
          <p:cNvSpPr/>
          <p:nvPr/>
        </p:nvSpPr>
        <p:spPr>
          <a:xfrm>
            <a:off x="8183880" y="2350008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8183880" y="2350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40" dirty="0"/>
          </a:p>
        </p:txBody>
      </p:sp>
      <p:sp>
        <p:nvSpPr>
          <p:cNvPr id="60" name="Shape 58"/>
          <p:cNvSpPr/>
          <p:nvPr/>
        </p:nvSpPr>
        <p:spPr>
          <a:xfrm>
            <a:off x="81838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1838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40" dirty="0"/>
          </a:p>
        </p:txBody>
      </p:sp>
      <p:sp>
        <p:nvSpPr>
          <p:cNvPr id="62" name="Shape 60"/>
          <p:cNvSpPr/>
          <p:nvPr/>
        </p:nvSpPr>
        <p:spPr>
          <a:xfrm>
            <a:off x="10126980" y="4617720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126980" y="461772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40" dirty="0"/>
          </a:p>
        </p:txBody>
      </p:sp>
      <p:sp>
        <p:nvSpPr>
          <p:cNvPr id="64" name="Shape 62"/>
          <p:cNvSpPr/>
          <p:nvPr/>
        </p:nvSpPr>
        <p:spPr>
          <a:xfrm>
            <a:off x="1227582" y="1792224"/>
            <a:ext cx="1943100" cy="164592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40325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 flipV="1">
            <a:off x="5113782" y="2926080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7918704" y="2615184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8999982" y="2926080"/>
            <a:ext cx="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7056882" y="2926080"/>
            <a:ext cx="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79187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8999982" y="4059936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72" name="Text 70"/>
          <p:cNvSpPr txBox="1"/>
          <p:nvPr/>
        </p:nvSpPr>
        <p:spPr>
          <a:xfrm>
            <a:off x="365760" y="5449824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i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drafts. Rules check. A person decides anything that can go against a claimant.</a:t>
            </a:r>
            <a:endParaRPr lang="en-US" sz="860" dirty="0"/>
          </a:p>
        </p:txBody>
      </p:sp>
      <p:sp>
        <p:nvSpPr>
          <p:cNvPr id="73" name="Text 71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in and a separate side-track diagram become one classified intake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on the left, the redesign on the right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1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report filed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(usually the employer)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251960" y="203263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to AES, secure mail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225209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already gathered it;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 only re-checks coverage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Teeth/glasses: 'tooth' · email + invoices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track (not PD/LOEC)</a:t>
            </a:r>
            <a:endParaRPr lang="en-US" sz="78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1.1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3218688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/ IDB auto-import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108960" y="2788920"/>
            <a:ext cx="0" cy="45720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240280" y="32461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Auto-import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flipH="1">
            <a:off x="1965960" y="35661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411480" y="32343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3453797"/>
            <a:ext cx="1463040" cy="224727"/>
          </a:xfrm>
          <a:prstGeom prst="roundRect">
            <a:avLst>
              <a:gd name="adj" fmla="val 1627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claim creation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65960" y="3678523"/>
            <a:ext cx="1143000" cy="48199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218688" y="3913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108960" y="388620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715000" y="2685669"/>
            <a:ext cx="0" cy="1593723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3108960" y="4279392"/>
            <a:ext cx="2606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1645920" y="43891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Data / Policy / Duplicate checks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6583680" y="1417320"/>
            <a:ext cx="4937760" cy="239332"/>
          </a:xfrm>
          <a:prstGeom prst="roundRect">
            <a:avLst>
              <a:gd name="adj" fmla="val 15283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arrives: EASY, AES secure mail, or email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0525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6583680" y="2148840"/>
            <a:ext cx="4937760" cy="392684"/>
          </a:xfrm>
          <a:prstGeom prst="roundRect">
            <a:avLst>
              <a:gd name="adj" fmla="val 9314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format in, structured fields out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52560" y="254152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583680" y="2861564"/>
            <a:ext cx="4937760" cy="392684"/>
          </a:xfrm>
          <a:prstGeom prst="roundRect">
            <a:avLst>
              <a:gd name="adj" fmla="val 9314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+ confidence score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52560" y="3254248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8183880" y="3574288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≥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threshold?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368401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strict, loosens with data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 flipH="1">
            <a:off x="7909560" y="3894328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6355080" y="351066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3730117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 back to today's manual queue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9162288" y="424180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052560" y="4214368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7589520" y="46990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Parallel Validation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6400800" y="4991608"/>
            <a:ext cx="5303520" cy="566928"/>
          </a:xfrm>
          <a:prstGeom prst="roundRect">
            <a:avLst>
              <a:gd name="adj" fmla="val 8065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37960" y="4991608"/>
            <a:ext cx="50292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agents replace 3 entry channels, the auto-import failure path, and the whole 1.1 side track.</a:t>
            </a:r>
            <a:endParaRPr lang="en-US" sz="8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checks done one after another become one check done all at once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of the three checks depends on the other two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2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correct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complete?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11480" y="15822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CPR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80174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fill fields (via questionnaire)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1965960" y="2130171"/>
            <a:ext cx="1143000" cy="521589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108960" y="2212848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240280" y="265176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attached?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 flipH="1">
            <a:off x="196596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411480" y="26436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/ old policy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863088"/>
            <a:ext cx="1463040" cy="217424"/>
          </a:xfrm>
          <a:prstGeom prst="roundRect">
            <a:avLst>
              <a:gd name="adj" fmla="val 16822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correct policy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965960" y="3080512"/>
            <a:ext cx="1143000" cy="6502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97764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4251960" y="258813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valid policy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251960" y="280758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 correct insurer</a:t>
            </a:r>
            <a:endParaRPr lang="en-US" sz="780" dirty="0"/>
          </a:p>
        </p:txBody>
      </p:sp>
      <p:sp>
        <p:nvSpPr>
          <p:cNvPr id="27" name="Text 25"/>
          <p:cNvSpPr txBox="1"/>
          <p:nvPr/>
        </p:nvSpPr>
        <p:spPr>
          <a:xfrm>
            <a:off x="3218688" y="33192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108960" y="3291840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240280" y="3730752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or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duplicate?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4050792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366712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3886581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 / connect same-CPR claims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1965960" y="4215003"/>
            <a:ext cx="1143000" cy="63131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218688" y="43982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108960" y="4370832"/>
            <a:ext cx="0" cy="47548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16459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Escalation &amp; Close-Out</a:t>
            </a:r>
            <a:endParaRPr lang="en-US" sz="830" dirty="0"/>
          </a:p>
        </p:txBody>
      </p:sp>
      <p:sp>
        <p:nvSpPr>
          <p:cNvPr id="37" name="Text 35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38" name="Shape 36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Node (rules only)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dedup · policy in force · completeness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lookups at once, no model call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052560" y="218465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8183880" y="2504694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921240" y="2824734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0195560" y="238848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10195560" y="2607945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CVR and fuzzy-match evidence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10927080" y="3041523"/>
            <a:ext cx="0" cy="21945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10195560" y="3260979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Underwriter decides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 only)</a:t>
            </a:r>
            <a:endParaRPr lang="en-US" sz="760" dirty="0"/>
          </a:p>
        </p:txBody>
      </p:sp>
      <p:sp>
        <p:nvSpPr>
          <p:cNvPr id="47" name="Text 45"/>
          <p:cNvSpPr txBox="1"/>
          <p:nvPr/>
        </p:nvSpPr>
        <p:spPr>
          <a:xfrm>
            <a:off x="9162288" y="317220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9052560" y="3144774"/>
            <a:ext cx="0" cy="170154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75895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Outcome Drafting Agent</a:t>
            </a:r>
            <a:endParaRPr lang="en-US" sz="8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writes the draft; the handler still makes the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that can go against a claimant is automated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3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warning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claim?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11480" y="1585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804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hold: check with UW before it can move on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1965960" y="2127250"/>
            <a:ext cx="1143000" cy="66167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108960" y="2212848"/>
            <a:ext cx="0" cy="57607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240280" y="2788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 flipH="1">
            <a:off x="196596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41148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~65%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letter, no permanent injury</a:t>
            </a:r>
            <a:endParaRPr lang="en-US" sz="760" dirty="0"/>
          </a:p>
        </p:txBody>
      </p:sp>
      <p:sp>
        <p:nvSpPr>
          <p:cNvPr id="23" name="Shape 21"/>
          <p:cNvSpPr/>
          <p:nvPr/>
        </p:nvSpPr>
        <p:spPr>
          <a:xfrm>
            <a:off x="397764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25196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425196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IDB: fields checked, task opened, questionnaire</a:t>
            </a:r>
            <a:endParaRPr lang="en-US" sz="760" dirty="0"/>
          </a:p>
        </p:txBody>
      </p:sp>
      <p:sp>
        <p:nvSpPr>
          <p:cNvPr id="26" name="Shape 24"/>
          <p:cNvSpPr/>
          <p:nvPr/>
        </p:nvSpPr>
        <p:spPr>
          <a:xfrm>
            <a:off x="365760" y="4160520"/>
            <a:ext cx="5486400" cy="685800"/>
          </a:xfrm>
          <a:prstGeom prst="roundRect">
            <a:avLst>
              <a:gd name="adj" fmla="val 6667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920" y="4160520"/>
            <a:ext cx="521208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7 decision gates, 3 entry channels, 10 exception or exit branches across the full FNOL flow.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the letter or the IDB record,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its reasoning attached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052560" y="2184654"/>
            <a:ext cx="0" cy="20116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7040880" y="2385822"/>
            <a:ext cx="4023360" cy="351790"/>
          </a:xfrm>
          <a:prstGeom prst="roundRect">
            <a:avLst>
              <a:gd name="adj" fmla="val 10397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 before anything sends</a:t>
            </a:r>
            <a:endParaRPr lang="en-US" sz="8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(we monitor edit rate, not model accuracy)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9052560" y="2737612"/>
            <a:ext cx="0" cy="29260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8183880" y="30302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(~65%)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 flipH="1">
            <a:off x="790956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355080" y="29140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446520" y="31334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AI-drafted, handler approved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992124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0195560" y="29140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10195560" y="31334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 runs alongside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6400800" y="4081780"/>
            <a:ext cx="5303520" cy="9144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37960" y="4081780"/>
            <a:ext cx="5029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result:  </a:t>
            </a:r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entry channels → 1 · 3 sequential gates → 1 parallel check · the Coverage Check handoff disappears, it runs on the same state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where a mistake is cheap. That is what earns the trust the bigger wins need.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“Hard” means build effort and regulatory exposure together, not just weeks of work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 rot="16200000">
            <a:off x="18288" y="30723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OFTEN IT FIRES  →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557784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HARD AND HOW RISKY IT IS  →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51560" y="914400"/>
            <a:ext cx="5212080" cy="2286000"/>
          </a:xfrm>
          <a:prstGeom prst="rect">
            <a:avLst/>
          </a:prstGeom>
          <a:solidFill>
            <a:srgbClr val="FDF3E3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6070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START HERE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29844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every claim, makes no decision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627632"/>
            <a:ext cx="47548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162763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+ Classification Agents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fields, claim type, confidence score, every claim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1280160" y="2322576"/>
            <a:ext cx="47548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322576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+ Coverage Check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only: CPR, policy, dates, a failed import is caught automatically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6263640" y="914400"/>
            <a:ext cx="5212080" cy="2286000"/>
          </a:xfrm>
          <a:prstGeom prst="rect">
            <a:avLst/>
          </a:prstGeom>
          <a:solidFill>
            <a:srgbClr val="E4F4F8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106070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— ONCE TRUSTED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129844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prize, but needs the audit trail live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492240" y="1627632"/>
            <a:ext cx="47548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29400" y="162763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~65% of claims, writes the close-out letter, a handler still approves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492240" y="2322576"/>
            <a:ext cx="47548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2322576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 on the ~20% flagged, gathers evidence for a person to decide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1051560" y="3200400"/>
            <a:ext cx="5212080" cy="2286000"/>
          </a:xfrm>
          <a:prstGeom prst="rect">
            <a:avLst/>
          </a:prstGeom>
          <a:solidFill>
            <a:srgbClr val="EDECF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334670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 THE PATTERN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58444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rarer, but the same shape works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280160" y="3913632"/>
            <a:ext cx="47548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391363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Underwriting decision support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prepares the evidence only: self-employed, group/branch, name mismatch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263640" y="3200400"/>
            <a:ext cx="5212080" cy="2286000"/>
          </a:xfrm>
          <a:prstGeom prst="rect">
            <a:avLst/>
          </a:prstGeom>
          <a:solidFill>
            <a:srgbClr val="FBE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46520" y="334670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MANUAL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358444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rare to earn the effort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92240" y="3913632"/>
            <a:ext cx="47548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29400" y="3913632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"Violence cover" entitlement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claims so far (GGW) · a checklist beats a model</a:t>
            </a:r>
            <a:endParaRPr lang="en-US" sz="920" dirty="0"/>
          </a:p>
        </p:txBody>
      </p:sp>
      <p:sp>
        <p:nvSpPr>
          <p:cNvPr id="31" name="Text 29"/>
          <p:cNvSpPr txBox="1"/>
          <p:nvPr/>
        </p:nvSpPr>
        <p:spPr>
          <a:xfrm>
            <a:off x="365760" y="603504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rulings and underwriting authority are deliberately absent. Those decisions are not ours to make.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Deployed on the cloud GGW already run, and released in three gated steps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&amp; ROLLOUT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640080"/>
            <a:ext cx="1723644" cy="475488"/>
          </a:xfrm>
          <a:prstGeom prst="roundRect">
            <a:avLst>
              <a:gd name="adj" fmla="val 9615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38912" y="640080"/>
            <a:ext cx="15773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 park, nothing is lost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308860" y="640080"/>
            <a:ext cx="9185148" cy="475488"/>
          </a:xfrm>
          <a:prstGeom prst="roundRect">
            <a:avLst>
              <a:gd name="adj" fmla="val 9615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08860" y="640080"/>
            <a:ext cx="91851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 ·  graph checkpoint and audit log in one place: every decision, its inputs, its confidence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14081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5760" y="1682496"/>
            <a:ext cx="897706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2336" y="1682496"/>
            <a:ext cx="824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1409770" y="1682496"/>
            <a:ext cx="1020353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446346" y="1682496"/>
            <a:ext cx="9472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2576428" y="1682496"/>
            <a:ext cx="95903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13004" y="1682496"/>
            <a:ext cx="885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3681761" y="1682496"/>
            <a:ext cx="1081677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18337" y="1682496"/>
            <a:ext cx="10085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4909742" y="1682496"/>
            <a:ext cx="114300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946318" y="1682496"/>
            <a:ext cx="1069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6199046" y="1682496"/>
            <a:ext cx="132697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5622" y="1682496"/>
            <a:ext cx="125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Apps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7672320" y="1682496"/>
            <a:ext cx="1449617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08896" y="1682496"/>
            <a:ext cx="137646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Blob + Key Vault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9268241" y="1682496"/>
            <a:ext cx="1204323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04817" y="1682496"/>
            <a:ext cx="11311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OpenAI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10618869" y="1682496"/>
            <a:ext cx="1204323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655445" y="1682496"/>
            <a:ext cx="11311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DevOps</a:t>
            </a:r>
            <a:endParaRPr lang="en-US" sz="86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268833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MODEL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65760" y="2962656"/>
            <a:ext cx="3440811" cy="420624"/>
          </a:xfrm>
          <a:prstGeom prst="roundRect">
            <a:avLst>
              <a:gd name="adj" fmla="val 10870"/>
            </a:avLst>
          </a:prstGeom>
          <a:solidFill>
            <a:srgbClr val="E3EDF6"/>
          </a:solidFill>
          <a:ln w="15240">
            <a:solidFill>
              <a:srgbClr val="3B6FA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3776" y="2962656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920" dirty="0"/>
          </a:p>
        </p:txBody>
      </p:sp>
      <p:sp>
        <p:nvSpPr>
          <p:cNvPr id="30" name="Text 28"/>
          <p:cNvSpPr txBox="1"/>
          <p:nvPr/>
        </p:nvSpPr>
        <p:spPr>
          <a:xfrm>
            <a:off x="1609344" y="2962656"/>
            <a:ext cx="210578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draft, classify, extract, but never decide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989451" y="2962656"/>
            <a:ext cx="4028955" cy="420624"/>
          </a:xfrm>
          <a:prstGeom prst="roundRect">
            <a:avLst>
              <a:gd name="adj" fmla="val 10870"/>
            </a:avLst>
          </a:prstGeom>
          <a:solidFill>
            <a:srgbClr val="ECEFF3"/>
          </a:solidFill>
          <a:ln w="15240">
            <a:solidFill>
              <a:srgbClr val="6B778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117467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Rules, no model</a:t>
            </a:r>
            <a:endParaRPr lang="en-US" sz="920" dirty="0"/>
          </a:p>
        </p:txBody>
      </p:sp>
      <p:sp>
        <p:nvSpPr>
          <p:cNvPr id="33" name="Text 31"/>
          <p:cNvSpPr txBox="1"/>
          <p:nvPr/>
        </p:nvSpPr>
        <p:spPr>
          <a:xfrm>
            <a:off x="5726811" y="2962656"/>
            <a:ext cx="22001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record: pass or fail, nothing in between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8201286" y="2962656"/>
            <a:ext cx="3621906" cy="420624"/>
          </a:xfrm>
          <a:prstGeom prst="roundRect">
            <a:avLst>
              <a:gd name="adj" fmla="val 10870"/>
            </a:avLst>
          </a:prstGeom>
          <a:solidFill>
            <a:srgbClr val="F1E6ED"/>
          </a:solidFill>
          <a:ln w="15240">
            <a:solidFill>
              <a:srgbClr val="7A4A6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29302" y="2962656"/>
            <a:ext cx="978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</a:t>
            </a:r>
            <a:endParaRPr lang="en-US" sz="920" dirty="0"/>
          </a:p>
        </p:txBody>
      </p:sp>
      <p:sp>
        <p:nvSpPr>
          <p:cNvPr id="36" name="Text 34"/>
          <p:cNvSpPr txBox="1"/>
          <p:nvPr/>
        </p:nvSpPr>
        <p:spPr>
          <a:xfrm>
            <a:off x="9362574" y="2962656"/>
            <a:ext cx="23691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approves before anything can go against a claimant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365760" y="36393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GOES LIVE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65760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1–8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512064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live claims. Nobody sees the output.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512064" y="4480560"/>
            <a:ext cx="2407158" cy="914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12064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extraction agrees with the handler on 95% of fields.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3092958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284982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4F4F8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9–16</a:t>
            </a:r>
            <a:endParaRPr lang="en-US" sz="780" dirty="0"/>
          </a:p>
        </p:txBody>
      </p:sp>
      <p:sp>
        <p:nvSpPr>
          <p:cNvPr id="48" name="Text 46"/>
          <p:cNvSpPr txBox="1"/>
          <p:nvPr/>
        </p:nvSpPr>
        <p:spPr>
          <a:xfrm>
            <a:off x="3431286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handler must edit or approve. Nothing sends itself.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3431286" y="4480560"/>
            <a:ext cx="2407158" cy="914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431286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edit rate on minor claims settles below 20%.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6012180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6204204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DECFB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5–6</a:t>
            </a:r>
            <a:endParaRPr lang="en-US" sz="780" dirty="0"/>
          </a:p>
        </p:txBody>
      </p:sp>
      <p:sp>
        <p:nvSpPr>
          <p:cNvPr id="55" name="Text 53"/>
          <p:cNvSpPr txBox="1"/>
          <p:nvPr/>
        </p:nvSpPr>
        <p:spPr>
          <a:xfrm>
            <a:off x="6350508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Minor claims pre-filled. One click accepts.</a:t>
            </a:r>
            <a:endParaRPr lang="en-US" sz="820" dirty="0"/>
          </a:p>
        </p:txBody>
      </p:sp>
      <p:sp>
        <p:nvSpPr>
          <p:cNvPr id="56" name="Shape 54"/>
          <p:cNvSpPr/>
          <p:nvPr/>
        </p:nvSpPr>
        <p:spPr>
          <a:xfrm>
            <a:off x="6350508" y="4480560"/>
            <a:ext cx="2407158" cy="9144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50508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criteria reviewed monthly with the claims lead.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8931402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9123426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design</a:t>
            </a:r>
            <a:endParaRPr lang="en-US" sz="780" dirty="0"/>
          </a:p>
        </p:txBody>
      </p:sp>
      <p:sp>
        <p:nvSpPr>
          <p:cNvPr id="62" name="Text 60"/>
          <p:cNvSpPr txBox="1"/>
          <p:nvPr/>
        </p:nvSpPr>
        <p:spPr>
          <a:xfrm>
            <a:off x="9269730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adverse to a claimant is ever automatic.</a:t>
            </a:r>
            <a:endParaRPr lang="en-US" sz="820" dirty="0"/>
          </a:p>
        </p:txBody>
      </p:sp>
      <p:sp>
        <p:nvSpPr>
          <p:cNvPr id="63" name="Shape 61"/>
          <p:cNvSpPr/>
          <p:nvPr/>
        </p:nvSpPr>
        <p:spPr>
          <a:xfrm>
            <a:off x="9269730" y="4480560"/>
            <a:ext cx="2407158" cy="9144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9269730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boundary, not a phase.</a:t>
            </a:r>
            <a:endParaRPr lang="en-US" sz="720" dirty="0"/>
          </a:p>
        </p:txBody>
      </p:sp>
      <p:sp>
        <p:nvSpPr>
          <p:cNvPr id="65" name="Text 63"/>
          <p:cNvSpPr txBox="1"/>
          <p:nvPr/>
        </p:nvSpPr>
        <p:spPr>
          <a:xfrm>
            <a:off x="365760" y="484632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an agent fails or is unsure, the claim falls back to today's manual queue. Slower, never wrong.</a:t>
            </a:r>
            <a:endParaRPr lang="en-US" sz="740" dirty="0"/>
          </a:p>
        </p:txBody>
      </p:sp>
      <p:sp>
        <p:nvSpPr>
          <p:cNvPr id="66" name="Text 64"/>
          <p:cNvSpPr txBox="1"/>
          <p:nvPr/>
        </p:nvSpPr>
        <p:spPr>
          <a:xfrm>
            <a:off x="365760" y="51389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GRAPH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365760" y="5358384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65760" y="53583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960120" y="5358384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3EDF6"/>
          </a:solidFill>
          <a:ln w="13970">
            <a:solidFill>
              <a:srgbClr val="3B6FA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60120" y="535838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</a:t>
            </a:r>
            <a:endParaRPr lang="en-US" sz="760" dirty="0"/>
          </a:p>
        </p:txBody>
      </p:sp>
      <p:sp>
        <p:nvSpPr>
          <p:cNvPr id="71" name="Shape 69"/>
          <p:cNvSpPr/>
          <p:nvPr/>
        </p:nvSpPr>
        <p:spPr>
          <a:xfrm>
            <a:off x="2148840" y="5358384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E3EDF6"/>
          </a:solidFill>
          <a:ln w="13970">
            <a:solidFill>
              <a:srgbClr val="3B6FA0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2148840" y="535838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classify</a:t>
            </a:r>
            <a:endParaRPr lang="en-US" sz="760" dirty="0"/>
          </a:p>
        </p:txBody>
      </p:sp>
      <p:sp>
        <p:nvSpPr>
          <p:cNvPr id="73" name="Shape 71"/>
          <p:cNvSpPr/>
          <p:nvPr/>
        </p:nvSpPr>
        <p:spPr>
          <a:xfrm>
            <a:off x="3429000" y="5358384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ECEFF3"/>
          </a:solidFill>
          <a:ln w="13970">
            <a:solidFill>
              <a:srgbClr val="6B7787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3429000" y="535838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2A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</a:t>
            </a:r>
            <a:endParaRPr lang="en-US" sz="760" dirty="0"/>
          </a:p>
        </p:txBody>
      </p:sp>
      <p:sp>
        <p:nvSpPr>
          <p:cNvPr id="75" name="Shape 73"/>
          <p:cNvSpPr/>
          <p:nvPr/>
        </p:nvSpPr>
        <p:spPr>
          <a:xfrm>
            <a:off x="4617720" y="5358384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ECEFF3"/>
          </a:solidFill>
          <a:ln w="13970">
            <a:solidFill>
              <a:srgbClr val="6B7787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4617720" y="535838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2A33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coverage_check</a:t>
            </a:r>
            <a:endParaRPr lang="en-US" sz="760" dirty="0"/>
          </a:p>
        </p:txBody>
      </p:sp>
      <p:sp>
        <p:nvSpPr>
          <p:cNvPr id="77" name="Shape 75"/>
          <p:cNvSpPr/>
          <p:nvPr/>
        </p:nvSpPr>
        <p:spPr>
          <a:xfrm>
            <a:off x="6172200" y="5358384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E3EDF6"/>
          </a:solidFill>
          <a:ln w="13970">
            <a:solidFill>
              <a:srgbClr val="3B6FA0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172200" y="53583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B24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</a:t>
            </a:r>
            <a:endParaRPr lang="en-US" sz="760" dirty="0"/>
          </a:p>
        </p:txBody>
      </p:sp>
      <p:sp>
        <p:nvSpPr>
          <p:cNvPr id="79" name="Shape 77"/>
          <p:cNvSpPr/>
          <p:nvPr/>
        </p:nvSpPr>
        <p:spPr>
          <a:xfrm>
            <a:off x="7223760" y="5358384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1E6ED"/>
          </a:solidFill>
          <a:ln w="13970">
            <a:solidFill>
              <a:srgbClr val="7A4A66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7223760" y="535838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4A2C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8458200" y="5358384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8458200" y="53583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</a:t>
            </a:r>
            <a:endParaRPr lang="en-US" sz="700" dirty="0"/>
          </a:p>
        </p:txBody>
      </p:sp>
      <p:sp>
        <p:nvSpPr>
          <p:cNvPr id="83" name="Shape 81"/>
          <p:cNvSpPr/>
          <p:nvPr/>
        </p:nvSpPr>
        <p:spPr>
          <a:xfrm>
            <a:off x="82296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201168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5" name="Shape 83"/>
          <p:cNvSpPr/>
          <p:nvPr/>
        </p:nvSpPr>
        <p:spPr>
          <a:xfrm>
            <a:off x="329184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6" name="Shape 84"/>
          <p:cNvSpPr/>
          <p:nvPr/>
        </p:nvSpPr>
        <p:spPr>
          <a:xfrm>
            <a:off x="448056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>
            <a:off x="603504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08660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89" name="Shape 87"/>
          <p:cNvSpPr/>
          <p:nvPr/>
        </p:nvSpPr>
        <p:spPr>
          <a:xfrm>
            <a:off x="8321040" y="5513832"/>
            <a:ext cx="13716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3817620" y="581558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CEFD6"/>
          </a:solidFill>
          <a:ln w="13970">
            <a:solidFill>
              <a:srgbClr val="EF9F27"/>
            </a:solidFill>
            <a:prstDash val="dash"/>
          </a:ln>
        </p:spPr>
      </p:sp>
      <p:sp>
        <p:nvSpPr>
          <p:cNvPr id="91" name="Text 89"/>
          <p:cNvSpPr txBox="1"/>
          <p:nvPr/>
        </p:nvSpPr>
        <p:spPr>
          <a:xfrm>
            <a:off x="3817620" y="581558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6B4A1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exception_research</a:t>
            </a:r>
            <a:endParaRPr lang="en-US" sz="760" dirty="0"/>
          </a:p>
        </p:txBody>
      </p:sp>
      <p:sp>
        <p:nvSpPr>
          <p:cNvPr id="92" name="Shape 90"/>
          <p:cNvSpPr/>
          <p:nvPr/>
        </p:nvSpPr>
        <p:spPr>
          <a:xfrm>
            <a:off x="3954780" y="5669280"/>
            <a:ext cx="662940" cy="146304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93" name="Shape 91"/>
          <p:cNvSpPr/>
          <p:nvPr/>
        </p:nvSpPr>
        <p:spPr>
          <a:xfrm flipV="1">
            <a:off x="5417820" y="5669280"/>
            <a:ext cx="1211580" cy="301752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94" name="Text 92"/>
          <p:cNvSpPr txBox="1"/>
          <p:nvPr/>
        </p:nvSpPr>
        <p:spPr>
          <a:xfrm>
            <a:off x="3451860" y="579729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</a:t>
            </a:r>
            <a:endParaRPr lang="en-US" sz="700" dirty="0"/>
          </a:p>
        </p:txBody>
      </p:sp>
      <p:sp>
        <p:nvSpPr>
          <p:cNvPr id="95" name="Text 93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6" name="Text 94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minute is observed, and the redesign pays for itself in 13 months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146304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HOW THE NUMBERS ARE BUILT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TIME PER CLAIM, PER HANDLER (MINUTES)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41248"/>
          <a:ext cx="5650992" cy="914400"/>
        </p:xfrm>
        <a:graphic>
          <a:graphicData uri="http://schemas.openxmlformats.org/drawingml/2006/table">
            <a:tbl>
              <a:tblPr/>
              <a:tblGrid>
                <a:gridCol w="3639312"/>
                <a:gridCol w="100584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&amp; extract the report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policy, CPR &amp; escalations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Decide, draft and send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between systems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Touch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+30% breaks &amp; interruptions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we bank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39319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bank 19 min, not the 10.1 the design allows: the business case runs on a three-point estimate of best, likely and worst case.</a:t>
            </a:r>
            <a:endParaRPr lang="en-US" sz="86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4224528"/>
            <a:ext cx="5650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Basis: a 6-hour day holds capacity for 9 claims at 40 min each, ~19 claims at 19 min each. A ceiling, not the 52 minutes freed above. Confirmed by GGW (8 Sep 2026).</a:t>
            </a:r>
            <a:endParaRPr lang="en-US" sz="86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THE BUSINESS CASE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72200" y="841248"/>
            <a:ext cx="5650992" cy="3072384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5080" y="969264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YEAR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6355080" y="12801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released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9921240" y="128016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 · 2.9 FTE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6355080" y="1591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Worth, at €36.98 per handler-hour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159105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€161,600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355080" y="1901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 it — AI models and Azure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9921240" y="190195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€2,400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2212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support — 0.25 of an engineer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9921240" y="221284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€24,400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25237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value, every year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9921240" y="2523744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€134,800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355080" y="2834640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ONE-OFF</a:t>
            </a:r>
            <a:endParaRPr lang="en-US" sz="84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31455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— 3 people × 6 months, fully loaded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9921240" y="314553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€146,400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34564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9921240" y="345643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months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172200" y="4096512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cost in full: ≈ €0.08/claim in AI tokens + ≈ $134/month in Azure → €2,400/year, all in.</a:t>
            </a:r>
            <a:endParaRPr lang="en-US" sz="860" dirty="0"/>
          </a:p>
        </p:txBody>
      </p:sp>
      <p:sp>
        <p:nvSpPr>
          <p:cNvPr id="27" name="Text 24"/>
          <p:cNvSpPr txBox="1"/>
          <p:nvPr/>
        </p:nvSpPr>
        <p:spPr>
          <a:xfrm>
            <a:off x="6172200" y="43891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is loaded team capacity, not new cash. The AI team is already funded.</a:t>
            </a:r>
            <a:endParaRPr lang="en-US" sz="860" dirty="0"/>
          </a:p>
        </p:txBody>
      </p:sp>
      <p:sp>
        <p:nvSpPr>
          <p:cNvPr id="28" name="Text 25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4630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is sourced, dated, or named as an assumption we'd test first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628632" y="1828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Who does intake — 20 claim handlers process claims; 10 support staff besides.  (GGW (P. Gossmann), 8 Sep 2026)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964692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Failed EASY imports — Not noticed today — so detection comes before retries.  (GGW (P. Gossmann), 8 Sep 2026)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1261872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Volumes and shares — ~50 first reports a day · 65% minor · ~30 in the team.  (GGW case study brief)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1575511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Wage base — Schadenregulierer/in, €45,100 gross — the role doing intake.  </a:t>
            </a:r>
            <a:endParaRPr lang="en-US" sz="1000" dirty="0"/>
          </a:p>
        </p:txBody>
      </p:sp>
      <p:sp>
        <p:nvSpPr>
          <p:cNvPr id="8" name="Text 6">
            <a:hlinkClick r:id="rId1" tooltip="StepStone"/>
          </p:cNvPr>
          <p:cNvSpPr txBox="1"/>
          <p:nvPr/>
        </p:nvSpPr>
        <p:spPr>
          <a:xfrm>
            <a:off x="9189720" y="1575511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StepSton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(StepStone)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1876349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Employer on-cost — ≈ €23 per €100 gross — health, pension, care.  </a:t>
            </a:r>
            <a:endParaRPr lang="en-US" sz="1000" dirty="0"/>
          </a:p>
        </p:txBody>
      </p:sp>
      <p:sp>
        <p:nvSpPr>
          <p:cNvPr id="10" name="Text 8">
            <a:hlinkClick r:id="rId2" tooltip="sevdesk"/>
          </p:cNvPr>
          <p:cNvSpPr txBox="1"/>
          <p:nvPr/>
        </p:nvSpPr>
        <p:spPr>
          <a:xfrm>
            <a:off x="9189720" y="1876349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sevdes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(sevdesk)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65760" y="2191817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Working time &amp; breaks — 38h tariff week; statutory break rules.  </a:t>
            </a:r>
            <a:endParaRPr lang="en-US" sz="1000" dirty="0"/>
          </a:p>
        </p:txBody>
      </p:sp>
      <p:sp>
        <p:nvSpPr>
          <p:cNvPr id="12" name="Text 10">
            <a:hlinkClick r:id="rId3" tooltip="Arbeitszeitgesetz §4"/>
          </p:cNvPr>
          <p:cNvSpPr txBox="1"/>
          <p:nvPr/>
        </p:nvSpPr>
        <p:spPr>
          <a:xfrm>
            <a:off x="9189720" y="2191817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Arbeitszeitgesetz §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(Arbeitszeitgesetz §4)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760" y="2489911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 Build &amp; upkeep pay — Senior ML engineer ≈ €98k; juniors ≈ €70k, as briefed.  </a:t>
            </a:r>
            <a:endParaRPr lang="en-US" sz="1000" dirty="0"/>
          </a:p>
        </p:txBody>
      </p:sp>
      <p:sp>
        <p:nvSpPr>
          <p:cNvPr id="14" name="Text 12">
            <a:hlinkClick r:id="rId4" tooltip="Glassdoor"/>
          </p:cNvPr>
          <p:cNvSpPr txBox="1"/>
          <p:nvPr/>
        </p:nvSpPr>
        <p:spPr>
          <a:xfrm>
            <a:off x="9189720" y="2489911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Glassdoo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(Glassdoor)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65760" y="280172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 Model prices — gpt-5.6 terra — $2 in / $12 out per million tokens.  </a:t>
            </a:r>
            <a:endParaRPr lang="en-US" sz="1000" dirty="0"/>
          </a:p>
        </p:txBody>
      </p:sp>
      <p:sp>
        <p:nvSpPr>
          <p:cNvPr id="16" name="Text 14">
            <a:hlinkClick r:id="rId5" tooltip="OpenAI"/>
          </p:cNvPr>
          <p:cNvSpPr txBox="1"/>
          <p:nvPr/>
        </p:nvSpPr>
        <p:spPr>
          <a:xfrm>
            <a:off x="9189720" y="2801722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OpenA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(OpenAI)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3097987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 Hosting &amp; database — Container Apps consumption rates; PostgreSQL B2s.  </a:t>
            </a:r>
            <a:endParaRPr lang="en-US" sz="1000" dirty="0"/>
          </a:p>
        </p:txBody>
      </p:sp>
      <p:sp>
        <p:nvSpPr>
          <p:cNvPr id="18" name="Text 16">
            <a:hlinkClick r:id="rId6" tooltip="Azure pricing"/>
          </p:cNvPr>
          <p:cNvSpPr txBox="1"/>
          <p:nvPr/>
        </p:nvSpPr>
        <p:spPr>
          <a:xfrm>
            <a:off x="9189720" y="3097987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Azure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(Azure pricing)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65760" y="3410712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 Upkeep after go-live — 15–20% of build effort a year, ours is 17%.  (Standard maintenance rule of thumb)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" y="3712464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 Industry baseline — 17 of 20 carriers still manual; none let AI decide alone.  </a:t>
            </a:r>
            <a:endParaRPr lang="en-US" sz="1000" dirty="0"/>
          </a:p>
        </p:txBody>
      </p:sp>
      <p:sp>
        <p:nvSpPr>
          <p:cNvPr id="21" name="Text 19">
            <a:hlinkClick r:id="rId7" tooltip="Decerto, 2026 Claims Decisioning Pulse"/>
          </p:cNvPr>
          <p:cNvSpPr txBox="1"/>
          <p:nvPr/>
        </p:nvSpPr>
        <p:spPr>
          <a:xfrm>
            <a:off x="9189720" y="3712464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Decerto, 2026 Claims Decisioning Puls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(Decerto, 2026 Claims Decisioning Pulse)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402701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 Where value comes from — The 10-20-70 split — algorithms, technology, people.  </a:t>
            </a:r>
            <a:endParaRPr lang="en-US" sz="1000" dirty="0"/>
          </a:p>
        </p:txBody>
      </p:sp>
      <p:sp>
        <p:nvSpPr>
          <p:cNvPr id="23" name="Text 21">
            <a:hlinkClick r:id="rId8" tooltip="BCG"/>
          </p:cNvPr>
          <p:cNvSpPr txBox="1"/>
          <p:nvPr/>
        </p:nvSpPr>
        <p:spPr>
          <a:xfrm>
            <a:off x="9189720" y="402701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C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(BCG)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65760" y="432602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 Fixing import failures — Retry vs. dead-letter, idempotency, alert on rate.  </a:t>
            </a:r>
            <a:endParaRPr lang="en-US" sz="1000" dirty="0"/>
          </a:p>
        </p:txBody>
      </p:sp>
      <p:sp>
        <p:nvSpPr>
          <p:cNvPr id="25" name="Text 23">
            <a:hlinkClick r:id="rId9" tooltip="Standard integration pattern"/>
          </p:cNvPr>
          <p:cNvSpPr txBox="1"/>
          <p:nvPr/>
        </p:nvSpPr>
        <p:spPr>
          <a:xfrm>
            <a:off x="9189720" y="4326026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Standard integration patter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(Standard integration pattern)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65760" y="4727448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assumptions, not sourced. The first thing we would test: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4983480"/>
            <a:ext cx="11457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per-step minute on slide 8 · the 30% allowance for breaks and interruptions · how often a CPR is missing (30%) or underwriting is asked (25%) · how often the redesign raises an exception (20%) · the tokens a typical claim needs · the €146k build · the 0.25 FTE upkeep. Two weeks of watching live intake would replace all of this with measurements.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365760" y="630936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checked September 2026 · US$ converted at €0.92 · every euro figure is fully loaded (gross pay plus employer contributions).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is a function, not an agent: three lookups in parallel, no model call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146304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IF ASKED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LangGraph node: typed state in, a partial state update out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6949440" cy="4160520"/>
          </a:xfrm>
          <a:prstGeom prst="roundRect">
            <a:avLst>
              <a:gd name="adj" fmla="val 1319"/>
            </a:avLst>
          </a:prstGeom>
          <a:solidFill>
            <a:srgbClr val="1E1E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170432"/>
            <a:ext cx="6547104" cy="3831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BaseModel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policy_id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incident_date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validation_failed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failure_reasons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validate_claim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check_cpr_policy_match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check_policy_in_force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check_duplicate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"validation_failed"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"failure_reasons"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reason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failed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add_node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"validate"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validate_claim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add_conditional_edges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"validate"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"exception_research"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validation_failed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"coverage_check"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543800" y="1005840"/>
            <a:ext cx="4279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NOT AN AGENT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543800" y="1380744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699248" y="1316736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prompt, no completion call: three pure lookups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the CPR/CVR register, policy admin, and IDB.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543800" y="1996440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99248" y="1932432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in milliseconds and costs nothing to run; same input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gives the same output.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543800" y="2612136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99248" y="2548128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Unit-tested like any other function, not evaluated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prompt.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543800" y="3227832"/>
            <a:ext cx="64008" cy="64008"/>
          </a:xfrm>
          <a:prstGeom prst="ellipse">
            <a:avLst/>
          </a:prstGeom>
          <a:solidFill>
            <a:srgbClr val="6B778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99248" y="3163824"/>
            <a:ext cx="4069080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Checkpointed in Postgres: a claim put on hold resumes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exactly where it left off.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543800" y="3977640"/>
            <a:ext cx="4279392" cy="1188720"/>
          </a:xfrm>
          <a:prstGeom prst="roundRect">
            <a:avLst>
              <a:gd name="adj" fmla="val 4615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08392" y="3977640"/>
            <a:ext cx="39502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failure path calls a model, Exception Research, and only for the ~20% of claims that need judgement. Everything deterministic stays deterministic.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5603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Extraction Agent: one call returns a typed schema, not free text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9966960" y="146304"/>
            <a:ext cx="1856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12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IF ASKED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2179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output: the schema is a Pydantic model, so a missing field is null, never a guess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11457432" cy="5074920"/>
          </a:xfrm>
          <a:prstGeom prst="roundRect">
            <a:avLst>
              <a:gd name="adj" fmla="val 1081"/>
            </a:avLst>
          </a:prstGeom>
          <a:solidFill>
            <a:srgbClr val="1E1E1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170432"/>
            <a:ext cx="11055096" cy="4745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ExtractedClaim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BaseModel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employer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incident_date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body_part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EXTRACTION_PROMPT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 the fields below. Use null for "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"anything not stated; never invent a value."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extract_claim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with_structured_output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ExtractedClaim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invoke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SystemMessage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EXTRACTION_PROMPT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HumanMessage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raw_report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"extracted"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"confidence"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add_node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extract_claim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add_edge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"extract"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"classify"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Coverage Check: the same rules-first pattern as Validation, reused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8778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brief's second workflow, redesigned the same way: one shared claim record, no separate hand-off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· IF ASKED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passes intake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(continued from FNOL)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period?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425196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no warning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confirmed,</a:t>
            </a:r>
            <a:endParaRPr lang="en-US" sz="78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proceed (usually quick)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3108960" y="278892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2240280" y="320040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coverage?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 flipH="1">
            <a:off x="1965960" y="352044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411480" y="31951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Self-employed · group/branch · name mismatch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414649"/>
            <a:ext cx="1463040" cy="211582"/>
          </a:xfrm>
          <a:prstGeom prst="roundRect">
            <a:avLst>
              <a:gd name="adj" fmla="val 1728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underwriting</a:t>
            </a:r>
            <a:endParaRPr lang="en-US" sz="760" dirty="0"/>
          </a:p>
        </p:txBody>
      </p:sp>
      <p:sp>
        <p:nvSpPr>
          <p:cNvPr id="19" name="Shape 17"/>
          <p:cNvSpPr/>
          <p:nvPr/>
        </p:nvSpPr>
        <p:spPr>
          <a:xfrm>
            <a:off x="3977640" y="352044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4251960" y="313677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follow-up policy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251960" y="335622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to</a:t>
            </a:r>
            <a:endParaRPr lang="en-US" sz="78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follow-up policy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3108960" y="384048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1005840" y="4251960"/>
            <a:ext cx="4206240" cy="348869"/>
          </a:xfrm>
          <a:prstGeom prst="roundRect">
            <a:avLst>
              <a:gd name="adj" fmla="val 10484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</a:t>
            </a:r>
            <a:endParaRPr lang="en-US" sz="8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with correct insurer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218688" y="398678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4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Wrong, expired, or none</a:t>
            </a:r>
            <a:endParaRPr lang="en-US" sz="74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" y="48920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Underwriting resolves the exception before the claim can proceed. Most are expected to clear once the underwriting area is mapped (GGW).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1417320"/>
            <a:ext cx="4937760" cy="477393"/>
          </a:xfrm>
          <a:prstGeom prst="roundRect">
            <a:avLst>
              <a:gd name="adj" fmla="val 7662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 Node (rules only)</a:t>
            </a:r>
            <a:endParaRPr lang="en-US" sz="8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in force · self-employed cover · employer/policy match</a:t>
            </a:r>
            <a:endParaRPr lang="en-US" sz="8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pattern as Validation, applied to coverage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9052560" y="1894713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8183880" y="2214753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921240" y="2534793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10195560" y="210293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10195560" y="2322386"/>
            <a:ext cx="1600200" cy="424815"/>
          </a:xfrm>
          <a:prstGeom prst="roundRect">
            <a:avLst>
              <a:gd name="adj" fmla="val 8610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4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confirmed, proceed</a:t>
            </a:r>
            <a:endParaRPr lang="en-US" sz="74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4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(policy reattached automatically)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 flipH="1">
            <a:off x="7909560" y="2534793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6355080" y="215112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no valid policy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446520" y="2370582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</a:t>
            </a:r>
            <a:endParaRPr lang="en-US" sz="78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with correct insurer</a:t>
            </a:r>
            <a:endParaRPr lang="en-US" sz="780" dirty="0"/>
          </a:p>
        </p:txBody>
      </p:sp>
      <p:sp>
        <p:nvSpPr>
          <p:cNvPr id="35" name="Shape 33"/>
          <p:cNvSpPr/>
          <p:nvPr/>
        </p:nvSpPr>
        <p:spPr>
          <a:xfrm>
            <a:off x="9052560" y="2854833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583680" y="3266313"/>
            <a:ext cx="4937760" cy="363474"/>
          </a:xfrm>
          <a:prstGeom prst="roundRect">
            <a:avLst>
              <a:gd name="adj" fmla="val 10063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Underwriting decides</a:t>
            </a:r>
            <a:endParaRPr lang="en-US" sz="9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 the evidence)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9162288" y="2927985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ambiguous: self-employed, group/branch, name mismatch</a:t>
            </a:r>
            <a:endParaRPr lang="en-US" sz="720" dirty="0"/>
          </a:p>
        </p:txBody>
      </p:sp>
      <p:sp>
        <p:nvSpPr>
          <p:cNvPr id="38" name="Text 36"/>
          <p:cNvSpPr txBox="1"/>
          <p:nvPr/>
        </p:nvSpPr>
        <p:spPr>
          <a:xfrm>
            <a:off x="6583680" y="3906393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shape as slide 4's Validation: one rules node resolves what it can, a person only sees what's genuinely ambiguous.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— Today vs. AI-Native, in three parts</dc:title>
  <dc:subject>PptxGenJS Presentation</dc:subject>
  <dc:creator>GGW Case Study</dc:creator>
  <cp:lastModifiedBy>GGW Case Study</cp:lastModifiedBy>
  <cp:revision>1</cp:revision>
  <dcterms:created xsi:type="dcterms:W3CDTF">2026-09-18T13:14:35Z</dcterms:created>
  <dcterms:modified xsi:type="dcterms:W3CDTF">2026-09-18T13:14:35Z</dcterms:modified>
</cp:coreProperties>
</file>