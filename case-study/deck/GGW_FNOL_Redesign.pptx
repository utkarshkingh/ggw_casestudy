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tepstone.de/gehalt/Schadenregulierer-in.html" TargetMode="External"/><Relationship Id="rId2" Type="http://schemas.openxmlformats.org/officeDocument/2006/relationships/hyperlink" Target="https://sevdesk.de/ratgeber/buchhaltung-finanzen/lohnbuchhaltung/lohnnebenkosten/" TargetMode="External"/><Relationship Id="rId3" Type="http://schemas.openxmlformats.org/officeDocument/2006/relationships/hyperlink" Target="https://www.gesetze-im-internet.de/arbzg/__4.html" TargetMode="External"/><Relationship Id="rId4" Type="http://schemas.openxmlformats.org/officeDocument/2006/relationships/hyperlink" Target="https://www.glassdoor.com/Salaries/germany-machine-learning-engineer-salary-SRCH_IL.0,7_IN96_KO8,33.htm" TargetMode="External"/><Relationship Id="rId5" Type="http://schemas.openxmlformats.org/officeDocument/2006/relationships/hyperlink" Target="https://openai.com/api/pricing/" TargetMode="External"/><Relationship Id="rId6" Type="http://schemas.openxmlformats.org/officeDocument/2006/relationships/hyperlink" Target="https://azure.microsoft.com/en-us/pricing/details/container-apps/" TargetMode="External"/><Relationship Id="rId7" Type="http://schemas.openxmlformats.org/officeDocument/2006/relationships/hyperlink" Target="https://www.decerto.com/us/post/ai-claims-decisioning-framework-2026-what-us-claims-leaders-told-us-about-how-decisions-actually-get-made" TargetMode="External"/><Relationship Id="rId8" Type="http://schemas.openxmlformats.org/officeDocument/2006/relationships/hyperlink" Target="https://www.bcg.com/publications/2024/transforming-customer-service-operations-with-genai" TargetMode="External"/><Relationship Id="rId9" Type="http://schemas.openxmlformats.org/officeDocument/2006/relationships/hyperlink" Target="https://www.glukhov.org/app-architecture/integration-patterns/dead-letter-queues/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0B3B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60704"/>
            <a:ext cx="12191695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778240" y="155448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60" kern="0" dirty="0">
                <a:solidFill>
                  <a:srgbClr val="7FB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Redesigning intake roughly doubles a claim handler's daily capacity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7607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claim drops from 40 to 19 minutes. Same 20 handlers, same shift: that's a capacity ceiling, not confirmed extra demand.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429000" cy="2487168"/>
          </a:xfrm>
          <a:prstGeom prst="roundRect">
            <a:avLst>
              <a:gd name="adj" fmla="val 2206"/>
            </a:avLst>
          </a:prstGeom>
          <a:solidFill>
            <a:srgbClr val="FDF3E3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63040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72821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claim costs one claim handler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112264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6B6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minutes per claim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58368" y="2752344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26974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Re-reads the report, opens attachments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58368" y="2985516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29306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Chases a missing CPR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58368" y="3218688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16382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EASY · IDB · e-mail · paper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58368" y="345186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3969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for breaks and interruptions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160520" y="1325880"/>
            <a:ext cx="3429000" cy="2487168"/>
          </a:xfrm>
          <a:prstGeom prst="roundRect">
            <a:avLst>
              <a:gd name="adj" fmla="val 2206"/>
            </a:avLst>
          </a:prstGeom>
          <a:solidFill>
            <a:srgbClr val="E4F4F8"/>
          </a:solidFill>
          <a:ln w="1397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61688" y="1463040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REDESIGNED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4361688" y="172821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4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and every exit kept, run in a new order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361688" y="2112264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pPr indent="0" marL="0">
              <a:buNone/>
            </a:pPr>
            <a:r>
              <a:rPr lang="en-US" sz="1200" dirty="0">
                <a:solidFill>
                  <a:srgbClr val="5A6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minutes per claim</a:t>
            </a:r>
            <a:endParaRPr lang="en-US" sz="4200" dirty="0"/>
          </a:p>
        </p:txBody>
      </p:sp>
      <p:sp>
        <p:nvSpPr>
          <p:cNvPr id="23" name="Shape 21"/>
          <p:cNvSpPr/>
          <p:nvPr/>
        </p:nvSpPr>
        <p:spPr>
          <a:xfrm>
            <a:off x="4361688" y="2752344"/>
            <a:ext cx="54864" cy="5486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07992" y="269748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minutes back on every claim (a 52% cut)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361688" y="2985516"/>
            <a:ext cx="54864" cy="5486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29306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 agents, 1 rules-only step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361688" y="3218688"/>
            <a:ext cx="54864" cy="5486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07992" y="316382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human checkpoints kept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4361688" y="3451860"/>
            <a:ext cx="54864" cy="5486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07992" y="33969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 re-check before they trust it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863840" y="1325880"/>
            <a:ext cx="3867912" cy="2487168"/>
          </a:xfrm>
          <a:prstGeom prst="roundRect">
            <a:avLst>
              <a:gd name="adj" fmla="val 2206"/>
            </a:avLst>
          </a:prstGeom>
          <a:solidFill>
            <a:srgbClr val="EDECFB"/>
          </a:solidFill>
          <a:ln w="13970">
            <a:solidFill>
              <a:srgbClr val="4338C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65008" y="1463040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0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EFFORT ACTUALLY GOES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065008" y="1746504"/>
            <a:ext cx="50292" cy="53035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193024" y="17099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887968" y="170078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A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and machines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8887968" y="1911096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€0.08 a claim · €2,400 a year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065008" y="2350008"/>
            <a:ext cx="50292" cy="53035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93024" y="23134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8887968" y="2304288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A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 and audit trail</a:t>
            </a:r>
            <a:endParaRPr lang="en-US" sz="930" dirty="0"/>
          </a:p>
        </p:txBody>
      </p:sp>
      <p:sp>
        <p:nvSpPr>
          <p:cNvPr id="40" name="Text 38"/>
          <p:cNvSpPr txBox="1"/>
          <p:nvPr/>
        </p:nvSpPr>
        <p:spPr>
          <a:xfrm>
            <a:off x="8887968" y="2514600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EASY/IDB wiring, logging every decision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065008" y="2953512"/>
            <a:ext cx="50292" cy="53035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193024" y="2916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8887968" y="2907792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A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Process, training, trust</a:t>
            </a:r>
            <a:endParaRPr lang="en-US" sz="930" dirty="0"/>
          </a:p>
        </p:txBody>
      </p:sp>
      <p:sp>
        <p:nvSpPr>
          <p:cNvPr id="44" name="Text 42"/>
          <p:cNvSpPr txBox="1"/>
          <p:nvPr/>
        </p:nvSpPr>
        <p:spPr>
          <a:xfrm>
            <a:off x="8887968" y="3118104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4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is the real schedule risk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8065008" y="3557016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i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BCG's 10-20-70, tilted to plumbing: EASY and IDB are the constraint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457200" y="3968496"/>
            <a:ext cx="26270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792" y="4032504"/>
            <a:ext cx="22978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→ 19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621792" y="4416552"/>
            <a:ext cx="22978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claims/day capacity per handler, a 6-hour day (ceiling, not added demand)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3340303" y="3968496"/>
            <a:ext cx="26270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504895" y="4032504"/>
            <a:ext cx="22978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 h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3504895" y="4416552"/>
            <a:ext cx="22978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20 claim handlers, or 2.9 full-time people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6223406" y="3968496"/>
            <a:ext cx="26270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E185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87998" y="4032504"/>
            <a:ext cx="22978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E18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€162k a year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6387998" y="4416552"/>
            <a:ext cx="22978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4,370 freed handler-hours are worth, at €36.98 fully loaded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9106510" y="3968496"/>
            <a:ext cx="2627071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4338C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271102" y="4032504"/>
            <a:ext cx="22978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mths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9271102" y="4416552"/>
            <a:ext cx="22978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pay back the one-off build of €146k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457200" y="5047488"/>
            <a:ext cx="11274552" cy="585216"/>
          </a:xfrm>
          <a:prstGeom prst="roundRect">
            <a:avLst>
              <a:gd name="adj" fmla="val 9375"/>
            </a:avLst>
          </a:prstGeom>
          <a:solidFill>
            <a:srgbClr val="FBE9F1"/>
          </a:solidFill>
          <a:ln w="15240">
            <a:solidFill>
              <a:srgbClr val="BE185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58368" y="504748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 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A2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failed imports nobody sees today, then intake. A person approves every decision that can go against a claimant, at every stage.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stations share one claim record, so nothing is handed off or read twice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46304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AT A GLANCE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5120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6F8F7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466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trigger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65960" y="5120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3EDF6"/>
          </a:solidFill>
          <a:ln w="12700">
            <a:solidFill>
              <a:srgbClr val="3B6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67128" y="466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(LLM call)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60520" y="5120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CEFF3"/>
          </a:solidFill>
          <a:ln w="12700">
            <a:solidFill>
              <a:srgbClr val="6B77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1688" y="466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only, no model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37960" y="512064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F1E6ED"/>
          </a:solidFill>
          <a:ln w="12700">
            <a:solidFill>
              <a:srgbClr val="7A4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9128" y="4663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checkpoint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732520" y="576072"/>
            <a:ext cx="32004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098280" y="45720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path (~20% of claims)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859536"/>
            <a:ext cx="11457432" cy="1005840"/>
          </a:xfrm>
          <a:prstGeom prst="roundRect">
            <a:avLst>
              <a:gd name="adj" fmla="val 3636"/>
            </a:avLst>
          </a:prstGeom>
          <a:solidFill>
            <a:srgbClr val="F2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859536"/>
            <a:ext cx="54864" cy="1005840"/>
          </a:xfrm>
          <a:prstGeom prst="rect">
            <a:avLst/>
          </a:prstGeom>
          <a:solidFill>
            <a:srgbClr val="007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" y="914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07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993392"/>
            <a:ext cx="11457432" cy="1005840"/>
          </a:xfrm>
          <a:prstGeom prst="roundRect">
            <a:avLst>
              <a:gd name="adj" fmla="val 3636"/>
            </a:avLst>
          </a:prstGeom>
          <a:solidFill>
            <a:srgbClr val="F4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1993392"/>
            <a:ext cx="54864" cy="1005840"/>
          </a:xfrm>
          <a:prstGeom prst="rect">
            <a:avLst/>
          </a:prstGeom>
          <a:solidFill>
            <a:srgbClr val="6B778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40480" y="2048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— NO MODEL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11457432" cy="1005840"/>
          </a:xfrm>
          <a:prstGeom prst="roundRect">
            <a:avLst>
              <a:gd name="adj" fmla="val 3636"/>
            </a:avLst>
          </a:prstGeom>
          <a:solidFill>
            <a:srgbClr val="F1F5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127248"/>
            <a:ext cx="54864" cy="100584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" y="31821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4261104"/>
            <a:ext cx="11457432" cy="1005840"/>
          </a:xfrm>
          <a:prstGeom prst="roundRect">
            <a:avLst>
              <a:gd name="adj" fmla="val 3636"/>
            </a:avLst>
          </a:prstGeom>
          <a:solidFill>
            <a:srgbClr val="FAF3F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4261104"/>
            <a:ext cx="54864" cy="1005840"/>
          </a:xfrm>
          <a:prstGeom prst="rect">
            <a:avLst/>
          </a:prstGeom>
          <a:solidFill>
            <a:srgbClr val="7A4A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2064" y="43159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7A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DECIDES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1170432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E6F8F7"/>
          </a:solidFill>
          <a:ln w="17780">
            <a:solidFill>
              <a:srgbClr val="007A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912" y="1243584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00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arrives</a:t>
            </a:r>
            <a:endParaRPr lang="en-US" sz="960" dirty="0"/>
          </a:p>
        </p:txBody>
      </p:sp>
      <p:sp>
        <p:nvSpPr>
          <p:cNvPr id="28" name="Text 26"/>
          <p:cNvSpPr txBox="1"/>
          <p:nvPr/>
        </p:nvSpPr>
        <p:spPr>
          <a:xfrm>
            <a:off x="438912" y="1499616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· AES mail · e-mail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2308860" y="3438144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E3EDF6"/>
          </a:solidFill>
          <a:ln w="17780">
            <a:solidFill>
              <a:srgbClr val="3B6FA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82012" y="351129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Agent</a:t>
            </a:r>
            <a:endParaRPr lang="en-US" sz="960" dirty="0"/>
          </a:p>
        </p:txBody>
      </p:sp>
      <p:sp>
        <p:nvSpPr>
          <p:cNvPr id="31" name="Text 29"/>
          <p:cNvSpPr txBox="1"/>
          <p:nvPr/>
        </p:nvSpPr>
        <p:spPr>
          <a:xfrm>
            <a:off x="2382012" y="3767328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format → structured fields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4251960" y="3438144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E3EDF6"/>
          </a:solidFill>
          <a:ln w="17780">
            <a:solidFill>
              <a:srgbClr val="3B6F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25112" y="351129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Agent</a:t>
            </a:r>
            <a:endParaRPr lang="en-US" sz="960" dirty="0"/>
          </a:p>
        </p:txBody>
      </p:sp>
      <p:sp>
        <p:nvSpPr>
          <p:cNvPr id="34" name="Text 32"/>
          <p:cNvSpPr txBox="1"/>
          <p:nvPr/>
        </p:nvSpPr>
        <p:spPr>
          <a:xfrm>
            <a:off x="4325112" y="3767328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type + confidence score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6195060" y="2304288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ECEFF3"/>
          </a:solidFill>
          <a:ln w="17780">
            <a:solidFill>
              <a:srgbClr val="6B778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8212" y="237744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6268212" y="2633472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 · policy · duplicates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6195060" y="3438144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FCEFD6"/>
          </a:solidFill>
          <a:ln w="13970">
            <a:solidFill>
              <a:srgbClr val="EF9F27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268212" y="351129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Research</a:t>
            </a:r>
            <a:endParaRPr lang="en-US" sz="960" dirty="0"/>
          </a:p>
        </p:txBody>
      </p:sp>
      <p:sp>
        <p:nvSpPr>
          <p:cNvPr id="40" name="Text 38"/>
          <p:cNvSpPr txBox="1"/>
          <p:nvPr/>
        </p:nvSpPr>
        <p:spPr>
          <a:xfrm>
            <a:off x="6268212" y="3767328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evidence · ~20% of claims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8138160" y="2304288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ECEFF3"/>
          </a:solidFill>
          <a:ln w="17780">
            <a:solidFill>
              <a:srgbClr val="6B778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11312" y="237744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Check</a:t>
            </a:r>
            <a:endParaRPr lang="en-US" sz="960" dirty="0"/>
          </a:p>
        </p:txBody>
      </p:sp>
      <p:sp>
        <p:nvSpPr>
          <p:cNvPr id="43" name="Text 41"/>
          <p:cNvSpPr txBox="1"/>
          <p:nvPr/>
        </p:nvSpPr>
        <p:spPr>
          <a:xfrm>
            <a:off x="8211312" y="2633472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cover, dates, sums · same record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8138160" y="3438144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E3EDF6"/>
          </a:solidFill>
          <a:ln w="17780">
            <a:solidFill>
              <a:srgbClr val="3B6FA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11312" y="3511296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Agent</a:t>
            </a:r>
            <a:endParaRPr lang="en-US" sz="960" dirty="0"/>
          </a:p>
        </p:txBody>
      </p:sp>
      <p:sp>
        <p:nvSpPr>
          <p:cNvPr id="46" name="Text 44"/>
          <p:cNvSpPr txBox="1"/>
          <p:nvPr/>
        </p:nvSpPr>
        <p:spPr>
          <a:xfrm>
            <a:off x="8211312" y="3767328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letter, cites its reasoning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10081260" y="4572000"/>
            <a:ext cx="1723644" cy="621792"/>
          </a:xfrm>
          <a:prstGeom prst="roundRect">
            <a:avLst>
              <a:gd name="adj" fmla="val 8824"/>
            </a:avLst>
          </a:prstGeom>
          <a:solidFill>
            <a:srgbClr val="F1E6ED"/>
          </a:solidFill>
          <a:ln w="17780">
            <a:solidFill>
              <a:srgbClr val="7A4A6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54412" y="4645152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approves</a:t>
            </a:r>
            <a:endParaRPr lang="en-US" sz="960" dirty="0"/>
          </a:p>
        </p:txBody>
      </p:sp>
      <p:sp>
        <p:nvSpPr>
          <p:cNvPr id="49" name="Text 47"/>
          <p:cNvSpPr txBox="1"/>
          <p:nvPr/>
        </p:nvSpPr>
        <p:spPr>
          <a:xfrm>
            <a:off x="10154412" y="4901184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anything sends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411480" y="1216152"/>
            <a:ext cx="164592" cy="164592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11480" y="12161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2354580" y="3483864"/>
            <a:ext cx="164592" cy="164592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354580" y="3483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4297680" y="3483864"/>
            <a:ext cx="164592" cy="164592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297680" y="3483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6240780" y="2350008"/>
            <a:ext cx="164592" cy="164592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240780" y="23500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8183880" y="2350008"/>
            <a:ext cx="164592" cy="164592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183880" y="23500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8183880" y="3483864"/>
            <a:ext cx="164592" cy="164592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183880" y="3483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10126980" y="4617720"/>
            <a:ext cx="164592" cy="164592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126980" y="46177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1227582" y="1792224"/>
            <a:ext cx="1943100" cy="164592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4032504" y="3749040"/>
            <a:ext cx="219456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5113782" y="2926080"/>
            <a:ext cx="1943100" cy="512064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7918704" y="2615184"/>
            <a:ext cx="219456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8999982" y="2926080"/>
            <a:ext cx="0" cy="512064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056882" y="2926080"/>
            <a:ext cx="0" cy="512064"/>
          </a:xfrm>
          <a:prstGeom prst="line">
            <a:avLst/>
          </a:prstGeom>
          <a:noFill/>
          <a:ln w="12700">
            <a:solidFill>
              <a:srgbClr val="5B7D80"/>
            </a:solidFill>
            <a:prstDash val="dash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918704" y="3749040"/>
            <a:ext cx="219456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dash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8999982" y="4059936"/>
            <a:ext cx="1943100" cy="512064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365760" y="5449824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i="1" dirty="0">
                <a:solidFill>
                  <a:srgbClr val="2A2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drafts. Rules check. A person decides anything that can go against a claimant.</a:t>
            </a:r>
            <a:endParaRPr lang="en-US" sz="860" dirty="0"/>
          </a:p>
        </p:txBody>
      </p:sp>
      <p:sp>
        <p:nvSpPr>
          <p:cNvPr id="73" name="Text 71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in and a separate side-track diagram become one classified intake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0233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on the left, the redesign on the right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14630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FNOL REDESIGN · 1 OF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6F8F7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67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/ start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91640" y="71323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B7D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92808" y="667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/ decision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063240" y="71323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FCEFD6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4408" y="667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/ rework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92040" y="71323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DF7DB"/>
          </a:solidFill>
          <a:ln w="12700">
            <a:solidFill>
              <a:srgbClr val="6FA0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93208" y="667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09360" y="71323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3EDF6"/>
          </a:solidFill>
          <a:ln w="12700">
            <a:solidFill>
              <a:srgbClr val="3B6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667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(LLM call)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92440" y="71323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ECEFF3"/>
          </a:solidFill>
          <a:ln w="12700">
            <a:solidFill>
              <a:srgbClr val="6B778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667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only, no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921240" y="713232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F1E6ED"/>
          </a:solidFill>
          <a:ln w="12700">
            <a:solidFill>
              <a:srgbClr val="7A4A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22408" y="6675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checkpoint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62472" y="1024128"/>
            <a:ext cx="0" cy="544068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 </a:t>
            </a:r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claim record, one audit trail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1417320"/>
            <a:ext cx="4206240" cy="378079"/>
          </a:xfrm>
          <a:prstGeom prst="roundRect">
            <a:avLst>
              <a:gd name="adj" fmla="val 9674"/>
            </a:avLst>
          </a:prstGeom>
          <a:solidFill>
            <a:srgbClr val="E6F8F7"/>
          </a:solidFill>
          <a:ln w="15875">
            <a:solidFill>
              <a:srgbClr val="007A8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report filed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(usually the employer)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08960" y="1783080"/>
            <a:ext cx="0" cy="36576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240280" y="214884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77640" y="246888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251960" y="203263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to AES, secure mail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2252091"/>
            <a:ext cx="1463040" cy="433578"/>
          </a:xfrm>
          <a:prstGeom prst="roundRect">
            <a:avLst>
              <a:gd name="adj" fmla="val 8436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 already gathered it;</a:t>
            </a:r>
            <a:endParaRPr lang="en-US" sz="7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 only re-checks coverage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 flipH="1">
            <a:off x="1965960" y="246888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11480" y="208521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Teeth/glasses: 'tooth' · email + invoices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2304669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track (not PD/LOEC)</a:t>
            </a:r>
            <a:endParaRPr lang="en-US" sz="7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1.1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3218688" y="2798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/ IDB auto-import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08960" y="2788920"/>
            <a:ext cx="0" cy="45720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240280" y="324612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Auto-import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flipH="1">
            <a:off x="1965960" y="356616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411480" y="323434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3453797"/>
            <a:ext cx="1463040" cy="224727"/>
          </a:xfrm>
          <a:prstGeom prst="roundRect">
            <a:avLst>
              <a:gd name="adj" fmla="val 16276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claim creation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65960" y="3678523"/>
            <a:ext cx="1143000" cy="481997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3218688" y="3913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08960" y="3886200"/>
            <a:ext cx="0" cy="41148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715000" y="2685669"/>
            <a:ext cx="0" cy="1593723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3108960" y="4279392"/>
            <a:ext cx="260604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1645920" y="4389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continues, part 2 · Data / Policy / Duplicate checks</a:t>
            </a:r>
            <a:endParaRPr lang="en-US" sz="830" dirty="0"/>
          </a:p>
        </p:txBody>
      </p:sp>
      <p:sp>
        <p:nvSpPr>
          <p:cNvPr id="45" name="Text 43"/>
          <p:cNvSpPr txBox="1"/>
          <p:nvPr/>
        </p:nvSpPr>
        <p:spPr>
          <a:xfrm>
            <a:off x="6583680" y="1417320"/>
            <a:ext cx="4937760" cy="239332"/>
          </a:xfrm>
          <a:prstGeom prst="roundRect">
            <a:avLst>
              <a:gd name="adj" fmla="val 15283"/>
            </a:avLst>
          </a:prstGeom>
          <a:solidFill>
            <a:srgbClr val="E6F8F7"/>
          </a:solidFill>
          <a:ln w="15875">
            <a:solidFill>
              <a:srgbClr val="007A8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arrives: EASY, AES secure mail, or email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052560" y="1783080"/>
            <a:ext cx="0" cy="36576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6583680" y="2148840"/>
            <a:ext cx="4937760" cy="392684"/>
          </a:xfrm>
          <a:prstGeom prst="roundRect">
            <a:avLst>
              <a:gd name="adj" fmla="val 9314"/>
            </a:avLst>
          </a:prstGeom>
          <a:solidFill>
            <a:srgbClr val="E3EDF6"/>
          </a:solidFill>
          <a:ln w="15875">
            <a:solidFill>
              <a:srgbClr val="3B6FA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Agent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format in, structured fields out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52560" y="2541524"/>
            <a:ext cx="0" cy="32004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6583680" y="2861564"/>
            <a:ext cx="4937760" cy="392684"/>
          </a:xfrm>
          <a:prstGeom prst="roundRect">
            <a:avLst>
              <a:gd name="adj" fmla="val 9314"/>
            </a:avLst>
          </a:prstGeom>
          <a:solidFill>
            <a:srgbClr val="E3EDF6"/>
          </a:solidFill>
          <a:ln w="15875">
            <a:solidFill>
              <a:srgbClr val="3B6FA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Agent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type + confidence score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52560" y="3254248"/>
            <a:ext cx="0" cy="32004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8183880" y="3574288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≥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threshold?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10058400" y="368401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strict, loosens with data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 flipH="1">
            <a:off x="7909560" y="3894328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355080" y="351066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3730117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back to today's manual queue</a:t>
            </a:r>
            <a:endParaRPr lang="en-US" sz="780" dirty="0"/>
          </a:p>
        </p:txBody>
      </p:sp>
      <p:sp>
        <p:nvSpPr>
          <p:cNvPr id="56" name="Text 54"/>
          <p:cNvSpPr txBox="1"/>
          <p:nvPr/>
        </p:nvSpPr>
        <p:spPr>
          <a:xfrm>
            <a:off x="9162288" y="4241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052560" y="4214368"/>
            <a:ext cx="0" cy="41148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7589520" y="4699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continues, part 2 · Parallel Validation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6400800" y="4991608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7F7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37960" y="4991608"/>
            <a:ext cx="5029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agents replace 3 entry channels, the auto-import failure path, and the whole 1.1 side track.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checks done one after another become one check done all at once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0233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three checks depends on the other two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14630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FNOL REDESIGN · 2 OF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62472" y="1024128"/>
            <a:ext cx="0" cy="544068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 </a:t>
            </a:r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claim record, one audit trail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280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continued from part 1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108960" y="1481328"/>
            <a:ext cx="0" cy="164592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240280" y="164592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correct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complete?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H="1">
            <a:off x="1965960" y="196596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1480" y="158229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CPR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1801749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/ fill fields (via questionnaire)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965960" y="2130171"/>
            <a:ext cx="1143000" cy="521589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218688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08960" y="2212848"/>
            <a:ext cx="0" cy="438912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240280" y="265176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policy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H="1">
            <a:off x="1965960" y="297180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11480" y="26436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/ old policy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863088"/>
            <a:ext cx="1463040" cy="217424"/>
          </a:xfrm>
          <a:prstGeom prst="roundRect">
            <a:avLst>
              <a:gd name="adj" fmla="val 16822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Reattach correct policy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65960" y="3080512"/>
            <a:ext cx="1143000" cy="65024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77640" y="297180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251960" y="258813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valid policy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2807589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employer: correct insurer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3218688" y="3319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3291840"/>
            <a:ext cx="0" cy="438912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240280" y="3730752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or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H="1">
            <a:off x="1965960" y="4050792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11480" y="366712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3886581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/ connect same-CPR claims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1965960" y="4215003"/>
            <a:ext cx="1143000" cy="631317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218688" y="43982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08960" y="4370832"/>
            <a:ext cx="0" cy="475488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1645920" y="4937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continues, part 3 · Escalation &amp; Close-Out</a:t>
            </a:r>
            <a:endParaRPr lang="en-US" sz="83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1280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continued from part 1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9052560" y="1481328"/>
            <a:ext cx="0" cy="164592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583680" y="1645920"/>
            <a:ext cx="4937760" cy="538734"/>
          </a:xfrm>
          <a:prstGeom prst="roundRect">
            <a:avLst>
              <a:gd name="adj" fmla="val 6789"/>
            </a:avLst>
          </a:prstGeom>
          <a:solidFill>
            <a:srgbClr val="ECEFF3"/>
          </a:solidFill>
          <a:ln w="15875">
            <a:solidFill>
              <a:srgbClr val="6B778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Node (rules only)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 dedup · policy in force · completeness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lookups at once, no model call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52560" y="2184654"/>
            <a:ext cx="0" cy="32004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8183880" y="2504694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check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failed?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21240" y="2824734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0195560" y="2388489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2607945"/>
            <a:ext cx="1463040" cy="433578"/>
          </a:xfrm>
          <a:prstGeom prst="roundRect">
            <a:avLst>
              <a:gd name="adj" fmla="val 8436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Research Agent</a:t>
            </a:r>
            <a:endParaRPr lang="en-US" sz="7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CVR and fuzzy-match evidence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10927080" y="3041523"/>
            <a:ext cx="0" cy="219456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0195560" y="3260979"/>
            <a:ext cx="1463040" cy="322580"/>
          </a:xfrm>
          <a:prstGeom prst="roundRect">
            <a:avLst>
              <a:gd name="adj" fmla="val 11339"/>
            </a:avLst>
          </a:prstGeom>
          <a:solidFill>
            <a:srgbClr val="F1E6ED"/>
          </a:solidFill>
          <a:ln w="15875">
            <a:solidFill>
              <a:srgbClr val="7A4A6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 decides</a:t>
            </a:r>
            <a:endParaRPr lang="en-US" sz="7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prepares only)</a:t>
            </a:r>
            <a:endParaRPr lang="en-US" sz="760" dirty="0"/>
          </a:p>
        </p:txBody>
      </p:sp>
      <p:sp>
        <p:nvSpPr>
          <p:cNvPr id="47" name="Text 45"/>
          <p:cNvSpPr txBox="1"/>
          <p:nvPr/>
        </p:nvSpPr>
        <p:spPr>
          <a:xfrm>
            <a:off x="9162288" y="317220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052560" y="3144774"/>
            <a:ext cx="0" cy="1701546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7589520" y="4937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continues, part 3 · Outcome Drafting Agent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writes the draft; the handler still makes the decision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0233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that can go against a claimant is automated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595360" y="14630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FNOL REDESIGN · 3 OF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62472" y="1024128"/>
            <a:ext cx="0" cy="544068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 </a:t>
            </a:r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claim record, one audit trail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280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continued from part 2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108960" y="1481328"/>
            <a:ext cx="0" cy="164592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240280" y="164592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warning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claim?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H="1">
            <a:off x="1965960" y="196596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11480" y="158521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1804670"/>
            <a:ext cx="1463040" cy="322580"/>
          </a:xfrm>
          <a:prstGeom prst="roundRect">
            <a:avLst>
              <a:gd name="adj" fmla="val 11339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hold: check with UW before it can move on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1965960" y="2127250"/>
            <a:ext cx="1143000" cy="66167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218688" y="2240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08960" y="2212848"/>
            <a:ext cx="0" cy="576072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240280" y="278892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minor?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H="1">
            <a:off x="1965960" y="310896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11480" y="267271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~65%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892171"/>
            <a:ext cx="1463040" cy="433578"/>
          </a:xfrm>
          <a:prstGeom prst="roundRect">
            <a:avLst>
              <a:gd name="adj" fmla="val 8436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at intake</a:t>
            </a:r>
            <a:endParaRPr lang="en-US" sz="7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letter, no permanent injury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3977640" y="310896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251960" y="267271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2892171"/>
            <a:ext cx="1463040" cy="433578"/>
          </a:xfrm>
          <a:prstGeom prst="roundRect">
            <a:avLst>
              <a:gd name="adj" fmla="val 8436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in IDB: fields checked, task opened, questionnaire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5486400" cy="685800"/>
          </a:xfrm>
          <a:prstGeom prst="roundRect">
            <a:avLst>
              <a:gd name="adj" fmla="val 6667"/>
            </a:avLst>
          </a:prstGeom>
          <a:solidFill>
            <a:srgbClr val="F7F7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4160520"/>
            <a:ext cx="52120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7 decision gates, 3 entry channels, 10 exception or exit branches across the full FNOL flow.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1280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continued from part 2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9052560" y="1481328"/>
            <a:ext cx="0" cy="164592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583680" y="1645920"/>
            <a:ext cx="4937760" cy="538734"/>
          </a:xfrm>
          <a:prstGeom prst="roundRect">
            <a:avLst>
              <a:gd name="adj" fmla="val 6789"/>
            </a:avLst>
          </a:prstGeom>
          <a:solidFill>
            <a:srgbClr val="E3EDF6"/>
          </a:solidFill>
          <a:ln w="15875">
            <a:solidFill>
              <a:srgbClr val="3B6FA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Drafting Agent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the letter or the IDB record,</a:t>
            </a:r>
            <a:endParaRPr lang="en-US" sz="1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its reasoning attached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52560" y="2184654"/>
            <a:ext cx="0" cy="201168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7040880" y="2385822"/>
            <a:ext cx="4023360" cy="351790"/>
          </a:xfrm>
          <a:prstGeom prst="roundRect">
            <a:avLst>
              <a:gd name="adj" fmla="val 10397"/>
            </a:avLst>
          </a:prstGeom>
          <a:solidFill>
            <a:srgbClr val="F1E6ED"/>
          </a:solidFill>
          <a:ln w="15875">
            <a:solidFill>
              <a:srgbClr val="7A4A6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approves before anything sends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 monitor edit rate, not model accuracy)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9052560" y="2737612"/>
            <a:ext cx="0" cy="292608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8183880" y="303022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minor?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(~65%)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H="1">
            <a:off x="7909560" y="335026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355080" y="291401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133471"/>
            <a:ext cx="1463040" cy="433578"/>
          </a:xfrm>
          <a:prstGeom prst="roundRect">
            <a:avLst>
              <a:gd name="adj" fmla="val 8436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at intake</a:t>
            </a:r>
            <a:endParaRPr lang="en-US" sz="7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AI-drafted, handler approved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9921240" y="335026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0195560" y="291401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0195560" y="3133471"/>
            <a:ext cx="1463040" cy="433578"/>
          </a:xfrm>
          <a:prstGeom prst="roundRect">
            <a:avLst>
              <a:gd name="adj" fmla="val 8436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in IDB</a:t>
            </a:r>
            <a:endParaRPr lang="en-US" sz="7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Check runs alongside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6400800" y="408178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4081780"/>
            <a:ext cx="5029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result:  </a:t>
            </a:r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entry channels → 1 · 3 sequential gates → 1 parallel check · the Coverage Check handoff disappears, it runs on the same state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where a mistake is cheap. That is what earns the trust the bigger wins need.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09760" y="1463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“Hard” means build effort and regulatory exposure together, not just weeks of work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 rot="16200000">
            <a:off x="18288" y="30723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IT FIRES  →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557784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HARD AND HOW RISKY IT IS  →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1560" y="914400"/>
            <a:ext cx="5212080" cy="2286000"/>
          </a:xfrm>
          <a:prstGeom prst="rect">
            <a:avLst/>
          </a:prstGeom>
          <a:solidFill>
            <a:srgbClr val="FDF3E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060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— START HERE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298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every claim, makes no decision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80160" y="1627632"/>
            <a:ext cx="4754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1627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+ Classification Agents
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fields, claim type, confidence score, every claim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1280160" y="2322576"/>
            <a:ext cx="4754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23225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+ Coverage Check
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only: CPR, policy, dates, a failed import is caught automatically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914400"/>
            <a:ext cx="5212080" cy="2286000"/>
          </a:xfrm>
          <a:prstGeom prst="rect">
            <a:avLst/>
          </a:prstGeom>
          <a:solidFill>
            <a:srgbClr val="E4F4F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060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— ONCE TRUSTED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298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prize, but needs the audit trail live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92240" y="1627632"/>
            <a:ext cx="4754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627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Drafting Agent
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~65% of claims, writes the close-out letter, a handler still approves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492240" y="2322576"/>
            <a:ext cx="4754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232257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Research Agent
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on the ~20% flagged, gathers evidence for a person to decide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051560" y="3200400"/>
            <a:ext cx="5212080" cy="2286000"/>
          </a:xfrm>
          <a:prstGeom prst="rect">
            <a:avLst/>
          </a:prstGeom>
          <a:solidFill>
            <a:srgbClr val="EDECF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34440" y="3346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PATTERN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584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rarer, but the same shape works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80160" y="3913632"/>
            <a:ext cx="4754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3913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decision support
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prepares the evidence only: self-employed, group/branch, name mismatch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263640" y="3200400"/>
            <a:ext cx="5212080" cy="2286000"/>
          </a:xfrm>
          <a:prstGeom prst="rect">
            <a:avLst/>
          </a:prstGeom>
          <a:solidFill>
            <a:srgbClr val="FBE9F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346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MANUAL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584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rare to earn the effort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92240" y="3913632"/>
            <a:ext cx="4754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240">
            <a:solidFill>
              <a:srgbClr val="BE18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391363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"Violence cover" entitlement letter
</a:t>
            </a:r>
            <a:endParaRPr lang="en-US" sz="92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claims so far (GGW) · a checklist beats a model</a:t>
            </a:r>
            <a:endParaRPr lang="en-US" sz="92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603504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 rulings and underwriting authority are deliberately absent. Those decisions are not ours to make.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on the cloud GGW already run, and released in three gated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595360" y="14630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ROLLOUT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723644" cy="475488"/>
          </a:xfrm>
          <a:prstGeom prst="roundRect">
            <a:avLst>
              <a:gd name="adj" fmla="val 9615"/>
            </a:avLst>
          </a:prstGeom>
          <a:solidFill>
            <a:srgbClr val="FDF3E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640080"/>
            <a:ext cx="15773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9A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</a:t>
            </a:r>
            <a:endParaRPr lang="en-US" sz="8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9A5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park, nothing is lost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308860" y="640080"/>
            <a:ext cx="9185148" cy="475488"/>
          </a:xfrm>
          <a:prstGeom prst="roundRect">
            <a:avLst>
              <a:gd name="adj" fmla="val 9615"/>
            </a:avLst>
          </a:prstGeom>
          <a:solidFill>
            <a:srgbClr val="ECEFF3"/>
          </a:solidFill>
          <a:ln w="12700">
            <a:solidFill>
              <a:srgbClr val="6B778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08860" y="640080"/>
            <a:ext cx="91851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 ·  graph checkpoint and audit log in one place: every decision, its inputs, its confidence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4081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89770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" y="1682496"/>
            <a:ext cx="824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1409770" y="1682496"/>
            <a:ext cx="1020353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46346" y="1682496"/>
            <a:ext cx="9472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576428" y="1682496"/>
            <a:ext cx="95903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13004" y="1682496"/>
            <a:ext cx="885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681761" y="1682496"/>
            <a:ext cx="1081677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18337" y="1682496"/>
            <a:ext cx="100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4909742" y="1682496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46318" y="1682496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Bus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199046" y="1682496"/>
            <a:ext cx="132697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5622" y="1682496"/>
            <a:ext cx="125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Apps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672320" y="1682496"/>
            <a:ext cx="1449617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08896" y="1682496"/>
            <a:ext cx="13764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+ Key Vault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9268241" y="1682496"/>
            <a:ext cx="1204323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4817" y="1682496"/>
            <a:ext cx="1131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10618869" y="1682496"/>
            <a:ext cx="1204323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55445" y="1682496"/>
            <a:ext cx="1131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0B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86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2688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962656"/>
            <a:ext cx="3440811" cy="420624"/>
          </a:xfrm>
          <a:prstGeom prst="roundRect">
            <a:avLst>
              <a:gd name="adj" fmla="val 10870"/>
            </a:avLst>
          </a:prstGeom>
          <a:solidFill>
            <a:srgbClr val="E3EDF6"/>
          </a:solidFill>
          <a:ln w="15240">
            <a:solidFill>
              <a:srgbClr val="3B6F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" y="2962656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920" dirty="0"/>
          </a:p>
        </p:txBody>
      </p:sp>
      <p:sp>
        <p:nvSpPr>
          <p:cNvPr id="30" name="Text 28"/>
          <p:cNvSpPr txBox="1"/>
          <p:nvPr/>
        </p:nvSpPr>
        <p:spPr>
          <a:xfrm>
            <a:off x="1609344" y="2962656"/>
            <a:ext cx="21057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draft, classify, extract, but never decide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989451" y="2962656"/>
            <a:ext cx="4028955" cy="420624"/>
          </a:xfrm>
          <a:prstGeom prst="roundRect">
            <a:avLst>
              <a:gd name="adj" fmla="val 10870"/>
            </a:avLst>
          </a:prstGeom>
          <a:solidFill>
            <a:srgbClr val="ECEFF3"/>
          </a:solidFill>
          <a:ln w="15240">
            <a:solidFill>
              <a:srgbClr val="6B778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7467" y="29626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no model</a:t>
            </a:r>
            <a:endParaRPr lang="en-US" sz="920" dirty="0"/>
          </a:p>
        </p:txBody>
      </p:sp>
      <p:sp>
        <p:nvSpPr>
          <p:cNvPr id="33" name="Text 31"/>
          <p:cNvSpPr txBox="1"/>
          <p:nvPr/>
        </p:nvSpPr>
        <p:spPr>
          <a:xfrm>
            <a:off x="5726811" y="2962656"/>
            <a:ext cx="22001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record: pass or fail, nothing in between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01286" y="2962656"/>
            <a:ext cx="3621906" cy="420624"/>
          </a:xfrm>
          <a:prstGeom prst="roundRect">
            <a:avLst>
              <a:gd name="adj" fmla="val 10870"/>
            </a:avLst>
          </a:prstGeom>
          <a:solidFill>
            <a:srgbClr val="F1E6ED"/>
          </a:solidFill>
          <a:ln w="15240">
            <a:solidFill>
              <a:srgbClr val="7A4A6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29302" y="2962656"/>
            <a:ext cx="978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</a:t>
            </a:r>
            <a:endParaRPr lang="en-US" sz="920" dirty="0"/>
          </a:p>
        </p:txBody>
      </p:sp>
      <p:sp>
        <p:nvSpPr>
          <p:cNvPr id="36" name="Text 34"/>
          <p:cNvSpPr txBox="1"/>
          <p:nvPr/>
        </p:nvSpPr>
        <p:spPr>
          <a:xfrm>
            <a:off x="9362574" y="2962656"/>
            <a:ext cx="23691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before anything can go against a claimant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GOES LIVE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877056"/>
            <a:ext cx="2699766" cy="841248"/>
          </a:xfrm>
          <a:prstGeom prst="roundRect">
            <a:avLst>
              <a:gd name="adj" fmla="val 6522"/>
            </a:avLst>
          </a:prstGeom>
          <a:solidFill>
            <a:srgbClr val="FDF3E3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2064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12064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1–8</a:t>
            </a:r>
            <a:endParaRPr lang="en-US" sz="780" dirty="0"/>
          </a:p>
        </p:txBody>
      </p:sp>
      <p:sp>
        <p:nvSpPr>
          <p:cNvPr id="41" name="Text 39"/>
          <p:cNvSpPr txBox="1"/>
          <p:nvPr/>
        </p:nvSpPr>
        <p:spPr>
          <a:xfrm>
            <a:off x="512064" y="4187952"/>
            <a:ext cx="2407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live claims. Nobody sees the output.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12064" y="4480560"/>
            <a:ext cx="2407158" cy="91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12064" y="4517136"/>
            <a:ext cx="24071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extraction agrees with the handler on 95% of fields.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092958" y="4297680"/>
            <a:ext cx="164592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284982" y="3877056"/>
            <a:ext cx="2699766" cy="841248"/>
          </a:xfrm>
          <a:prstGeom prst="roundRect">
            <a:avLst>
              <a:gd name="adj" fmla="val 6522"/>
            </a:avLst>
          </a:prstGeom>
          <a:solidFill>
            <a:srgbClr val="E4F4F8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31286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3431286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9–16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3431286" y="4187952"/>
            <a:ext cx="2407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handler must edit or approve. Nothing sends itself.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431286" y="4480560"/>
            <a:ext cx="2407158" cy="91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431286" y="4517136"/>
            <a:ext cx="24071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edit rate on minor claims settles below 20%.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6012180" y="4297680"/>
            <a:ext cx="164592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204204" y="3877056"/>
            <a:ext cx="2699766" cy="841248"/>
          </a:xfrm>
          <a:prstGeom prst="roundRect">
            <a:avLst>
              <a:gd name="adj" fmla="val 6522"/>
            </a:avLst>
          </a:prstGeom>
          <a:solidFill>
            <a:srgbClr val="EDECFB"/>
          </a:solidFill>
          <a:ln w="15240">
            <a:solidFill>
              <a:srgbClr val="4338C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50508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350508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5–6</a:t>
            </a:r>
            <a:endParaRPr lang="en-US" sz="780" dirty="0"/>
          </a:p>
        </p:txBody>
      </p:sp>
      <p:sp>
        <p:nvSpPr>
          <p:cNvPr id="55" name="Text 53"/>
          <p:cNvSpPr txBox="1"/>
          <p:nvPr/>
        </p:nvSpPr>
        <p:spPr>
          <a:xfrm>
            <a:off x="6350508" y="4187952"/>
            <a:ext cx="2407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claims pre-filled. One click accepts.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6350508" y="4480560"/>
            <a:ext cx="2407158" cy="9144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350508" y="4517136"/>
            <a:ext cx="24071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criteria reviewed monthly with the claims lead.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931402" y="4297680"/>
            <a:ext cx="164592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123426" y="3877056"/>
            <a:ext cx="2699766" cy="841248"/>
          </a:xfrm>
          <a:prstGeom prst="roundRect">
            <a:avLst>
              <a:gd name="adj" fmla="val 6522"/>
            </a:avLst>
          </a:prstGeom>
          <a:solidFill>
            <a:srgbClr val="FBE9F1"/>
          </a:solidFill>
          <a:ln w="15240">
            <a:solidFill>
              <a:srgbClr val="BE185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269730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9269730" y="3968496"/>
            <a:ext cx="240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</a:t>
            </a:r>
            <a:endParaRPr lang="en-US" sz="780" dirty="0"/>
          </a:p>
        </p:txBody>
      </p:sp>
      <p:sp>
        <p:nvSpPr>
          <p:cNvPr id="62" name="Text 60"/>
          <p:cNvSpPr txBox="1"/>
          <p:nvPr/>
        </p:nvSpPr>
        <p:spPr>
          <a:xfrm>
            <a:off x="9269730" y="4187952"/>
            <a:ext cx="2407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adverse to a claimant is ever automatic.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9269730" y="4480560"/>
            <a:ext cx="2407158" cy="9144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269730" y="4517136"/>
            <a:ext cx="24071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" i="1" dirty="0">
                <a:solidFill>
                  <a:srgbClr val="6A1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boundary, not a phase.</a:t>
            </a:r>
            <a:endParaRPr lang="en-US" sz="720" dirty="0"/>
          </a:p>
        </p:txBody>
      </p:sp>
      <p:sp>
        <p:nvSpPr>
          <p:cNvPr id="65" name="Text 63"/>
          <p:cNvSpPr txBox="1"/>
          <p:nvPr/>
        </p:nvSpPr>
        <p:spPr>
          <a:xfrm>
            <a:off x="365760" y="484632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agent fails or is unsure, the claim falls back to today's manual queue. Slower, never wrong.</a:t>
            </a:r>
            <a:endParaRPr lang="en-US" sz="740" dirty="0"/>
          </a:p>
        </p:txBody>
      </p:sp>
      <p:sp>
        <p:nvSpPr>
          <p:cNvPr id="66" name="Text 64"/>
          <p:cNvSpPr txBox="1"/>
          <p:nvPr/>
        </p:nvSpPr>
        <p:spPr>
          <a:xfrm>
            <a:off x="365760" y="5138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9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5760" y="5358384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65760" y="53583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60120" y="535838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3EDF6"/>
          </a:solidFill>
          <a:ln w="13970">
            <a:solidFill>
              <a:srgbClr val="3B6FA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60120" y="53583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2148840" y="535838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3EDF6"/>
          </a:solidFill>
          <a:ln w="13970">
            <a:solidFill>
              <a:srgbClr val="3B6FA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148840" y="53583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</a:t>
            </a:r>
            <a:endParaRPr lang="en-US" sz="760" dirty="0"/>
          </a:p>
        </p:txBody>
      </p:sp>
      <p:sp>
        <p:nvSpPr>
          <p:cNvPr id="73" name="Shape 71"/>
          <p:cNvSpPr/>
          <p:nvPr/>
        </p:nvSpPr>
        <p:spPr>
          <a:xfrm>
            <a:off x="3429000" y="535838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CEFF3"/>
          </a:solidFill>
          <a:ln w="13970">
            <a:solidFill>
              <a:srgbClr val="6B7787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429000" y="53583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A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4617720" y="535838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CEFF3"/>
          </a:solidFill>
          <a:ln w="13970">
            <a:solidFill>
              <a:srgbClr val="6B7787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617720" y="5358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A3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coverage_check</a:t>
            </a:r>
            <a:endParaRPr lang="en-US" sz="760" dirty="0"/>
          </a:p>
        </p:txBody>
      </p:sp>
      <p:sp>
        <p:nvSpPr>
          <p:cNvPr id="77" name="Shape 75"/>
          <p:cNvSpPr/>
          <p:nvPr/>
        </p:nvSpPr>
        <p:spPr>
          <a:xfrm>
            <a:off x="6172200" y="535838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3EDF6"/>
          </a:solidFill>
          <a:ln w="13970">
            <a:solidFill>
              <a:srgbClr val="3B6FA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172200" y="53583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760" dirty="0"/>
          </a:p>
        </p:txBody>
      </p:sp>
      <p:sp>
        <p:nvSpPr>
          <p:cNvPr id="79" name="Shape 77"/>
          <p:cNvSpPr/>
          <p:nvPr/>
        </p:nvSpPr>
        <p:spPr>
          <a:xfrm>
            <a:off x="7223760" y="535838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1E6ED"/>
          </a:solidFill>
          <a:ln w="13970">
            <a:solidFill>
              <a:srgbClr val="7A4A6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223760" y="53583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4A2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8458200" y="5358384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1B2430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8458200" y="53583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822960" y="5513832"/>
            <a:ext cx="13716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2011680" y="5513832"/>
            <a:ext cx="13716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3291840" y="5513832"/>
            <a:ext cx="13716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480560" y="5513832"/>
            <a:ext cx="13716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035040" y="5513832"/>
            <a:ext cx="13716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7086600" y="5513832"/>
            <a:ext cx="13716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8321040" y="5513832"/>
            <a:ext cx="13716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3817620" y="5815584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CEFD6"/>
          </a:solidFill>
          <a:ln w="13970">
            <a:solidFill>
              <a:srgbClr val="EF9F27"/>
            </a:solidFill>
            <a:prstDash val="dash"/>
          </a:ln>
        </p:spPr>
      </p:sp>
      <p:sp>
        <p:nvSpPr>
          <p:cNvPr id="91" name="Text 89"/>
          <p:cNvSpPr txBox="1"/>
          <p:nvPr/>
        </p:nvSpPr>
        <p:spPr>
          <a:xfrm>
            <a:off x="3817620" y="58155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B4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exception_research</a:t>
            </a:r>
            <a:endParaRPr lang="en-US" sz="760" dirty="0"/>
          </a:p>
        </p:txBody>
      </p:sp>
      <p:sp>
        <p:nvSpPr>
          <p:cNvPr id="92" name="Shape 90"/>
          <p:cNvSpPr/>
          <p:nvPr/>
        </p:nvSpPr>
        <p:spPr>
          <a:xfrm>
            <a:off x="3954780" y="5669280"/>
            <a:ext cx="662940" cy="146304"/>
          </a:xfrm>
          <a:prstGeom prst="line">
            <a:avLst/>
          </a:prstGeom>
          <a:noFill/>
          <a:ln w="12700">
            <a:solidFill>
              <a:srgbClr val="5B7D80"/>
            </a:solidFill>
            <a:prstDash val="dash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5417820" y="5669280"/>
            <a:ext cx="1211580" cy="301752"/>
          </a:xfrm>
          <a:prstGeom prst="line">
            <a:avLst/>
          </a:prstGeom>
          <a:noFill/>
          <a:ln w="12700">
            <a:solidFill>
              <a:srgbClr val="5B7D80"/>
            </a:solidFill>
            <a:prstDash val="dash"/>
            <a:tailEnd type="triangle"/>
          </a:ln>
        </p:spPr>
      </p:sp>
      <p:sp>
        <p:nvSpPr>
          <p:cNvPr id="94" name="Text 92"/>
          <p:cNvSpPr txBox="1"/>
          <p:nvPr/>
        </p:nvSpPr>
        <p:spPr>
          <a:xfrm>
            <a:off x="3451860" y="5797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96" name="Text 94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minute is observed, and the redesign pays for itself in 13 months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146304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HOW THE NUMBERS ARE BUILT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30352"/>
            <a:ext cx="5650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TIME PER CLAIM, PER HANDLER (MINUTES)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5650992" cy="914400"/>
        </p:xfrm>
        <a:graphic>
          <a:graphicData uri="http://schemas.openxmlformats.org/drawingml/2006/table">
            <a:tbl>
              <a:tblPr/>
              <a:tblGrid>
                <a:gridCol w="3639312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Redesigned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&amp; extract the report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policy, CPR &amp; escalations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Decide, draft and send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between systems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Touch 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 breaks &amp; interruptions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bank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931920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i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bank 19 min, not the 10.1 the design allows: the business case runs on a three-point estimate of best, likely and worst case.</a:t>
            </a:r>
            <a:endParaRPr lang="en-US" sz="86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224528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a 6-hour day holds capacity for 9 claims at 40 min each, ~19 at 19 min each. A ceiling: 50 claims/day actually arrive, not 180. Confirmed by GGW (8 Sep 2026).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530352"/>
            <a:ext cx="5650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THE BUSINESS CASE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841248"/>
            <a:ext cx="5650992" cy="307238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5240">
            <a:solidFill>
              <a:srgbClr val="BE185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969264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</a:t>
            </a:r>
            <a:endParaRPr lang="en-US" sz="84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released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921240" y="12801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4,370 handler-h · 2.9 FTE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Worth, at €36.98 per handler-hour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9921240" y="15910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€161,600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run it — AI models and Azure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9921240" y="19019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€2,400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support — 0.25 of an engineer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921240" y="2212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€24,400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value, every year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921240" y="252374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€134,800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2834640"/>
            <a:ext cx="5285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ONE-OFF</a:t>
            </a:r>
            <a:endParaRPr lang="en-US" sz="84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— 3 people × 6 months, fully loaded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921240" y="31455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€146,400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921240" y="345643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months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172200" y="4096512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cost in full: ≈ €0.08/claim in AI tokens + ≈ $134/month in Azure → €2,400/year, all in.</a:t>
            </a:r>
            <a:endParaRPr lang="en-US" sz="86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4389120"/>
            <a:ext cx="5650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i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is loaded team capacity, not new cash. The AI team is already funded.</a:t>
            </a:r>
            <a:endParaRPr lang="en-US" sz="860" dirty="0"/>
          </a:p>
        </p:txBody>
      </p:sp>
      <p:sp>
        <p:nvSpPr>
          <p:cNvPr id="28" name="Text 25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4630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sourced, dated, or named as an assumption we'd test first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182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Who does intake — 20 claim handlers process claims; 10 support staff besides.  (GGW (P. Gossmann), 8 Sep 2026)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64692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Failed EASY imports — Not noticed today — so detection comes before retries.  (GGW (P. Gossmann), 8 Sep 2026)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61872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Volumes and shares — ~50 first reports a day · 65% minor · ~30 in the team.  (GGW case study brief)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575511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Wage base — Schadenregulierer/in, €45,100 gross — the role doing intake.  </a:t>
            </a:r>
            <a:endParaRPr lang="en-US" sz="1000" dirty="0"/>
          </a:p>
        </p:txBody>
      </p:sp>
      <p:sp>
        <p:nvSpPr>
          <p:cNvPr id="8" name="Text 6">
            <a:hlinkClick r:id="rId1" tooltip="StepStone"/>
          </p:cNvPr>
          <p:cNvSpPr txBox="1"/>
          <p:nvPr/>
        </p:nvSpPr>
        <p:spPr>
          <a:xfrm>
            <a:off x="9189720" y="157551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StepSton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(StepStone)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876349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Employer on-cost — ≈ €23 per €100 gross — health, pension, care.  </a:t>
            </a:r>
            <a:endParaRPr lang="en-US" sz="1000" dirty="0"/>
          </a:p>
        </p:txBody>
      </p:sp>
      <p:sp>
        <p:nvSpPr>
          <p:cNvPr id="10" name="Text 8">
            <a:hlinkClick r:id="rId2" tooltip="sevdesk"/>
          </p:cNvPr>
          <p:cNvSpPr txBox="1"/>
          <p:nvPr/>
        </p:nvSpPr>
        <p:spPr>
          <a:xfrm>
            <a:off x="9189720" y="1876349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sevdes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(sevdesk)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191817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Working time &amp; breaks — 38h tariff week; statutory break rules.  </a:t>
            </a:r>
            <a:endParaRPr lang="en-US" sz="1000" dirty="0"/>
          </a:p>
        </p:txBody>
      </p:sp>
      <p:sp>
        <p:nvSpPr>
          <p:cNvPr id="12" name="Text 10">
            <a:hlinkClick r:id="rId3" tooltip="Arbeitszeitgesetz §4"/>
          </p:cNvPr>
          <p:cNvSpPr txBox="1"/>
          <p:nvPr/>
        </p:nvSpPr>
        <p:spPr>
          <a:xfrm>
            <a:off x="9189720" y="2191817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Arbeitszeitgesetz §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(Arbeitszeitgesetz §4)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2489911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Build &amp; upkeep pay — Senior ML engineer ≈ €98k; juniors ≈ €70k, as briefed.  </a:t>
            </a:r>
            <a:endParaRPr lang="en-US" sz="1000" dirty="0"/>
          </a:p>
        </p:txBody>
      </p:sp>
      <p:sp>
        <p:nvSpPr>
          <p:cNvPr id="14" name="Text 12">
            <a:hlinkClick r:id="rId4" tooltip="Glassdoor"/>
          </p:cNvPr>
          <p:cNvSpPr txBox="1"/>
          <p:nvPr/>
        </p:nvSpPr>
        <p:spPr>
          <a:xfrm>
            <a:off x="9189720" y="248991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Glassdo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(Glassdoor)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280172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Model prices — gpt-5.6 terra — $2 in / $12 out per million tokens.  </a:t>
            </a:r>
            <a:endParaRPr lang="en-US" sz="1000" dirty="0"/>
          </a:p>
        </p:txBody>
      </p:sp>
      <p:sp>
        <p:nvSpPr>
          <p:cNvPr id="16" name="Text 14">
            <a:hlinkClick r:id="rId5" tooltip="OpenAI"/>
          </p:cNvPr>
          <p:cNvSpPr txBox="1"/>
          <p:nvPr/>
        </p:nvSpPr>
        <p:spPr>
          <a:xfrm>
            <a:off x="9189720" y="280172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OpenA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(OpenAI)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3097987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Hosting &amp; database — Container Apps consumption rates; PostgreSQL B2s.  </a:t>
            </a:r>
            <a:endParaRPr lang="en-US" sz="1000" dirty="0"/>
          </a:p>
        </p:txBody>
      </p:sp>
      <p:sp>
        <p:nvSpPr>
          <p:cNvPr id="18" name="Text 16">
            <a:hlinkClick r:id="rId6" tooltip="Azure pricing"/>
          </p:cNvPr>
          <p:cNvSpPr txBox="1"/>
          <p:nvPr/>
        </p:nvSpPr>
        <p:spPr>
          <a:xfrm>
            <a:off x="9189720" y="3097987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Azure pric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(Azure pricing)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410712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 Upkeep after go-live — 15–20% of build effort a year, ours is 17%.  (Standard maintenance rule of thumb)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7124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 Industry baseline — 17 of 20 carriers still manual; none let AI decide alone.  </a:t>
            </a:r>
            <a:endParaRPr lang="en-US" sz="1000" dirty="0"/>
          </a:p>
        </p:txBody>
      </p:sp>
      <p:sp>
        <p:nvSpPr>
          <p:cNvPr id="21" name="Text 19">
            <a:hlinkClick r:id="rId7" tooltip="Decerto, 2026 Claims Decisioning Pulse"/>
          </p:cNvPr>
          <p:cNvSpPr txBox="1"/>
          <p:nvPr/>
        </p:nvSpPr>
        <p:spPr>
          <a:xfrm>
            <a:off x="9189720" y="371246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Decerto, 2026 Claims Decisioning Puls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(Decerto, 2026 Claims Decisioning Pulse)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402701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 Where value comes from — The 10-20-70 split — algorithms, technology, people.  </a:t>
            </a:r>
            <a:endParaRPr lang="en-US" sz="1000" dirty="0"/>
          </a:p>
        </p:txBody>
      </p:sp>
      <p:sp>
        <p:nvSpPr>
          <p:cNvPr id="23" name="Text 21">
            <a:hlinkClick r:id="rId8" tooltip="BCG"/>
          </p:cNvPr>
          <p:cNvSpPr txBox="1"/>
          <p:nvPr/>
        </p:nvSpPr>
        <p:spPr>
          <a:xfrm>
            <a:off x="9189720" y="402701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BC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(BCG)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432602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 Fixing import failures — Retry vs. dead-letter, idempotency, alert on rate.  </a:t>
            </a:r>
            <a:endParaRPr lang="en-US" sz="1000" dirty="0"/>
          </a:p>
        </p:txBody>
      </p:sp>
      <p:sp>
        <p:nvSpPr>
          <p:cNvPr id="25" name="Text 23">
            <a:hlinkClick r:id="rId9" tooltip="Standard integration pattern"/>
          </p:cNvPr>
          <p:cNvSpPr txBox="1"/>
          <p:nvPr/>
        </p:nvSpPr>
        <p:spPr>
          <a:xfrm>
            <a:off x="9189720" y="432602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Standard integration patte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(Standard integration pattern)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4727448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assumptions, not sourced. The first thing we would test: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4983480"/>
            <a:ext cx="11457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per-step minute on slide 8 · the 30% allowance for breaks and interruptions · how often a CPR is missing (30%) or underwriting is asked (25%) · how often the redesign raises an exception (20%) · the tokens a typical claim needs · the €146k build · the 0.25 FTE upkeep. Two weeks of watching live intake would replace all of this with measurements.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630936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checked September 2026 · US$ converted at €0.92 · every euro figure is fully loaded (gross pay plus employer contributions).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6019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GGW Claims Workflow Redesign · FNOL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60196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is a function, not an agent: three lookups in parallel, no model call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14630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IF ASKED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LangGraph node: typed state in, a partial state update out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949440" cy="4160520"/>
          </a:xfrm>
          <a:prstGeom prst="roundRect">
            <a:avLst>
              <a:gd name="adj" fmla="val 1319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170432"/>
            <a:ext cx="6547104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ClaimState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cpr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policy_id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validation_failed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failure_reasons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validate_claim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ClaimState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check_cpr_policy_match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check_policy_in_force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check_duplicate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"validation_failed"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"failure_reasons"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add_node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"validate"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validate_claim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add_conditional_edges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"validate"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"exception_research"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validation_failed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"coverage_check"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100584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AN AGENT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43800" y="1380744"/>
            <a:ext cx="64008" cy="64008"/>
          </a:xfrm>
          <a:prstGeom prst="ellipse">
            <a:avLst/>
          </a:prstGeom>
          <a:solidFill>
            <a:srgbClr val="6B778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99248" y="1316736"/>
            <a:ext cx="4069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prompt, no completion call: three pure lookups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CPR/CVR register, policy admin, and IDB.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43800" y="1996440"/>
            <a:ext cx="64008" cy="64008"/>
          </a:xfrm>
          <a:prstGeom prst="ellipse">
            <a:avLst/>
          </a:prstGeom>
          <a:solidFill>
            <a:srgbClr val="6B778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99248" y="1932432"/>
            <a:ext cx="4069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milliseconds and costs nothing to run; same input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gives the same output.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43800" y="2612136"/>
            <a:ext cx="64008" cy="64008"/>
          </a:xfrm>
          <a:prstGeom prst="ellipse">
            <a:avLst/>
          </a:prstGeom>
          <a:solidFill>
            <a:srgbClr val="6B778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99248" y="2548128"/>
            <a:ext cx="4069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Unit-tested like any other function, not evaluated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prompt.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43800" y="3227832"/>
            <a:ext cx="64008" cy="64008"/>
          </a:xfrm>
          <a:prstGeom prst="ellipse">
            <a:avLst/>
          </a:prstGeom>
          <a:solidFill>
            <a:srgbClr val="6B778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99248" y="3163824"/>
            <a:ext cx="406908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Checkpointed in Postgres: a claim put on hold resumes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where it left off.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3977640"/>
            <a:ext cx="4279392" cy="1188720"/>
          </a:xfrm>
          <a:prstGeom prst="roundRect">
            <a:avLst>
              <a:gd name="adj" fmla="val 4615"/>
            </a:avLst>
          </a:prstGeom>
          <a:solidFill>
            <a:srgbClr val="ECEFF3"/>
          </a:solidFill>
          <a:ln w="12700">
            <a:solidFill>
              <a:srgbClr val="6B778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08392" y="3977640"/>
            <a:ext cx="3950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what: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failure path calls a model, Exception Research, and only for the ~20% of claims that need judgement. Everything deterministic stays deterministic.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Agent: one call returns a typed schema, not free text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146304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2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IF ASKED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output: the schema is a Pydantic model, so a missing field is null, never a guess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57432" cy="5074920"/>
          </a:xfrm>
          <a:prstGeom prst="roundRect">
            <a:avLst>
              <a:gd name="adj" fmla="val 1081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170432"/>
            <a:ext cx="11055096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ExtractedClaim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cpr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employer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body_part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EXTRACTION_PROMPT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"Extract the fields below. Use null for "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"anything not stated; never invent a value."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extract_claim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ClaimState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with_structured_output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ExtractedClaim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SystemMessage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EXTRACTION_PROMPT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HumanMessage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raw_report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"extracted"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"confidence"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add_node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"extract"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extract_claim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add_edge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"extract"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"classify"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188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Check: the same rules-first pattern as Validation, reused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0233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brief's second workflow, redesigned the same way: one shared claim record, no separate hand-off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509760" y="14630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4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· IF ASKED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062472" y="1024128"/>
            <a:ext cx="0" cy="5440680"/>
          </a:xfrm>
          <a:prstGeom prst="line">
            <a:avLst/>
          </a:prstGeom>
          <a:noFill/>
          <a:ln w="9525">
            <a:solidFill>
              <a:srgbClr val="D7DC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005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6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 </a:t>
            </a:r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claim record, one audit trail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417320"/>
            <a:ext cx="4206240" cy="378079"/>
          </a:xfrm>
          <a:prstGeom prst="roundRect">
            <a:avLst>
              <a:gd name="adj" fmla="val 9674"/>
            </a:avLst>
          </a:prstGeom>
          <a:solidFill>
            <a:srgbClr val="E6F8F7"/>
          </a:solidFill>
          <a:ln w="15875">
            <a:solidFill>
              <a:srgbClr val="007A8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passes intake</a:t>
            </a:r>
            <a:endParaRPr lang="en-US" sz="9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(continued from FNOL)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1783080"/>
            <a:ext cx="0" cy="36576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240280" y="214884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policy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77640" y="246888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251960" y="208521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no warning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304669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confirmed,</a:t>
            </a:r>
            <a:endParaRPr lang="en-US" sz="7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(usually quick)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108960" y="2788920"/>
            <a:ext cx="0" cy="41148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240280" y="3200400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H="1">
            <a:off x="1965960" y="352044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11480" y="319519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Self-employed · group/branch · name mismatch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414649"/>
            <a:ext cx="1463040" cy="211582"/>
          </a:xfrm>
          <a:prstGeom prst="roundRect">
            <a:avLst>
              <a:gd name="adj" fmla="val 17287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underwriting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3977640" y="3520440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251960" y="313677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follow-up policy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356229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FCEFD6"/>
          </a:solidFill>
          <a:ln w="15875">
            <a:solidFill>
              <a:srgbClr val="EF9F2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Reattach to</a:t>
            </a:r>
            <a:endParaRPr lang="en-US" sz="7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6B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policy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108960" y="3840480"/>
            <a:ext cx="0" cy="41148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005840" y="4251960"/>
            <a:ext cx="4206240" cy="348869"/>
          </a:xfrm>
          <a:prstGeom prst="roundRect">
            <a:avLst>
              <a:gd name="adj" fmla="val 10484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employer: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with correct insurer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218688" y="3986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Wrong, expired, or none</a:t>
            </a:r>
            <a:endParaRPr lang="en-US" sz="74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892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resolves the exception before the claim can proceed. Most are expected to clear once the underwriting area is mapped (GGW).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1417320"/>
            <a:ext cx="4937760" cy="477393"/>
          </a:xfrm>
          <a:prstGeom prst="roundRect">
            <a:avLst>
              <a:gd name="adj" fmla="val 7662"/>
            </a:avLst>
          </a:prstGeom>
          <a:solidFill>
            <a:srgbClr val="ECEFF3"/>
          </a:solidFill>
          <a:ln w="15875">
            <a:solidFill>
              <a:srgbClr val="6B7787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Check Node (rules only)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in force · self-employed cover · employer/policy match</a:t>
            </a:r>
            <a:endParaRPr lang="en-US" sz="86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pattern as Validation, applied to coverage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9052560" y="1894713"/>
            <a:ext cx="0" cy="32004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183880" y="2214753"/>
            <a:ext cx="1737360" cy="6400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5B7D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check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21240" y="2534793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0195560" y="210293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2322386"/>
            <a:ext cx="1600200" cy="424815"/>
          </a:xfrm>
          <a:prstGeom prst="roundRect">
            <a:avLst>
              <a:gd name="adj" fmla="val 8610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4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confirmed, proceed</a:t>
            </a:r>
            <a:endParaRPr lang="en-US" sz="74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4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(policy reattached automatically)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 flipH="1">
            <a:off x="7909560" y="2534793"/>
            <a:ext cx="274320" cy="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355080" y="215112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no valid policy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2370582"/>
            <a:ext cx="1463040" cy="328422"/>
          </a:xfrm>
          <a:prstGeom prst="roundRect">
            <a:avLst>
              <a:gd name="adj" fmla="val 11137"/>
            </a:avLst>
          </a:prstGeom>
          <a:solidFill>
            <a:srgbClr val="EDF7DB"/>
          </a:solidFill>
          <a:ln w="15875">
            <a:solidFill>
              <a:srgbClr val="6FA01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employer:</a:t>
            </a:r>
            <a:endParaRPr lang="en-US" sz="78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334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with correct insurer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9052560" y="2854833"/>
            <a:ext cx="0" cy="411480"/>
          </a:xfrm>
          <a:prstGeom prst="line">
            <a:avLst/>
          </a:prstGeom>
          <a:noFill/>
          <a:ln w="12700">
            <a:solidFill>
              <a:srgbClr val="5B7D8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583680" y="3266313"/>
            <a:ext cx="4937760" cy="363474"/>
          </a:xfrm>
          <a:prstGeom prst="roundRect">
            <a:avLst>
              <a:gd name="adj" fmla="val 10063"/>
            </a:avLst>
          </a:prstGeom>
          <a:solidFill>
            <a:srgbClr val="F1E6ED"/>
          </a:solidFill>
          <a:ln w="15875">
            <a:solidFill>
              <a:srgbClr val="7A4A6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decides</a:t>
            </a:r>
            <a:endParaRPr lang="en-US" sz="9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4A2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prepares the evidence)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162288" y="2927985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ambiguous: self-employed, group/branch, name mismatch</a:t>
            </a:r>
            <a:endParaRPr lang="en-US" sz="72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390639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 as slide 4's Validation: one rules node resolves what it can, a person only sees what's genuinely ambiguous.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FNOL — Today vs. AI-Native, in three parts</dc:title>
  <dc:subject>PptxGenJS Presentation</dc:subject>
  <dc:creator>GGW Case Study</dc:creator>
  <cp:lastModifiedBy>GGW Case Study</cp:lastModifiedBy>
  <cp:revision>1</cp:revision>
  <dcterms:created xsi:type="dcterms:W3CDTF">2026-09-18T13:27:07Z</dcterms:created>
  <dcterms:modified xsi:type="dcterms:W3CDTF">2026-09-18T13:27:07Z</dcterms:modified>
</cp:coreProperties>
</file>