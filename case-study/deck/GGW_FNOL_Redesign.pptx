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stepstone.de/gehalt/Sachbearbeiter-in-Versicherung.html" TargetMode="External"/><Relationship Id="rId2" Type="http://schemas.openxmlformats.org/officeDocument/2006/relationships/hyperlink" Target="https://sevdesk.de/ratgeber/buchhaltung-finanzen/lohnbuchhaltung/lohnnebenkosten/" TargetMode="External"/><Relationship Id="rId3" Type="http://schemas.openxmlformats.org/officeDocument/2006/relationships/hyperlink" Target="https://www.gesetze-im-internet.de/arbzg/__4.html" TargetMode="External"/><Relationship Id="rId4" Type="http://schemas.openxmlformats.org/officeDocument/2006/relationships/hyperlink" Target="https://www.glassdoor.com/Salaries/germany-machine-learning-engineer-salary-SRCH_IL.0,7_IN96_KO8,33.htm" TargetMode="External"/><Relationship Id="rId5" Type="http://schemas.openxmlformats.org/officeDocument/2006/relationships/hyperlink" Target="https://openai.com/api/pricing/" TargetMode="External"/><Relationship Id="rId6" Type="http://schemas.openxmlformats.org/officeDocument/2006/relationships/hyperlink" Target="https://azure.microsoft.com/en-us/pricing/details/container-apps/" TargetMode="External"/><Relationship Id="rId7" Type="http://schemas.openxmlformats.org/officeDocument/2006/relationships/hyperlink" Target="https://azure.microsoft.com/en-us/pricing/details/postgresql/flexible-server/" TargetMode="External"/><Relationship Id="rId8" Type="http://schemas.openxmlformats.org/officeDocument/2006/relationships/hyperlink" Target="https://www.decerto.com/us/post/ai-claims-decisioning-framework-2026-what-us-claims-leaders-told-us-about-how-decisions-actually-get-made" TargetMode="External"/><Relationship Id="rId9" Type="http://schemas.openxmlformats.org/officeDocument/2006/relationships/hyperlink" Target="https://www.bcg.com/publications/2024/transforming-customer-service-operations-with-genai" TargetMode="External"/><Relationship Id="rId10" Type="http://schemas.openxmlformats.org/officeDocument/2006/relationships/hyperlink" Target="https://www.glukhov.org/app-architecture/integration-patterns/dead-letter-queues/" TargetMode="External"/><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8"/>
        </a:solidFill>
      </p:bgPr>
    </p:bg>
    <p:spTree>
      <p:nvGrpSpPr>
        <p:cNvPr id="1" name=""/>
        <p:cNvGrpSpPr/>
        <p:nvPr/>
      </p:nvGrpSpPr>
      <p:grpSpPr>
        <a:xfrm>
          <a:off x="0" y="0"/>
          <a:ext cx="0" cy="0"/>
          <a:chOff x="0" y="0"/>
          <a:chExt cx="0" cy="0"/>
        </a:xfrm>
      </p:grpSpPr>
      <p:sp>
        <p:nvSpPr>
          <p:cNvPr id="2" name="Shape 0"/>
          <p:cNvSpPr/>
          <p:nvPr/>
        </p:nvSpPr>
        <p:spPr>
          <a:xfrm>
            <a:off x="0" y="0"/>
            <a:ext cx="12191695" cy="1060704"/>
          </a:xfrm>
          <a:prstGeom prst="rect">
            <a:avLst/>
          </a:prstGeom>
          <a:solidFill>
            <a:srgbClr val="0B3B3C"/>
          </a:solidFill>
          <a:ln/>
        </p:spPr>
      </p:sp>
      <p:sp>
        <p:nvSpPr>
          <p:cNvPr id="3" name="Shape 1"/>
          <p:cNvSpPr/>
          <p:nvPr/>
        </p:nvSpPr>
        <p:spPr>
          <a:xfrm>
            <a:off x="0" y="1060704"/>
            <a:ext cx="12191695" cy="45720"/>
          </a:xfrm>
          <a:prstGeom prst="rect">
            <a:avLst/>
          </a:prstGeom>
          <a:solidFill>
            <a:srgbClr val="0891B2"/>
          </a:solidFill>
          <a:ln/>
        </p:spPr>
      </p:sp>
      <p:sp>
        <p:nvSpPr>
          <p:cNvPr id="4" name="Text 2"/>
          <p:cNvSpPr txBox="1"/>
          <p:nvPr/>
        </p:nvSpPr>
        <p:spPr>
          <a:xfrm>
            <a:off x="8778240" y="155448"/>
            <a:ext cx="2953512" cy="237744"/>
          </a:xfrm>
          <a:prstGeom prst="rect">
            <a:avLst/>
          </a:prstGeom>
          <a:noFill/>
          <a:ln/>
        </p:spPr>
        <p:txBody>
          <a:bodyPr wrap="square" lIns="0" tIns="0" rIns="0" bIns="0" rtlCol="0" anchor="ctr"/>
          <a:lstStyle/>
          <a:p>
            <a:pPr algn="r" indent="0" marL="0">
              <a:buNone/>
            </a:pPr>
            <a:r>
              <a:rPr lang="en-US" sz="950" b="1" spc="160" kern="0" dirty="0">
                <a:solidFill>
                  <a:srgbClr val="7FB3B6"/>
                </a:solidFill>
                <a:latin typeface="Arial" pitchFamily="34" charset="0"/>
                <a:ea typeface="Arial" pitchFamily="34" charset="-122"/>
                <a:cs typeface="Arial" pitchFamily="34" charset="-120"/>
              </a:rPr>
              <a:t>EXECUTIVE SUMMARY</a:t>
            </a:r>
            <a:endParaRPr lang="en-US" sz="950" dirty="0"/>
          </a:p>
        </p:txBody>
      </p:sp>
      <p:sp>
        <p:nvSpPr>
          <p:cNvPr id="5" name="Text 3"/>
          <p:cNvSpPr txBox="1"/>
          <p:nvPr/>
        </p:nvSpPr>
        <p:spPr>
          <a:xfrm>
            <a:off x="457200" y="137160"/>
            <a:ext cx="8229600" cy="402336"/>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Redesigning intake gives the 10-person support team back 1.75 hours each, every day</a:t>
            </a:r>
            <a:endParaRPr lang="en-US" sz="1900" dirty="0"/>
          </a:p>
        </p:txBody>
      </p:sp>
      <p:sp>
        <p:nvSpPr>
          <p:cNvPr id="6" name="Text 4"/>
          <p:cNvSpPr txBox="1"/>
          <p:nvPr/>
        </p:nvSpPr>
        <p:spPr>
          <a:xfrm>
            <a:off x="457200" y="576072"/>
            <a:ext cx="11247120" cy="329184"/>
          </a:xfrm>
          <a:prstGeom prst="rect">
            <a:avLst/>
          </a:prstGeom>
          <a:noFill/>
          <a:ln/>
        </p:spPr>
        <p:txBody>
          <a:bodyPr wrap="square" lIns="0" tIns="0" rIns="0" bIns="0" rtlCol="0" anchor="ctr"/>
          <a:lstStyle/>
          <a:p>
            <a:pPr indent="0" marL="0">
              <a:buNone/>
            </a:pPr>
            <a:r>
              <a:rPr lang="en-US" sz="1050" dirty="0">
                <a:solidFill>
                  <a:srgbClr val="9FC9CB"/>
                </a:solidFill>
                <a:latin typeface="Arial" pitchFamily="34" charset="0"/>
                <a:ea typeface="Arial" pitchFamily="34" charset="-122"/>
                <a:cs typeface="Arial" pitchFamily="34" charset="-120"/>
              </a:rPr>
              <a:t>17.5 hours a day across the team — 2.8 full-time people · two thirds of that work goes to claims that were always going to close quietly · a person still decides anything adverse</a:t>
            </a:r>
            <a:endParaRPr lang="en-US" sz="1050" dirty="0"/>
          </a:p>
        </p:txBody>
      </p:sp>
      <p:sp>
        <p:nvSpPr>
          <p:cNvPr id="7" name="Shape 5"/>
          <p:cNvSpPr/>
          <p:nvPr/>
        </p:nvSpPr>
        <p:spPr>
          <a:xfrm>
            <a:off x="457200" y="1325880"/>
            <a:ext cx="3429000" cy="2487168"/>
          </a:xfrm>
          <a:prstGeom prst="roundRect">
            <a:avLst>
              <a:gd name="adj" fmla="val 2206"/>
            </a:avLst>
          </a:prstGeom>
          <a:solidFill>
            <a:srgbClr val="FDF3E3"/>
          </a:solidFill>
          <a:ln w="13970">
            <a:solidFill>
              <a:srgbClr val="D97706"/>
            </a:solidFill>
            <a:prstDash val="solid"/>
          </a:ln>
        </p:spPr>
      </p:sp>
      <p:sp>
        <p:nvSpPr>
          <p:cNvPr id="8" name="Text 6"/>
          <p:cNvSpPr txBox="1"/>
          <p:nvPr/>
        </p:nvSpPr>
        <p:spPr>
          <a:xfrm>
            <a:off x="658368" y="1463040"/>
            <a:ext cx="3026664" cy="219456"/>
          </a:xfrm>
          <a:prstGeom prst="rect">
            <a:avLst/>
          </a:prstGeom>
          <a:noFill/>
          <a:ln/>
        </p:spPr>
        <p:txBody>
          <a:bodyPr wrap="square" lIns="0" tIns="0" rIns="0" bIns="0" rtlCol="0" anchor="ctr"/>
          <a:lstStyle/>
          <a:p>
            <a:pPr indent="0" marL="0">
              <a:buNone/>
            </a:pPr>
            <a:r>
              <a:rPr lang="en-US" sz="880" b="1" spc="100" kern="0" dirty="0">
                <a:solidFill>
                  <a:srgbClr val="D97706"/>
                </a:solidFill>
                <a:latin typeface="Arial" pitchFamily="34" charset="0"/>
                <a:ea typeface="Arial" pitchFamily="34" charset="-122"/>
                <a:cs typeface="Arial" pitchFamily="34" charset="-120"/>
              </a:rPr>
              <a:t>TODAY</a:t>
            </a:r>
            <a:endParaRPr lang="en-US" sz="880" dirty="0"/>
          </a:p>
        </p:txBody>
      </p:sp>
      <p:sp>
        <p:nvSpPr>
          <p:cNvPr id="9" name="Text 7"/>
          <p:cNvSpPr txBox="1"/>
          <p:nvPr/>
        </p:nvSpPr>
        <p:spPr>
          <a:xfrm>
            <a:off x="658368" y="1728216"/>
            <a:ext cx="3026664" cy="365760"/>
          </a:xfrm>
          <a:prstGeom prst="rect">
            <a:avLst/>
          </a:prstGeom>
          <a:noFill/>
          <a:ln/>
        </p:spPr>
        <p:txBody>
          <a:bodyPr wrap="square" lIns="0" tIns="0" rIns="0" bIns="0" rtlCol="0" anchor="ctr"/>
          <a:lstStyle/>
          <a:p>
            <a:pPr indent="0" marL="0">
              <a:lnSpc>
                <a:spcPct val="115000"/>
              </a:lnSpc>
              <a:buNone/>
            </a:pPr>
            <a:r>
              <a:rPr lang="en-US" sz="900" dirty="0">
                <a:solidFill>
                  <a:srgbClr val="44403A"/>
                </a:solidFill>
                <a:latin typeface="Arial" pitchFamily="34" charset="0"/>
                <a:ea typeface="Arial" pitchFamily="34" charset="-122"/>
                <a:cs typeface="Arial" pitchFamily="34" charset="-120"/>
              </a:rPr>
              <a:t>What one claim costs a support-team member</a:t>
            </a:r>
            <a:endParaRPr lang="en-US" sz="900" dirty="0"/>
          </a:p>
        </p:txBody>
      </p:sp>
      <p:sp>
        <p:nvSpPr>
          <p:cNvPr id="10" name="Text 8"/>
          <p:cNvSpPr txBox="1"/>
          <p:nvPr/>
        </p:nvSpPr>
        <p:spPr>
          <a:xfrm>
            <a:off x="658368" y="2112264"/>
            <a:ext cx="3026664" cy="548640"/>
          </a:xfrm>
          <a:prstGeom prst="rect">
            <a:avLst/>
          </a:prstGeom>
          <a:noFill/>
          <a:ln/>
        </p:spPr>
        <p:txBody>
          <a:bodyPr wrap="square" lIns="0" tIns="0" rIns="0" bIns="0" rtlCol="0" anchor="ctr"/>
          <a:lstStyle/>
          <a:p>
            <a:pPr indent="0" marL="0">
              <a:buNone/>
            </a:pPr>
            <a:r>
              <a:rPr lang="en-US" sz="4200" b="1" dirty="0">
                <a:solidFill>
                  <a:srgbClr val="D97706"/>
                </a:solidFill>
                <a:latin typeface="Cambria" pitchFamily="34" charset="0"/>
                <a:ea typeface="Cambria" pitchFamily="34" charset="-122"/>
                <a:cs typeface="Cambria" pitchFamily="34" charset="-120"/>
              </a:rPr>
              <a:t>40</a:t>
            </a:r>
            <a:pPr indent="0" marL="0">
              <a:buNone/>
            </a:pPr>
            <a:r>
              <a:rPr lang="en-US" sz="1200" dirty="0">
                <a:solidFill>
                  <a:srgbClr val="6B6257"/>
                </a:solidFill>
                <a:latin typeface="Cambria" pitchFamily="34" charset="0"/>
                <a:ea typeface="Cambria" pitchFamily="34" charset="-122"/>
                <a:cs typeface="Cambria" pitchFamily="34" charset="-120"/>
              </a:rPr>
              <a:t>  minutes per claim</a:t>
            </a:r>
            <a:endParaRPr lang="en-US" sz="4200" dirty="0"/>
          </a:p>
        </p:txBody>
      </p:sp>
      <p:sp>
        <p:nvSpPr>
          <p:cNvPr id="11" name="Text 9"/>
          <p:cNvSpPr txBox="1"/>
          <p:nvPr/>
        </p:nvSpPr>
        <p:spPr>
          <a:xfrm>
            <a:off x="658368" y="2697480"/>
            <a:ext cx="3026664" cy="987552"/>
          </a:xfrm>
          <a:prstGeom prst="rect">
            <a:avLst/>
          </a:prstGeom>
          <a:noFill/>
          <a:ln/>
        </p:spPr>
        <p:txBody>
          <a:bodyPr wrap="square" lIns="0" tIns="0" rIns="0" bIns="0" rtlCol="0" anchor="ctr"/>
          <a:lstStyle/>
          <a:p>
            <a:pPr indent="0" marL="0">
              <a:lnSpc>
                <a:spcPct val="118000"/>
              </a:lnSpc>
              <a:buNone/>
            </a:pPr>
            <a:r>
              <a:rPr lang="en-US" sz="840" dirty="0">
                <a:solidFill>
                  <a:srgbClr val="44403A"/>
                </a:solidFill>
                <a:latin typeface="Arial" pitchFamily="34" charset="0"/>
                <a:ea typeface="Arial" pitchFamily="34" charset="-122"/>
                <a:cs typeface="Arial" pitchFamily="34" charset="-120"/>
              </a:rPr>
              <a:t>Reading and re-reading the report, opening attachments, chasing a missing CPR, switching between EASY, IDB, e-mail and paper. Plus 30% for breaks and interruptions.</a:t>
            </a:r>
            <a:endParaRPr lang="en-US" sz="840" dirty="0"/>
          </a:p>
        </p:txBody>
      </p:sp>
      <p:sp>
        <p:nvSpPr>
          <p:cNvPr id="12" name="Shape 10"/>
          <p:cNvSpPr/>
          <p:nvPr/>
        </p:nvSpPr>
        <p:spPr>
          <a:xfrm>
            <a:off x="4160520" y="1325880"/>
            <a:ext cx="3429000" cy="2487168"/>
          </a:xfrm>
          <a:prstGeom prst="roundRect">
            <a:avLst>
              <a:gd name="adj" fmla="val 2206"/>
            </a:avLst>
          </a:prstGeom>
          <a:solidFill>
            <a:srgbClr val="E4F4F8"/>
          </a:solidFill>
          <a:ln w="13970">
            <a:solidFill>
              <a:srgbClr val="0891B2"/>
            </a:solidFill>
            <a:prstDash val="solid"/>
          </a:ln>
        </p:spPr>
      </p:sp>
      <p:sp>
        <p:nvSpPr>
          <p:cNvPr id="13" name="Text 11"/>
          <p:cNvSpPr txBox="1"/>
          <p:nvPr/>
        </p:nvSpPr>
        <p:spPr>
          <a:xfrm>
            <a:off x="4361688" y="1463040"/>
            <a:ext cx="3026664" cy="219456"/>
          </a:xfrm>
          <a:prstGeom prst="rect">
            <a:avLst/>
          </a:prstGeom>
          <a:noFill/>
          <a:ln/>
        </p:spPr>
        <p:txBody>
          <a:bodyPr wrap="square" lIns="0" tIns="0" rIns="0" bIns="0" rtlCol="0" anchor="ctr"/>
          <a:lstStyle/>
          <a:p>
            <a:pPr indent="0" marL="0">
              <a:buNone/>
            </a:pPr>
            <a:r>
              <a:rPr lang="en-US" sz="880" b="1" spc="100" kern="0" dirty="0">
                <a:solidFill>
                  <a:srgbClr val="0891B2"/>
                </a:solidFill>
                <a:latin typeface="Arial" pitchFamily="34" charset="0"/>
                <a:ea typeface="Arial" pitchFamily="34" charset="-122"/>
                <a:cs typeface="Arial" pitchFamily="34" charset="-120"/>
              </a:rPr>
              <a:t>REDESIGNED</a:t>
            </a:r>
            <a:endParaRPr lang="en-US" sz="880" dirty="0"/>
          </a:p>
        </p:txBody>
      </p:sp>
      <p:sp>
        <p:nvSpPr>
          <p:cNvPr id="14" name="Text 12"/>
          <p:cNvSpPr txBox="1"/>
          <p:nvPr/>
        </p:nvSpPr>
        <p:spPr>
          <a:xfrm>
            <a:off x="4361688" y="1728216"/>
            <a:ext cx="3026664" cy="365760"/>
          </a:xfrm>
          <a:prstGeom prst="rect">
            <a:avLst/>
          </a:prstGeom>
          <a:noFill/>
          <a:ln/>
        </p:spPr>
        <p:txBody>
          <a:bodyPr wrap="square" lIns="0" tIns="0" rIns="0" bIns="0" rtlCol="0" anchor="ctr"/>
          <a:lstStyle/>
          <a:p>
            <a:pPr indent="0" marL="0">
              <a:lnSpc>
                <a:spcPct val="115000"/>
              </a:lnSpc>
              <a:buNone/>
            </a:pPr>
            <a:r>
              <a:rPr lang="en-US" sz="900" dirty="0">
                <a:solidFill>
                  <a:srgbClr val="34474A"/>
                </a:solidFill>
                <a:latin typeface="Arial" pitchFamily="34" charset="0"/>
                <a:ea typeface="Arial" pitchFamily="34" charset="-122"/>
                <a:cs typeface="Arial" pitchFamily="34" charset="-120"/>
              </a:rPr>
              <a:t>The same checks and the same exits, reordered</a:t>
            </a:r>
            <a:endParaRPr lang="en-US" sz="900" dirty="0"/>
          </a:p>
        </p:txBody>
      </p:sp>
      <p:sp>
        <p:nvSpPr>
          <p:cNvPr id="15" name="Text 13"/>
          <p:cNvSpPr txBox="1"/>
          <p:nvPr/>
        </p:nvSpPr>
        <p:spPr>
          <a:xfrm>
            <a:off x="4361688" y="2112264"/>
            <a:ext cx="3026664" cy="548640"/>
          </a:xfrm>
          <a:prstGeom prst="rect">
            <a:avLst/>
          </a:prstGeom>
          <a:noFill/>
          <a:ln/>
        </p:spPr>
        <p:txBody>
          <a:bodyPr wrap="square" lIns="0" tIns="0" rIns="0" bIns="0" rtlCol="0" anchor="ctr"/>
          <a:lstStyle/>
          <a:p>
            <a:pPr indent="0" marL="0">
              <a:buNone/>
            </a:pPr>
            <a:r>
              <a:rPr lang="en-US" sz="4200" b="1" dirty="0">
                <a:solidFill>
                  <a:srgbClr val="0891B2"/>
                </a:solidFill>
                <a:latin typeface="Cambria" pitchFamily="34" charset="0"/>
                <a:ea typeface="Cambria" pitchFamily="34" charset="-122"/>
                <a:cs typeface="Cambria" pitchFamily="34" charset="-120"/>
              </a:rPr>
              <a:t>19</a:t>
            </a:r>
            <a:pPr indent="0" marL="0">
              <a:buNone/>
            </a:pPr>
            <a:r>
              <a:rPr lang="en-US" sz="1200" dirty="0">
                <a:solidFill>
                  <a:srgbClr val="5A6E70"/>
                </a:solidFill>
                <a:latin typeface="Cambria" pitchFamily="34" charset="0"/>
                <a:ea typeface="Cambria" pitchFamily="34" charset="-122"/>
                <a:cs typeface="Cambria" pitchFamily="34" charset="-120"/>
              </a:rPr>
              <a:t>  minutes per claim</a:t>
            </a:r>
            <a:endParaRPr lang="en-US" sz="4200" dirty="0"/>
          </a:p>
        </p:txBody>
      </p:sp>
      <p:sp>
        <p:nvSpPr>
          <p:cNvPr id="16" name="Text 14"/>
          <p:cNvSpPr txBox="1"/>
          <p:nvPr/>
        </p:nvSpPr>
        <p:spPr>
          <a:xfrm>
            <a:off x="4361688" y="2697480"/>
            <a:ext cx="3026664" cy="987552"/>
          </a:xfrm>
          <a:prstGeom prst="rect">
            <a:avLst/>
          </a:prstGeom>
          <a:noFill/>
          <a:ln/>
        </p:spPr>
        <p:txBody>
          <a:bodyPr wrap="square" lIns="0" tIns="0" rIns="0" bIns="0" rtlCol="0" anchor="ctr"/>
          <a:lstStyle/>
          <a:p>
            <a:pPr indent="0" marL="0">
              <a:lnSpc>
                <a:spcPct val="118000"/>
              </a:lnSpc>
              <a:buNone/>
            </a:pPr>
            <a:r>
              <a:rPr lang="en-US" sz="840" dirty="0">
                <a:solidFill>
                  <a:srgbClr val="34474A"/>
                </a:solidFill>
                <a:latin typeface="Arial" pitchFamily="34" charset="0"/>
                <a:ea typeface="Arial" pitchFamily="34" charset="-122"/>
                <a:cs typeface="Arial" pitchFamily="34" charset="-120"/>
              </a:rPr>
              <a:t>A 52% cut, not the 75% the design allows: handlers will re-check drafts before they trust them. Four AI agents, one rules-only step, two human checkpoints.</a:t>
            </a:r>
            <a:endParaRPr lang="en-US" sz="840" dirty="0"/>
          </a:p>
        </p:txBody>
      </p:sp>
      <p:sp>
        <p:nvSpPr>
          <p:cNvPr id="17" name="Shape 15"/>
          <p:cNvSpPr/>
          <p:nvPr/>
        </p:nvSpPr>
        <p:spPr>
          <a:xfrm>
            <a:off x="7863840" y="1325880"/>
            <a:ext cx="3867912" cy="2487168"/>
          </a:xfrm>
          <a:prstGeom prst="roundRect">
            <a:avLst>
              <a:gd name="adj" fmla="val 2206"/>
            </a:avLst>
          </a:prstGeom>
          <a:solidFill>
            <a:srgbClr val="EDECFB"/>
          </a:solidFill>
          <a:ln w="13970">
            <a:solidFill>
              <a:srgbClr val="4338CA"/>
            </a:solidFill>
            <a:prstDash val="solid"/>
          </a:ln>
        </p:spPr>
      </p:sp>
      <p:sp>
        <p:nvSpPr>
          <p:cNvPr id="18" name="Text 16"/>
          <p:cNvSpPr txBox="1"/>
          <p:nvPr/>
        </p:nvSpPr>
        <p:spPr>
          <a:xfrm>
            <a:off x="8065008" y="1463040"/>
            <a:ext cx="3465576" cy="219456"/>
          </a:xfrm>
          <a:prstGeom prst="rect">
            <a:avLst/>
          </a:prstGeom>
          <a:noFill/>
          <a:ln/>
        </p:spPr>
        <p:txBody>
          <a:bodyPr wrap="square" lIns="0" tIns="0" rIns="0" bIns="0" rtlCol="0" anchor="ctr"/>
          <a:lstStyle/>
          <a:p>
            <a:pPr indent="0" marL="0">
              <a:buNone/>
            </a:pPr>
            <a:r>
              <a:rPr lang="en-US" sz="880" b="1" spc="100" kern="0" dirty="0">
                <a:solidFill>
                  <a:srgbClr val="4338CA"/>
                </a:solidFill>
                <a:latin typeface="Arial" pitchFamily="34" charset="0"/>
                <a:ea typeface="Arial" pitchFamily="34" charset="-122"/>
                <a:cs typeface="Arial" pitchFamily="34" charset="-120"/>
              </a:rPr>
              <a:t>WHERE THE EFFORT ACTUALLY GOES</a:t>
            </a:r>
            <a:endParaRPr lang="en-US" sz="880" dirty="0"/>
          </a:p>
        </p:txBody>
      </p:sp>
      <p:sp>
        <p:nvSpPr>
          <p:cNvPr id="19" name="Shape 17"/>
          <p:cNvSpPr/>
          <p:nvPr/>
        </p:nvSpPr>
        <p:spPr>
          <a:xfrm>
            <a:off x="8065008" y="1746504"/>
            <a:ext cx="50292" cy="530352"/>
          </a:xfrm>
          <a:prstGeom prst="rect">
            <a:avLst/>
          </a:prstGeom>
          <a:solidFill>
            <a:srgbClr val="4338CA"/>
          </a:solidFill>
          <a:ln/>
        </p:spPr>
      </p:sp>
      <p:sp>
        <p:nvSpPr>
          <p:cNvPr id="20" name="Text 18"/>
          <p:cNvSpPr txBox="1"/>
          <p:nvPr/>
        </p:nvSpPr>
        <p:spPr>
          <a:xfrm>
            <a:off x="8193024" y="1709928"/>
            <a:ext cx="658368" cy="274320"/>
          </a:xfrm>
          <a:prstGeom prst="rect">
            <a:avLst/>
          </a:prstGeom>
          <a:noFill/>
          <a:ln/>
        </p:spPr>
        <p:txBody>
          <a:bodyPr wrap="square" lIns="0" tIns="0" rIns="0" bIns="0" rtlCol="0" anchor="ctr"/>
          <a:lstStyle/>
          <a:p>
            <a:pPr indent="0" marL="0">
              <a:buNone/>
            </a:pPr>
            <a:r>
              <a:rPr lang="en-US" sz="1700" b="1" dirty="0">
                <a:solidFill>
                  <a:srgbClr val="4338CA"/>
                </a:solidFill>
                <a:latin typeface="Cambria" pitchFamily="34" charset="0"/>
                <a:ea typeface="Cambria" pitchFamily="34" charset="-122"/>
                <a:cs typeface="Cambria" pitchFamily="34" charset="-120"/>
              </a:rPr>
              <a:t>5%</a:t>
            </a:r>
            <a:endParaRPr lang="en-US" sz="1700" dirty="0"/>
          </a:p>
        </p:txBody>
      </p:sp>
      <p:sp>
        <p:nvSpPr>
          <p:cNvPr id="21" name="Text 19"/>
          <p:cNvSpPr txBox="1"/>
          <p:nvPr/>
        </p:nvSpPr>
        <p:spPr>
          <a:xfrm>
            <a:off x="8887968" y="1700784"/>
            <a:ext cx="2642616" cy="219456"/>
          </a:xfrm>
          <a:prstGeom prst="rect">
            <a:avLst/>
          </a:prstGeom>
          <a:noFill/>
          <a:ln/>
        </p:spPr>
        <p:txBody>
          <a:bodyPr wrap="square" lIns="0" tIns="0" rIns="0" bIns="0" rtlCol="0" anchor="ctr"/>
          <a:lstStyle/>
          <a:p>
            <a:pPr indent="0" marL="0">
              <a:buNone/>
            </a:pPr>
            <a:r>
              <a:rPr lang="en-US" sz="930" b="1" dirty="0">
                <a:solidFill>
                  <a:srgbClr val="2A2A3E"/>
                </a:solidFill>
                <a:latin typeface="Arial" pitchFamily="34" charset="0"/>
                <a:ea typeface="Arial" pitchFamily="34" charset="-122"/>
                <a:cs typeface="Arial" pitchFamily="34" charset="-120"/>
              </a:rPr>
              <a:t>Models and machines</a:t>
            </a:r>
            <a:endParaRPr lang="en-US" sz="930" dirty="0"/>
          </a:p>
        </p:txBody>
      </p:sp>
      <p:sp>
        <p:nvSpPr>
          <p:cNvPr id="22" name="Text 20"/>
          <p:cNvSpPr txBox="1"/>
          <p:nvPr/>
        </p:nvSpPr>
        <p:spPr>
          <a:xfrm>
            <a:off x="8887968" y="1911096"/>
            <a:ext cx="2642616" cy="365760"/>
          </a:xfrm>
          <a:prstGeom prst="rect">
            <a:avLst/>
          </a:prstGeom>
          <a:noFill/>
          <a:ln/>
        </p:spPr>
        <p:txBody>
          <a:bodyPr wrap="square" lIns="0" tIns="0" rIns="0" bIns="0" rtlCol="0" anchor="ctr"/>
          <a:lstStyle/>
          <a:p>
            <a:pPr indent="0" marL="0">
              <a:lnSpc>
                <a:spcPct val="110000"/>
              </a:lnSpc>
              <a:buNone/>
            </a:pPr>
            <a:r>
              <a:rPr lang="en-US" sz="820" dirty="0">
                <a:solidFill>
                  <a:srgbClr val="4A4A5E"/>
                </a:solidFill>
                <a:latin typeface="Arial" pitchFamily="34" charset="0"/>
                <a:ea typeface="Arial" pitchFamily="34" charset="-122"/>
                <a:cs typeface="Arial" pitchFamily="34" charset="-120"/>
              </a:rPr>
              <a:t>€0.08 a claim · €2,400 a year</a:t>
            </a:r>
            <a:endParaRPr lang="en-US" sz="820" dirty="0"/>
          </a:p>
        </p:txBody>
      </p:sp>
      <p:sp>
        <p:nvSpPr>
          <p:cNvPr id="23" name="Shape 21"/>
          <p:cNvSpPr/>
          <p:nvPr/>
        </p:nvSpPr>
        <p:spPr>
          <a:xfrm>
            <a:off x="8065008" y="2350008"/>
            <a:ext cx="50292" cy="530352"/>
          </a:xfrm>
          <a:prstGeom prst="rect">
            <a:avLst/>
          </a:prstGeom>
          <a:solidFill>
            <a:srgbClr val="4338CA"/>
          </a:solidFill>
          <a:ln/>
        </p:spPr>
      </p:sp>
      <p:sp>
        <p:nvSpPr>
          <p:cNvPr id="24" name="Text 22"/>
          <p:cNvSpPr txBox="1"/>
          <p:nvPr/>
        </p:nvSpPr>
        <p:spPr>
          <a:xfrm>
            <a:off x="8193024" y="2313432"/>
            <a:ext cx="658368" cy="274320"/>
          </a:xfrm>
          <a:prstGeom prst="rect">
            <a:avLst/>
          </a:prstGeom>
          <a:noFill/>
          <a:ln/>
        </p:spPr>
        <p:txBody>
          <a:bodyPr wrap="square" lIns="0" tIns="0" rIns="0" bIns="0" rtlCol="0" anchor="ctr"/>
          <a:lstStyle/>
          <a:p>
            <a:pPr indent="0" marL="0">
              <a:buNone/>
            </a:pPr>
            <a:r>
              <a:rPr lang="en-US" sz="1700" b="1" dirty="0">
                <a:solidFill>
                  <a:srgbClr val="4338CA"/>
                </a:solidFill>
                <a:latin typeface="Cambria" pitchFamily="34" charset="0"/>
                <a:ea typeface="Cambria" pitchFamily="34" charset="-122"/>
                <a:cs typeface="Cambria" pitchFamily="34" charset="-120"/>
              </a:rPr>
              <a:t>25%</a:t>
            </a:r>
            <a:endParaRPr lang="en-US" sz="1700" dirty="0"/>
          </a:p>
        </p:txBody>
      </p:sp>
      <p:sp>
        <p:nvSpPr>
          <p:cNvPr id="25" name="Text 23"/>
          <p:cNvSpPr txBox="1"/>
          <p:nvPr/>
        </p:nvSpPr>
        <p:spPr>
          <a:xfrm>
            <a:off x="8887968" y="2304288"/>
            <a:ext cx="2642616" cy="219456"/>
          </a:xfrm>
          <a:prstGeom prst="rect">
            <a:avLst/>
          </a:prstGeom>
          <a:noFill/>
          <a:ln/>
        </p:spPr>
        <p:txBody>
          <a:bodyPr wrap="square" lIns="0" tIns="0" rIns="0" bIns="0" rtlCol="0" anchor="ctr"/>
          <a:lstStyle/>
          <a:p>
            <a:pPr indent="0" marL="0">
              <a:buNone/>
            </a:pPr>
            <a:r>
              <a:rPr lang="en-US" sz="930" b="1" dirty="0">
                <a:solidFill>
                  <a:srgbClr val="2A2A3E"/>
                </a:solidFill>
                <a:latin typeface="Arial" pitchFamily="34" charset="0"/>
                <a:ea typeface="Arial" pitchFamily="34" charset="-122"/>
                <a:cs typeface="Arial" pitchFamily="34" charset="-120"/>
              </a:rPr>
              <a:t>Plumbing and audit trail</a:t>
            </a:r>
            <a:endParaRPr lang="en-US" sz="930" dirty="0"/>
          </a:p>
        </p:txBody>
      </p:sp>
      <p:sp>
        <p:nvSpPr>
          <p:cNvPr id="26" name="Text 24"/>
          <p:cNvSpPr txBox="1"/>
          <p:nvPr/>
        </p:nvSpPr>
        <p:spPr>
          <a:xfrm>
            <a:off x="8887968" y="2514600"/>
            <a:ext cx="2642616" cy="365760"/>
          </a:xfrm>
          <a:prstGeom prst="rect">
            <a:avLst/>
          </a:prstGeom>
          <a:noFill/>
          <a:ln/>
        </p:spPr>
        <p:txBody>
          <a:bodyPr wrap="square" lIns="0" tIns="0" rIns="0" bIns="0" rtlCol="0" anchor="ctr"/>
          <a:lstStyle/>
          <a:p>
            <a:pPr indent="0" marL="0">
              <a:lnSpc>
                <a:spcPct val="110000"/>
              </a:lnSpc>
              <a:buNone/>
            </a:pPr>
            <a:r>
              <a:rPr lang="en-US" sz="820" dirty="0">
                <a:solidFill>
                  <a:srgbClr val="4A4A5E"/>
                </a:solidFill>
                <a:latin typeface="Arial" pitchFamily="34" charset="0"/>
                <a:ea typeface="Arial" pitchFamily="34" charset="-122"/>
                <a:cs typeface="Arial" pitchFamily="34" charset="-120"/>
              </a:rPr>
              <a:t>EASY/IDB wiring, logging every decision</a:t>
            </a:r>
            <a:endParaRPr lang="en-US" sz="820" dirty="0"/>
          </a:p>
        </p:txBody>
      </p:sp>
      <p:sp>
        <p:nvSpPr>
          <p:cNvPr id="27" name="Shape 25"/>
          <p:cNvSpPr/>
          <p:nvPr/>
        </p:nvSpPr>
        <p:spPr>
          <a:xfrm>
            <a:off x="8065008" y="2953512"/>
            <a:ext cx="50292" cy="530352"/>
          </a:xfrm>
          <a:prstGeom prst="rect">
            <a:avLst/>
          </a:prstGeom>
          <a:solidFill>
            <a:srgbClr val="4338CA"/>
          </a:solidFill>
          <a:ln/>
        </p:spPr>
      </p:sp>
      <p:sp>
        <p:nvSpPr>
          <p:cNvPr id="28" name="Text 26"/>
          <p:cNvSpPr txBox="1"/>
          <p:nvPr/>
        </p:nvSpPr>
        <p:spPr>
          <a:xfrm>
            <a:off x="8193024" y="2916936"/>
            <a:ext cx="658368" cy="274320"/>
          </a:xfrm>
          <a:prstGeom prst="rect">
            <a:avLst/>
          </a:prstGeom>
          <a:noFill/>
          <a:ln/>
        </p:spPr>
        <p:txBody>
          <a:bodyPr wrap="square" lIns="0" tIns="0" rIns="0" bIns="0" rtlCol="0" anchor="ctr"/>
          <a:lstStyle/>
          <a:p>
            <a:pPr indent="0" marL="0">
              <a:buNone/>
            </a:pPr>
            <a:r>
              <a:rPr lang="en-US" sz="1700" b="1" dirty="0">
                <a:solidFill>
                  <a:srgbClr val="4338CA"/>
                </a:solidFill>
                <a:latin typeface="Cambria" pitchFamily="34" charset="0"/>
                <a:ea typeface="Cambria" pitchFamily="34" charset="-122"/>
                <a:cs typeface="Cambria" pitchFamily="34" charset="-120"/>
              </a:rPr>
              <a:t>70%</a:t>
            </a:r>
            <a:endParaRPr lang="en-US" sz="1700" dirty="0"/>
          </a:p>
        </p:txBody>
      </p:sp>
      <p:sp>
        <p:nvSpPr>
          <p:cNvPr id="29" name="Text 27"/>
          <p:cNvSpPr txBox="1"/>
          <p:nvPr/>
        </p:nvSpPr>
        <p:spPr>
          <a:xfrm>
            <a:off x="8887968" y="2907792"/>
            <a:ext cx="2642616" cy="219456"/>
          </a:xfrm>
          <a:prstGeom prst="rect">
            <a:avLst/>
          </a:prstGeom>
          <a:noFill/>
          <a:ln/>
        </p:spPr>
        <p:txBody>
          <a:bodyPr wrap="square" lIns="0" tIns="0" rIns="0" bIns="0" rtlCol="0" anchor="ctr"/>
          <a:lstStyle/>
          <a:p>
            <a:pPr indent="0" marL="0">
              <a:buNone/>
            </a:pPr>
            <a:r>
              <a:rPr lang="en-US" sz="930" b="1" dirty="0">
                <a:solidFill>
                  <a:srgbClr val="2A2A3E"/>
                </a:solidFill>
                <a:latin typeface="Arial" pitchFamily="34" charset="0"/>
                <a:ea typeface="Arial" pitchFamily="34" charset="-122"/>
                <a:cs typeface="Arial" pitchFamily="34" charset="-120"/>
              </a:rPr>
              <a:t>Process, training, trust</a:t>
            </a:r>
            <a:endParaRPr lang="en-US" sz="930" dirty="0"/>
          </a:p>
        </p:txBody>
      </p:sp>
      <p:sp>
        <p:nvSpPr>
          <p:cNvPr id="30" name="Text 28"/>
          <p:cNvSpPr txBox="1"/>
          <p:nvPr/>
        </p:nvSpPr>
        <p:spPr>
          <a:xfrm>
            <a:off x="8887968" y="3118104"/>
            <a:ext cx="2642616" cy="365760"/>
          </a:xfrm>
          <a:prstGeom prst="rect">
            <a:avLst/>
          </a:prstGeom>
          <a:noFill/>
          <a:ln/>
        </p:spPr>
        <p:txBody>
          <a:bodyPr wrap="square" lIns="0" tIns="0" rIns="0" bIns="0" rtlCol="0" anchor="ctr"/>
          <a:lstStyle/>
          <a:p>
            <a:pPr indent="0" marL="0">
              <a:lnSpc>
                <a:spcPct val="110000"/>
              </a:lnSpc>
              <a:buNone/>
            </a:pPr>
            <a:r>
              <a:rPr lang="en-US" sz="820" dirty="0">
                <a:solidFill>
                  <a:srgbClr val="4A4A5E"/>
                </a:solidFill>
                <a:latin typeface="Arial" pitchFamily="34" charset="0"/>
                <a:ea typeface="Arial" pitchFamily="34" charset="-122"/>
                <a:cs typeface="Arial" pitchFamily="34" charset="-120"/>
              </a:rPr>
              <a:t>adoption is the real schedule risk</a:t>
            </a:r>
            <a:endParaRPr lang="en-US" sz="820" dirty="0"/>
          </a:p>
        </p:txBody>
      </p:sp>
      <p:sp>
        <p:nvSpPr>
          <p:cNvPr id="31" name="Text 29"/>
          <p:cNvSpPr txBox="1"/>
          <p:nvPr/>
        </p:nvSpPr>
        <p:spPr>
          <a:xfrm>
            <a:off x="8065008" y="3557016"/>
            <a:ext cx="3465576" cy="219456"/>
          </a:xfrm>
          <a:prstGeom prst="rect">
            <a:avLst/>
          </a:prstGeom>
          <a:noFill/>
          <a:ln/>
        </p:spPr>
        <p:txBody>
          <a:bodyPr wrap="square" lIns="0" tIns="0" rIns="0" bIns="0" rtlCol="0" anchor="ctr"/>
          <a:lstStyle/>
          <a:p>
            <a:pPr indent="0" marL="0">
              <a:buNone/>
            </a:pPr>
            <a:r>
              <a:rPr lang="en-US" sz="740" i="1" dirty="0">
                <a:solidFill>
                  <a:srgbClr val="5A5A6E"/>
                </a:solidFill>
                <a:latin typeface="Arial" pitchFamily="34" charset="0"/>
                <a:ea typeface="Arial" pitchFamily="34" charset="-122"/>
                <a:cs typeface="Arial" pitchFamily="34" charset="-120"/>
              </a:rPr>
              <a:t>Follows BCG's 10-20-70 rule, adjusted for this process</a:t>
            </a:r>
            <a:endParaRPr lang="en-US" sz="740" dirty="0"/>
          </a:p>
        </p:txBody>
      </p:sp>
      <p:sp>
        <p:nvSpPr>
          <p:cNvPr id="32" name="Shape 30"/>
          <p:cNvSpPr/>
          <p:nvPr/>
        </p:nvSpPr>
        <p:spPr>
          <a:xfrm>
            <a:off x="457200" y="3968496"/>
            <a:ext cx="2627071" cy="914400"/>
          </a:xfrm>
          <a:prstGeom prst="roundRect">
            <a:avLst>
              <a:gd name="adj" fmla="val 6000"/>
            </a:avLst>
          </a:prstGeom>
          <a:solidFill>
            <a:srgbClr val="FFFFFF"/>
          </a:solidFill>
          <a:ln w="17780">
            <a:solidFill>
              <a:srgbClr val="D97706"/>
            </a:solidFill>
            <a:prstDash val="solid"/>
          </a:ln>
        </p:spPr>
      </p:sp>
      <p:sp>
        <p:nvSpPr>
          <p:cNvPr id="33" name="Text 31"/>
          <p:cNvSpPr txBox="1"/>
          <p:nvPr/>
        </p:nvSpPr>
        <p:spPr>
          <a:xfrm>
            <a:off x="621792" y="4032504"/>
            <a:ext cx="2297887" cy="384048"/>
          </a:xfrm>
          <a:prstGeom prst="rect">
            <a:avLst/>
          </a:prstGeom>
          <a:noFill/>
          <a:ln/>
        </p:spPr>
        <p:txBody>
          <a:bodyPr wrap="square" lIns="0" tIns="0" rIns="0" bIns="0" rtlCol="0" anchor="ctr"/>
          <a:lstStyle/>
          <a:p>
            <a:pPr indent="0" marL="0">
              <a:buNone/>
            </a:pPr>
            <a:r>
              <a:rPr lang="en-US" sz="2000" b="1" dirty="0">
                <a:solidFill>
                  <a:srgbClr val="D97706"/>
                </a:solidFill>
                <a:latin typeface="Cambria" pitchFamily="34" charset="0"/>
                <a:ea typeface="Cambria" pitchFamily="34" charset="-122"/>
                <a:cs typeface="Cambria" pitchFamily="34" charset="-120"/>
              </a:rPr>
              <a:t>1.75 h</a:t>
            </a:r>
            <a:endParaRPr lang="en-US" sz="2000" dirty="0"/>
          </a:p>
        </p:txBody>
      </p:sp>
      <p:sp>
        <p:nvSpPr>
          <p:cNvPr id="34" name="Text 32"/>
          <p:cNvSpPr txBox="1"/>
          <p:nvPr/>
        </p:nvSpPr>
        <p:spPr>
          <a:xfrm>
            <a:off x="621792" y="4416552"/>
            <a:ext cx="2297887" cy="402336"/>
          </a:xfrm>
          <a:prstGeom prst="rect">
            <a:avLst/>
          </a:prstGeom>
          <a:noFill/>
          <a:ln/>
        </p:spPr>
        <p:txBody>
          <a:bodyPr wrap="square" lIns="0" tIns="0" rIns="0" bIns="0" rtlCol="0" anchor="ctr"/>
          <a:lstStyle/>
          <a:p>
            <a:pPr indent="0" marL="0">
              <a:lnSpc>
                <a:spcPct val="115000"/>
              </a:lnSpc>
              <a:buNone/>
            </a:pPr>
            <a:r>
              <a:rPr lang="en-US" sz="840" dirty="0">
                <a:solidFill>
                  <a:srgbClr val="4A4A4A"/>
                </a:solidFill>
                <a:latin typeface="Arial" pitchFamily="34" charset="0"/>
                <a:ea typeface="Arial" pitchFamily="34" charset="-122"/>
                <a:cs typeface="Arial" pitchFamily="34" charset="-120"/>
              </a:rPr>
              <a:t>freed per support-team member, every working day (of 6.4 productive hours)</a:t>
            </a:r>
            <a:endParaRPr lang="en-US" sz="840" dirty="0"/>
          </a:p>
        </p:txBody>
      </p:sp>
      <p:sp>
        <p:nvSpPr>
          <p:cNvPr id="35" name="Shape 33"/>
          <p:cNvSpPr/>
          <p:nvPr/>
        </p:nvSpPr>
        <p:spPr>
          <a:xfrm>
            <a:off x="3340303" y="3968496"/>
            <a:ext cx="2627071" cy="914400"/>
          </a:xfrm>
          <a:prstGeom prst="roundRect">
            <a:avLst>
              <a:gd name="adj" fmla="val 6000"/>
            </a:avLst>
          </a:prstGeom>
          <a:solidFill>
            <a:srgbClr val="FFFFFF"/>
          </a:solidFill>
          <a:ln w="17780">
            <a:solidFill>
              <a:srgbClr val="0891B2"/>
            </a:solidFill>
            <a:prstDash val="solid"/>
          </a:ln>
        </p:spPr>
      </p:sp>
      <p:sp>
        <p:nvSpPr>
          <p:cNvPr id="36" name="Text 34"/>
          <p:cNvSpPr txBox="1"/>
          <p:nvPr/>
        </p:nvSpPr>
        <p:spPr>
          <a:xfrm>
            <a:off x="3504895" y="4032504"/>
            <a:ext cx="2297887" cy="384048"/>
          </a:xfrm>
          <a:prstGeom prst="rect">
            <a:avLst/>
          </a:prstGeom>
          <a:noFill/>
          <a:ln/>
        </p:spPr>
        <p:txBody>
          <a:bodyPr wrap="square" lIns="0" tIns="0" rIns="0" bIns="0" rtlCol="0" anchor="ctr"/>
          <a:lstStyle/>
          <a:p>
            <a:pPr indent="0" marL="0">
              <a:buNone/>
            </a:pPr>
            <a:r>
              <a:rPr lang="en-US" sz="2000" b="1" dirty="0">
                <a:solidFill>
                  <a:srgbClr val="0891B2"/>
                </a:solidFill>
                <a:latin typeface="Cambria" pitchFamily="34" charset="0"/>
                <a:ea typeface="Cambria" pitchFamily="34" charset="-122"/>
                <a:cs typeface="Cambria" pitchFamily="34" charset="-120"/>
              </a:rPr>
              <a:t>17.5 h</a:t>
            </a:r>
            <a:endParaRPr lang="en-US" sz="2000" dirty="0"/>
          </a:p>
        </p:txBody>
      </p:sp>
      <p:sp>
        <p:nvSpPr>
          <p:cNvPr id="37" name="Text 35"/>
          <p:cNvSpPr txBox="1"/>
          <p:nvPr/>
        </p:nvSpPr>
        <p:spPr>
          <a:xfrm>
            <a:off x="3504895" y="4416552"/>
            <a:ext cx="2297887" cy="402336"/>
          </a:xfrm>
          <a:prstGeom prst="rect">
            <a:avLst/>
          </a:prstGeom>
          <a:noFill/>
          <a:ln/>
        </p:spPr>
        <p:txBody>
          <a:bodyPr wrap="square" lIns="0" tIns="0" rIns="0" bIns="0" rtlCol="0" anchor="ctr"/>
          <a:lstStyle/>
          <a:p>
            <a:pPr indent="0" marL="0">
              <a:lnSpc>
                <a:spcPct val="115000"/>
              </a:lnSpc>
              <a:buNone/>
            </a:pPr>
            <a:r>
              <a:rPr lang="en-US" sz="840" dirty="0">
                <a:solidFill>
                  <a:srgbClr val="4A4A4A"/>
                </a:solidFill>
                <a:latin typeface="Arial" pitchFamily="34" charset="0"/>
                <a:ea typeface="Arial" pitchFamily="34" charset="-122"/>
                <a:cs typeface="Arial" pitchFamily="34" charset="-120"/>
              </a:rPr>
              <a:t>across the 10-person support team — 2.8 full-time people</a:t>
            </a:r>
            <a:endParaRPr lang="en-US" sz="840" dirty="0"/>
          </a:p>
        </p:txBody>
      </p:sp>
      <p:sp>
        <p:nvSpPr>
          <p:cNvPr id="38" name="Shape 36"/>
          <p:cNvSpPr/>
          <p:nvPr/>
        </p:nvSpPr>
        <p:spPr>
          <a:xfrm>
            <a:off x="6223406" y="3968496"/>
            <a:ext cx="2627071" cy="914400"/>
          </a:xfrm>
          <a:prstGeom prst="roundRect">
            <a:avLst>
              <a:gd name="adj" fmla="val 6000"/>
            </a:avLst>
          </a:prstGeom>
          <a:solidFill>
            <a:srgbClr val="FFFFFF"/>
          </a:solidFill>
          <a:ln w="17780">
            <a:solidFill>
              <a:srgbClr val="BE185D"/>
            </a:solidFill>
            <a:prstDash val="solid"/>
          </a:ln>
        </p:spPr>
      </p:sp>
      <p:sp>
        <p:nvSpPr>
          <p:cNvPr id="39" name="Text 37"/>
          <p:cNvSpPr txBox="1"/>
          <p:nvPr/>
        </p:nvSpPr>
        <p:spPr>
          <a:xfrm>
            <a:off x="6387998" y="4032504"/>
            <a:ext cx="2297887" cy="384048"/>
          </a:xfrm>
          <a:prstGeom prst="rect">
            <a:avLst/>
          </a:prstGeom>
          <a:noFill/>
          <a:ln/>
        </p:spPr>
        <p:txBody>
          <a:bodyPr wrap="square" lIns="0" tIns="0" rIns="0" bIns="0" rtlCol="0" anchor="ctr"/>
          <a:lstStyle/>
          <a:p>
            <a:pPr indent="0" marL="0">
              <a:buNone/>
            </a:pPr>
            <a:r>
              <a:rPr lang="en-US" sz="2000" b="1" dirty="0">
                <a:solidFill>
                  <a:srgbClr val="BE185D"/>
                </a:solidFill>
                <a:latin typeface="Cambria" pitchFamily="34" charset="0"/>
                <a:ea typeface="Cambria" pitchFamily="34" charset="-122"/>
                <a:cs typeface="Cambria" pitchFamily="34" charset="-120"/>
              </a:rPr>
              <a:t>€139k</a:t>
            </a:r>
            <a:endParaRPr lang="en-US" sz="2000" dirty="0"/>
          </a:p>
        </p:txBody>
      </p:sp>
      <p:sp>
        <p:nvSpPr>
          <p:cNvPr id="40" name="Text 38"/>
          <p:cNvSpPr txBox="1"/>
          <p:nvPr/>
        </p:nvSpPr>
        <p:spPr>
          <a:xfrm>
            <a:off x="6387998" y="4416552"/>
            <a:ext cx="2297887" cy="402336"/>
          </a:xfrm>
          <a:prstGeom prst="rect">
            <a:avLst/>
          </a:prstGeom>
          <a:noFill/>
          <a:ln/>
        </p:spPr>
        <p:txBody>
          <a:bodyPr wrap="square" lIns="0" tIns="0" rIns="0" bIns="0" rtlCol="0" anchor="ctr"/>
          <a:lstStyle/>
          <a:p>
            <a:pPr indent="0" marL="0">
              <a:lnSpc>
                <a:spcPct val="115000"/>
              </a:lnSpc>
              <a:buNone/>
            </a:pPr>
            <a:r>
              <a:rPr lang="en-US" sz="840" dirty="0">
                <a:solidFill>
                  <a:srgbClr val="4A4A4A"/>
                </a:solidFill>
                <a:latin typeface="Arial" pitchFamily="34" charset="0"/>
                <a:ea typeface="Arial" pitchFamily="34" charset="-122"/>
                <a:cs typeface="Arial" pitchFamily="34" charset="-120"/>
              </a:rPr>
              <a:t>value of that capacity, per year</a:t>
            </a:r>
            <a:endParaRPr lang="en-US" sz="840" dirty="0"/>
          </a:p>
        </p:txBody>
      </p:sp>
      <p:sp>
        <p:nvSpPr>
          <p:cNvPr id="41" name="Shape 39"/>
          <p:cNvSpPr/>
          <p:nvPr/>
        </p:nvSpPr>
        <p:spPr>
          <a:xfrm>
            <a:off x="9106510" y="3968496"/>
            <a:ext cx="2627071" cy="914400"/>
          </a:xfrm>
          <a:prstGeom prst="roundRect">
            <a:avLst>
              <a:gd name="adj" fmla="val 6000"/>
            </a:avLst>
          </a:prstGeom>
          <a:solidFill>
            <a:srgbClr val="FFFFFF"/>
          </a:solidFill>
          <a:ln w="17780">
            <a:solidFill>
              <a:srgbClr val="4338CA"/>
            </a:solidFill>
            <a:prstDash val="solid"/>
          </a:ln>
        </p:spPr>
      </p:sp>
      <p:sp>
        <p:nvSpPr>
          <p:cNvPr id="42" name="Text 40"/>
          <p:cNvSpPr txBox="1"/>
          <p:nvPr/>
        </p:nvSpPr>
        <p:spPr>
          <a:xfrm>
            <a:off x="9271102" y="4032504"/>
            <a:ext cx="2297887" cy="384048"/>
          </a:xfrm>
          <a:prstGeom prst="rect">
            <a:avLst/>
          </a:prstGeom>
          <a:noFill/>
          <a:ln/>
        </p:spPr>
        <p:txBody>
          <a:bodyPr wrap="square" lIns="0" tIns="0" rIns="0" bIns="0" rtlCol="0" anchor="ctr"/>
          <a:lstStyle/>
          <a:p>
            <a:pPr indent="0" marL="0">
              <a:buNone/>
            </a:pPr>
            <a:r>
              <a:rPr lang="en-US" sz="2000" b="1" dirty="0">
                <a:solidFill>
                  <a:srgbClr val="4338CA"/>
                </a:solidFill>
                <a:latin typeface="Cambria" pitchFamily="34" charset="0"/>
                <a:ea typeface="Cambria" pitchFamily="34" charset="-122"/>
                <a:cs typeface="Cambria" pitchFamily="34" charset="-120"/>
              </a:rPr>
              <a:t>16 mths</a:t>
            </a:r>
            <a:endParaRPr lang="en-US" sz="2000" dirty="0"/>
          </a:p>
        </p:txBody>
      </p:sp>
      <p:sp>
        <p:nvSpPr>
          <p:cNvPr id="43" name="Text 41"/>
          <p:cNvSpPr txBox="1"/>
          <p:nvPr/>
        </p:nvSpPr>
        <p:spPr>
          <a:xfrm>
            <a:off x="9271102" y="4416552"/>
            <a:ext cx="2297887" cy="402336"/>
          </a:xfrm>
          <a:prstGeom prst="rect">
            <a:avLst/>
          </a:prstGeom>
          <a:noFill/>
          <a:ln/>
        </p:spPr>
        <p:txBody>
          <a:bodyPr wrap="square" lIns="0" tIns="0" rIns="0" bIns="0" rtlCol="0" anchor="ctr"/>
          <a:lstStyle/>
          <a:p>
            <a:pPr indent="0" marL="0">
              <a:lnSpc>
                <a:spcPct val="115000"/>
              </a:lnSpc>
              <a:buNone/>
            </a:pPr>
            <a:r>
              <a:rPr lang="en-US" sz="840" dirty="0">
                <a:solidFill>
                  <a:srgbClr val="4A4A4A"/>
                </a:solidFill>
                <a:latin typeface="Arial" pitchFamily="34" charset="0"/>
                <a:ea typeface="Arial" pitchFamily="34" charset="-122"/>
                <a:cs typeface="Arial" pitchFamily="34" charset="-120"/>
              </a:rPr>
              <a:t>to pay back the one-off build of €146k</a:t>
            </a:r>
            <a:endParaRPr lang="en-US" sz="840" dirty="0"/>
          </a:p>
        </p:txBody>
      </p:sp>
      <p:sp>
        <p:nvSpPr>
          <p:cNvPr id="44" name="Shape 42"/>
          <p:cNvSpPr/>
          <p:nvPr/>
        </p:nvSpPr>
        <p:spPr>
          <a:xfrm>
            <a:off x="457200" y="5047488"/>
            <a:ext cx="5623560" cy="914400"/>
          </a:xfrm>
          <a:prstGeom prst="roundRect">
            <a:avLst>
              <a:gd name="adj" fmla="val 6000"/>
            </a:avLst>
          </a:prstGeom>
          <a:solidFill>
            <a:srgbClr val="FFFFFF"/>
          </a:solidFill>
          <a:ln w="12700">
            <a:solidFill>
              <a:srgbClr val="D7DCE2"/>
            </a:solidFill>
            <a:prstDash val="solid"/>
          </a:ln>
        </p:spPr>
      </p:sp>
      <p:sp>
        <p:nvSpPr>
          <p:cNvPr id="45" name="Text 43"/>
          <p:cNvSpPr txBox="1"/>
          <p:nvPr/>
        </p:nvSpPr>
        <p:spPr>
          <a:xfrm>
            <a:off x="621792" y="5047488"/>
            <a:ext cx="5303520" cy="914400"/>
          </a:xfrm>
          <a:prstGeom prst="rect">
            <a:avLst/>
          </a:prstGeom>
          <a:noFill/>
          <a:ln/>
        </p:spPr>
        <p:txBody>
          <a:bodyPr wrap="square" lIns="0" tIns="0" rIns="0" bIns="0" rtlCol="0" anchor="ctr"/>
          <a:lstStyle/>
          <a:p>
            <a:pPr indent="0" marL="0">
              <a:lnSpc>
                <a:spcPct val="118000"/>
              </a:lnSpc>
              <a:buNone/>
            </a:pPr>
            <a:r>
              <a:rPr lang="en-US" sz="850" b="1" dirty="0">
                <a:solidFill>
                  <a:srgbClr val="BE185D"/>
                </a:solidFill>
                <a:latin typeface="Arial" pitchFamily="34" charset="0"/>
                <a:ea typeface="Arial" pitchFamily="34" charset="-122"/>
                <a:cs typeface="Arial" pitchFamily="34" charset="-120"/>
              </a:rPr>
              <a:t>What “€139k” means:  </a:t>
            </a:r>
            <a:pPr indent="0" marL="0">
              <a:lnSpc>
                <a:spcPct val="118000"/>
              </a:lnSpc>
              <a:buNone/>
            </a:pPr>
            <a:r>
              <a:rPr lang="en-US" sz="850" dirty="0">
                <a:solidFill>
                  <a:srgbClr val="3A3A3A"/>
                </a:solidFill>
                <a:latin typeface="Arial" pitchFamily="34" charset="0"/>
                <a:ea typeface="Arial" pitchFamily="34" charset="-122"/>
                <a:cs typeface="Arial" pitchFamily="34" charset="-120"/>
              </a:rPr>
              <a:t>4,370 support-team hours a year × €31.83, the loaded cost of one of those hours. Valued at support pay (€41,100 gross), not claims-handler pay, because these are the hours actually freed. Capacity, not cash — it becomes money only if the hours go to the backlog or are absorbed by turnover.</a:t>
            </a:r>
            <a:endParaRPr lang="en-US" sz="850" dirty="0"/>
          </a:p>
        </p:txBody>
      </p:sp>
      <p:sp>
        <p:nvSpPr>
          <p:cNvPr id="46" name="Shape 44"/>
          <p:cNvSpPr/>
          <p:nvPr/>
        </p:nvSpPr>
        <p:spPr>
          <a:xfrm>
            <a:off x="6263640" y="5047488"/>
            <a:ext cx="5468112" cy="914400"/>
          </a:xfrm>
          <a:prstGeom prst="roundRect">
            <a:avLst>
              <a:gd name="adj" fmla="val 6000"/>
            </a:avLst>
          </a:prstGeom>
          <a:solidFill>
            <a:srgbClr val="FBE9F1"/>
          </a:solidFill>
          <a:ln w="15240">
            <a:solidFill>
              <a:srgbClr val="BE185D"/>
            </a:solidFill>
            <a:prstDash val="solid"/>
          </a:ln>
        </p:spPr>
      </p:sp>
      <p:sp>
        <p:nvSpPr>
          <p:cNvPr id="47" name="Text 45"/>
          <p:cNvSpPr txBox="1"/>
          <p:nvPr/>
        </p:nvSpPr>
        <p:spPr>
          <a:xfrm>
            <a:off x="6428232" y="5047488"/>
            <a:ext cx="5138928" cy="914400"/>
          </a:xfrm>
          <a:prstGeom prst="rect">
            <a:avLst/>
          </a:prstGeom>
          <a:noFill/>
          <a:ln/>
        </p:spPr>
        <p:txBody>
          <a:bodyPr wrap="square" lIns="0" tIns="0" rIns="0" bIns="0" rtlCol="0" anchor="ctr"/>
          <a:lstStyle/>
          <a:p>
            <a:pPr indent="0" marL="0">
              <a:lnSpc>
                <a:spcPct val="118000"/>
              </a:lnSpc>
              <a:buNone/>
            </a:pPr>
            <a:r>
              <a:rPr lang="en-US" sz="850" b="1" dirty="0">
                <a:solidFill>
                  <a:srgbClr val="BE185D"/>
                </a:solidFill>
                <a:latin typeface="Arial" pitchFamily="34" charset="0"/>
                <a:ea typeface="Arial" pitchFamily="34" charset="-122"/>
                <a:cs typeface="Arial" pitchFamily="34" charset="-120"/>
              </a:rPr>
              <a:t>So what:  </a:t>
            </a:r>
            <a:pPr indent="0" marL="0">
              <a:lnSpc>
                <a:spcPct val="118000"/>
              </a:lnSpc>
              <a:buNone/>
            </a:pPr>
            <a:r>
              <a:rPr lang="en-US" sz="850" dirty="0">
                <a:solidFill>
                  <a:srgbClr val="3A2A32"/>
                </a:solidFill>
                <a:latin typeface="Arial" pitchFamily="34" charset="0"/>
                <a:ea typeface="Arial" pitchFamily="34" charset="-122"/>
                <a:cs typeface="Arial" pitchFamily="34" charset="-120"/>
              </a:rPr>
              <a:t>cost is not what decides this. The AI costs €2,400 a year to run; keeping it healthy takes a quarter of an engineer, €24,400 — so €26,800 a year all in, against €139,100 of capacity released. What decides it is governance: proving a person reviewed anything that can go against a claimant, and whether handlers trust the drafts.</a:t>
            </a:r>
            <a:endParaRPr lang="en-US" sz="850" dirty="0"/>
          </a:p>
        </p:txBody>
      </p:sp>
      <p:sp>
        <p:nvSpPr>
          <p:cNvPr id="48" name="Text 46"/>
          <p:cNvSpPr txBox="1"/>
          <p:nvPr/>
        </p:nvSpPr>
        <p:spPr>
          <a:xfrm>
            <a:off x="457200" y="6053328"/>
            <a:ext cx="11274552" cy="256032"/>
          </a:xfrm>
          <a:prstGeom prst="rect">
            <a:avLst/>
          </a:prstGeom>
          <a:noFill/>
          <a:ln/>
        </p:spPr>
        <p:txBody>
          <a:bodyPr wrap="square" lIns="0" tIns="0" rIns="0" bIns="0" rtlCol="0" anchor="ctr"/>
          <a:lstStyle/>
          <a:p>
            <a:pPr indent="0" marL="0">
              <a:buNone/>
            </a:pPr>
            <a:r>
              <a:rPr lang="en-US" sz="760" i="1" dirty="0">
                <a:solidFill>
                  <a:srgbClr val="6A6A6A"/>
                </a:solidFill>
                <a:latin typeface="Arial" pitchFamily="34" charset="0"/>
                <a:ea typeface="Arial" pitchFamily="34" charset="-122"/>
                <a:cs typeface="Arial" pitchFamily="34" charset="-120"/>
              </a:rPr>
              <a:t>Conservative throughout: the 21-minute-per-claim saving is a three-point estimate (best 30 / likely 21 / worst 12), not the design maximum. Build-up on slide 9, sources on slide 10.</a:t>
            </a:r>
            <a:endParaRPr lang="en-US" sz="760" dirty="0"/>
          </a:p>
        </p:txBody>
      </p:sp>
      <p:sp>
        <p:nvSpPr>
          <p:cNvPr id="49" name="Text 47"/>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50" name="Text 48"/>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1 / 10</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18872"/>
            <a:ext cx="813816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Three ways in and a separate side-track diagram become one classified intake</a:t>
            </a:r>
            <a:endParaRPr lang="en-US" sz="1400" dirty="0"/>
          </a:p>
        </p:txBody>
      </p:sp>
      <p:sp>
        <p:nvSpPr>
          <p:cNvPr id="3" name="Text 1"/>
          <p:cNvSpPr txBox="1"/>
          <p:nvPr/>
        </p:nvSpPr>
        <p:spPr>
          <a:xfrm>
            <a:off x="365760" y="402336"/>
            <a:ext cx="10607040" cy="237744"/>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FNOL as it runs today (left) against the redesign (right) · first report to an opened, policy-linked claim</a:t>
            </a:r>
            <a:endParaRPr lang="en-US" sz="950" dirty="0"/>
          </a:p>
        </p:txBody>
      </p:sp>
      <p:sp>
        <p:nvSpPr>
          <p:cNvPr id="4" name="Text 2"/>
          <p:cNvSpPr txBox="1"/>
          <p:nvPr/>
        </p:nvSpPr>
        <p:spPr>
          <a:xfrm>
            <a:off x="8595360" y="146304"/>
            <a:ext cx="32278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FNOL REDESIGN · 1 OF 3</a:t>
            </a:r>
            <a:endParaRPr lang="en-US" sz="950" dirty="0"/>
          </a:p>
        </p:txBody>
      </p:sp>
      <p:sp>
        <p:nvSpPr>
          <p:cNvPr id="5" name="Shape 3"/>
          <p:cNvSpPr/>
          <p:nvPr/>
        </p:nvSpPr>
        <p:spPr>
          <a:xfrm>
            <a:off x="365760" y="713232"/>
            <a:ext cx="137160" cy="137160"/>
          </a:xfrm>
          <a:prstGeom prst="roundRect">
            <a:avLst>
              <a:gd name="adj" fmla="val 13333"/>
            </a:avLst>
          </a:prstGeom>
          <a:solidFill>
            <a:srgbClr val="E6F8F7"/>
          </a:solidFill>
          <a:ln w="12700">
            <a:solidFill>
              <a:srgbClr val="007A82"/>
            </a:solidFill>
            <a:prstDash val="solid"/>
          </a:ln>
        </p:spPr>
      </p:sp>
      <p:sp>
        <p:nvSpPr>
          <p:cNvPr id="6" name="Text 4"/>
          <p:cNvSpPr txBox="1"/>
          <p:nvPr/>
        </p:nvSpPr>
        <p:spPr>
          <a:xfrm>
            <a:off x="5669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Trigger / start</a:t>
            </a:r>
            <a:endParaRPr lang="en-US" sz="800" dirty="0"/>
          </a:p>
        </p:txBody>
      </p:sp>
      <p:sp>
        <p:nvSpPr>
          <p:cNvPr id="7" name="Shape 5"/>
          <p:cNvSpPr/>
          <p:nvPr/>
        </p:nvSpPr>
        <p:spPr>
          <a:xfrm>
            <a:off x="1691640" y="713232"/>
            <a:ext cx="137160" cy="137160"/>
          </a:xfrm>
          <a:prstGeom prst="roundRect">
            <a:avLst>
              <a:gd name="adj" fmla="val 13333"/>
            </a:avLst>
          </a:prstGeom>
          <a:solidFill>
            <a:srgbClr val="FFFFFF"/>
          </a:solidFill>
          <a:ln w="12700">
            <a:solidFill>
              <a:srgbClr val="5B7D80"/>
            </a:solidFill>
            <a:prstDash val="solid"/>
          </a:ln>
        </p:spPr>
      </p:sp>
      <p:sp>
        <p:nvSpPr>
          <p:cNvPr id="8" name="Text 6"/>
          <p:cNvSpPr txBox="1"/>
          <p:nvPr/>
        </p:nvSpPr>
        <p:spPr>
          <a:xfrm>
            <a:off x="18928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Step / decision</a:t>
            </a:r>
            <a:endParaRPr lang="en-US" sz="800" dirty="0"/>
          </a:p>
        </p:txBody>
      </p:sp>
      <p:sp>
        <p:nvSpPr>
          <p:cNvPr id="9" name="Shape 7"/>
          <p:cNvSpPr/>
          <p:nvPr/>
        </p:nvSpPr>
        <p:spPr>
          <a:xfrm>
            <a:off x="3063240" y="713232"/>
            <a:ext cx="137160" cy="137160"/>
          </a:xfrm>
          <a:prstGeom prst="roundRect">
            <a:avLst>
              <a:gd name="adj" fmla="val 13333"/>
            </a:avLst>
          </a:prstGeom>
          <a:solidFill>
            <a:srgbClr val="FCEFD6"/>
          </a:solidFill>
          <a:ln w="12700">
            <a:solidFill>
              <a:srgbClr val="EF9F27"/>
            </a:solidFill>
            <a:prstDash val="solid"/>
          </a:ln>
        </p:spPr>
      </p:sp>
      <p:sp>
        <p:nvSpPr>
          <p:cNvPr id="10" name="Text 8"/>
          <p:cNvSpPr txBox="1"/>
          <p:nvPr/>
        </p:nvSpPr>
        <p:spPr>
          <a:xfrm>
            <a:off x="3264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Exception / rework</a:t>
            </a:r>
            <a:endParaRPr lang="en-US" sz="800" dirty="0"/>
          </a:p>
        </p:txBody>
      </p:sp>
      <p:sp>
        <p:nvSpPr>
          <p:cNvPr id="11" name="Shape 9"/>
          <p:cNvSpPr/>
          <p:nvPr/>
        </p:nvSpPr>
        <p:spPr>
          <a:xfrm>
            <a:off x="4892040" y="713232"/>
            <a:ext cx="137160" cy="137160"/>
          </a:xfrm>
          <a:prstGeom prst="roundRect">
            <a:avLst>
              <a:gd name="adj" fmla="val 13333"/>
            </a:avLst>
          </a:prstGeom>
          <a:solidFill>
            <a:srgbClr val="EDF7DB"/>
          </a:solidFill>
          <a:ln w="12700">
            <a:solidFill>
              <a:srgbClr val="6FA01F"/>
            </a:solidFill>
            <a:prstDash val="solid"/>
          </a:ln>
        </p:spPr>
      </p:sp>
      <p:sp>
        <p:nvSpPr>
          <p:cNvPr id="12" name="Text 10"/>
          <p:cNvSpPr txBox="1"/>
          <p:nvPr/>
        </p:nvSpPr>
        <p:spPr>
          <a:xfrm>
            <a:off x="50932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Exit</a:t>
            </a:r>
            <a:endParaRPr lang="en-US" sz="800" dirty="0"/>
          </a:p>
        </p:txBody>
      </p:sp>
      <p:sp>
        <p:nvSpPr>
          <p:cNvPr id="13" name="Shape 11"/>
          <p:cNvSpPr/>
          <p:nvPr/>
        </p:nvSpPr>
        <p:spPr>
          <a:xfrm>
            <a:off x="6309360" y="713232"/>
            <a:ext cx="137160" cy="137160"/>
          </a:xfrm>
          <a:prstGeom prst="roundRect">
            <a:avLst>
              <a:gd name="adj" fmla="val 13333"/>
            </a:avLst>
          </a:prstGeom>
          <a:solidFill>
            <a:srgbClr val="E3EDF6"/>
          </a:solidFill>
          <a:ln w="12700">
            <a:solidFill>
              <a:srgbClr val="3B6FA0"/>
            </a:solidFill>
            <a:prstDash val="solid"/>
          </a:ln>
        </p:spPr>
      </p:sp>
      <p:sp>
        <p:nvSpPr>
          <p:cNvPr id="14" name="Text 12"/>
          <p:cNvSpPr txBox="1"/>
          <p:nvPr/>
        </p:nvSpPr>
        <p:spPr>
          <a:xfrm>
            <a:off x="65105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AI agent (LLM call)</a:t>
            </a:r>
            <a:endParaRPr lang="en-US" sz="800" dirty="0"/>
          </a:p>
        </p:txBody>
      </p:sp>
      <p:sp>
        <p:nvSpPr>
          <p:cNvPr id="15" name="Shape 13"/>
          <p:cNvSpPr/>
          <p:nvPr/>
        </p:nvSpPr>
        <p:spPr>
          <a:xfrm>
            <a:off x="8092440" y="713232"/>
            <a:ext cx="137160" cy="137160"/>
          </a:xfrm>
          <a:prstGeom prst="roundRect">
            <a:avLst>
              <a:gd name="adj" fmla="val 13333"/>
            </a:avLst>
          </a:prstGeom>
          <a:solidFill>
            <a:srgbClr val="ECEFF3"/>
          </a:solidFill>
          <a:ln w="12700">
            <a:solidFill>
              <a:srgbClr val="6B7787"/>
            </a:solidFill>
            <a:prstDash val="solid"/>
          </a:ln>
        </p:spPr>
      </p:sp>
      <p:sp>
        <p:nvSpPr>
          <p:cNvPr id="16" name="Text 14"/>
          <p:cNvSpPr txBox="1"/>
          <p:nvPr/>
        </p:nvSpPr>
        <p:spPr>
          <a:xfrm>
            <a:off x="82936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Rules only, no model</a:t>
            </a:r>
            <a:endParaRPr lang="en-US" sz="800" dirty="0"/>
          </a:p>
        </p:txBody>
      </p:sp>
      <p:sp>
        <p:nvSpPr>
          <p:cNvPr id="17" name="Shape 15"/>
          <p:cNvSpPr/>
          <p:nvPr/>
        </p:nvSpPr>
        <p:spPr>
          <a:xfrm>
            <a:off x="9921240" y="713232"/>
            <a:ext cx="137160" cy="137160"/>
          </a:xfrm>
          <a:prstGeom prst="roundRect">
            <a:avLst>
              <a:gd name="adj" fmla="val 13333"/>
            </a:avLst>
          </a:prstGeom>
          <a:solidFill>
            <a:srgbClr val="F1E6ED"/>
          </a:solidFill>
          <a:ln w="12700">
            <a:solidFill>
              <a:srgbClr val="7A4A66"/>
            </a:solidFill>
            <a:prstDash val="solid"/>
          </a:ln>
        </p:spPr>
      </p:sp>
      <p:sp>
        <p:nvSpPr>
          <p:cNvPr id="18" name="Text 16"/>
          <p:cNvSpPr txBox="1"/>
          <p:nvPr/>
        </p:nvSpPr>
        <p:spPr>
          <a:xfrm>
            <a:off x="10122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Human checkpoint</a:t>
            </a:r>
            <a:endParaRPr lang="en-US" sz="800" dirty="0"/>
          </a:p>
        </p:txBody>
      </p:sp>
      <p:sp>
        <p:nvSpPr>
          <p:cNvPr id="19" name="Shape 17"/>
          <p:cNvSpPr/>
          <p:nvPr/>
        </p:nvSpPr>
        <p:spPr>
          <a:xfrm>
            <a:off x="6062472" y="1024128"/>
            <a:ext cx="0" cy="5440680"/>
          </a:xfrm>
          <a:prstGeom prst="line">
            <a:avLst/>
          </a:prstGeom>
          <a:noFill/>
          <a:ln w="9525">
            <a:solidFill>
              <a:srgbClr val="D7DCE2"/>
            </a:solidFill>
            <a:prstDash val="solid"/>
          </a:ln>
        </p:spPr>
      </p:sp>
      <p:sp>
        <p:nvSpPr>
          <p:cNvPr id="20" name="Text 18"/>
          <p:cNvSpPr txBox="1"/>
          <p:nvPr/>
        </p:nvSpPr>
        <p:spPr>
          <a:xfrm>
            <a:off x="365760" y="1005840"/>
            <a:ext cx="5486400" cy="237744"/>
          </a:xfrm>
          <a:prstGeom prst="rect">
            <a:avLst/>
          </a:prstGeom>
          <a:noFill/>
          <a:ln/>
        </p:spPr>
        <p:txBody>
          <a:bodyPr wrap="square" lIns="0" tIns="0" rIns="0" bIns="0" rtlCol="0" anchor="ctr"/>
          <a:lstStyle/>
          <a:p>
            <a:pPr indent="0" marL="0">
              <a:buNone/>
            </a:pPr>
            <a:r>
              <a:rPr lang="en-US" sz="1150" b="1" dirty="0">
                <a:solidFill>
                  <a:srgbClr val="5B6472"/>
                </a:solidFill>
                <a:latin typeface="Arial" pitchFamily="34" charset="0"/>
                <a:ea typeface="Arial" pitchFamily="34" charset="-122"/>
                <a:cs typeface="Arial" pitchFamily="34" charset="-120"/>
              </a:rPr>
              <a:t>TODAY</a:t>
            </a:r>
            <a:endParaRPr lang="en-US" sz="1150" dirty="0"/>
          </a:p>
        </p:txBody>
      </p:sp>
      <p:sp>
        <p:nvSpPr>
          <p:cNvPr id="21" name="Text 19"/>
          <p:cNvSpPr txBox="1"/>
          <p:nvPr/>
        </p:nvSpPr>
        <p:spPr>
          <a:xfrm>
            <a:off x="6309360" y="1005840"/>
            <a:ext cx="5486400" cy="237744"/>
          </a:xfrm>
          <a:prstGeom prst="rect">
            <a:avLst/>
          </a:prstGeom>
          <a:noFill/>
          <a:ln/>
        </p:spPr>
        <p:txBody>
          <a:bodyPr wrap="square" lIns="0" tIns="0" rIns="0" bIns="0" rtlCol="0" anchor="ctr"/>
          <a:lstStyle/>
          <a:p>
            <a:pPr indent="0" marL="0">
              <a:buNone/>
            </a:pPr>
            <a:r>
              <a:rPr lang="en-US" sz="1150" b="1" dirty="0">
                <a:solidFill>
                  <a:srgbClr val="3B6FA0"/>
                </a:solidFill>
                <a:latin typeface="Arial" pitchFamily="34" charset="0"/>
                <a:ea typeface="Arial" pitchFamily="34" charset="-122"/>
                <a:cs typeface="Arial" pitchFamily="34" charset="-120"/>
              </a:rPr>
              <a:t>AI-NATIVE  </a:t>
            </a:r>
            <a:pPr indent="0" marL="0">
              <a:buNone/>
            </a:pPr>
            <a:r>
              <a:rPr lang="en-US" sz="850" i="1" dirty="0">
                <a:solidFill>
                  <a:srgbClr val="5B6472"/>
                </a:solidFill>
                <a:latin typeface="Arial" pitchFamily="34" charset="0"/>
                <a:ea typeface="Arial" pitchFamily="34" charset="-122"/>
                <a:cs typeface="Arial" pitchFamily="34" charset="-120"/>
              </a:rPr>
              <a:t>— one LangGraph state graph · shared claim state carries the audit trail</a:t>
            </a:r>
            <a:endParaRPr lang="en-US" sz="1150" dirty="0"/>
          </a:p>
        </p:txBody>
      </p:sp>
      <p:sp>
        <p:nvSpPr>
          <p:cNvPr id="22" name="Text 20"/>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23" name="Text 21"/>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2 / 10</a:t>
            </a:r>
            <a:endParaRPr lang="en-US" sz="800" dirty="0"/>
          </a:p>
        </p:txBody>
      </p:sp>
      <p:sp>
        <p:nvSpPr>
          <p:cNvPr id="24" name="Text 22"/>
          <p:cNvSpPr txBox="1"/>
          <p:nvPr/>
        </p:nvSpPr>
        <p:spPr>
          <a:xfrm>
            <a:off x="1005840" y="1417320"/>
            <a:ext cx="4206240" cy="378079"/>
          </a:xfrm>
          <a:prstGeom prst="roundRect">
            <a:avLst>
              <a:gd name="adj" fmla="val 9674"/>
            </a:avLst>
          </a:prstGeom>
          <a:solidFill>
            <a:srgbClr val="E6F8F7"/>
          </a:solidFill>
          <a:ln w="15875">
            <a:solidFill>
              <a:srgbClr val="007A82"/>
            </a:solidFill>
            <a:prstDash val="solid"/>
          </a:ln>
        </p:spPr>
        <p:txBody>
          <a:bodyPr wrap="square" lIns="38100" tIns="38100" rIns="38100" bIns="38100" rtlCol="0" anchor="ctr"/>
          <a:lstStyle/>
          <a:p>
            <a:pPr algn="ctr" indent="0" marL="0">
              <a:lnSpc>
                <a:spcPct val="108000"/>
              </a:lnSpc>
              <a:buNone/>
            </a:pPr>
            <a:r>
              <a:rPr lang="en-US" sz="950" dirty="0">
                <a:solidFill>
                  <a:srgbClr val="00373A"/>
                </a:solidFill>
                <a:latin typeface="Arial" pitchFamily="34" charset="0"/>
                <a:ea typeface="Arial" pitchFamily="34" charset="-122"/>
                <a:cs typeface="Arial" pitchFamily="34" charset="-120"/>
              </a:rPr>
              <a:t>First report filed</a:t>
            </a:r>
            <a:endParaRPr lang="en-US" sz="950" dirty="0"/>
          </a:p>
          <a:p>
            <a:pPr algn="ctr" indent="0" marL="0">
              <a:lnSpc>
                <a:spcPct val="108000"/>
              </a:lnSpc>
              <a:buNone/>
            </a:pPr>
            <a:r>
              <a:rPr lang="en-US" sz="950" dirty="0">
                <a:solidFill>
                  <a:srgbClr val="00373A"/>
                </a:solidFill>
                <a:latin typeface="Arial" pitchFamily="34" charset="0"/>
                <a:ea typeface="Arial" pitchFamily="34" charset="-122"/>
                <a:cs typeface="Arial" pitchFamily="34" charset="-120"/>
              </a:rPr>
              <a:t>(employer almost always; sometimes union or injured)</a:t>
            </a:r>
            <a:endParaRPr lang="en-US" sz="950" dirty="0"/>
          </a:p>
        </p:txBody>
      </p:sp>
      <p:sp>
        <p:nvSpPr>
          <p:cNvPr id="25" name="Shape 23"/>
          <p:cNvSpPr/>
          <p:nvPr/>
        </p:nvSpPr>
        <p:spPr>
          <a:xfrm>
            <a:off x="3108960" y="1783080"/>
            <a:ext cx="0" cy="365760"/>
          </a:xfrm>
          <a:prstGeom prst="line">
            <a:avLst/>
          </a:prstGeom>
          <a:noFill/>
          <a:ln w="12700">
            <a:solidFill>
              <a:srgbClr val="5B7D80"/>
            </a:solidFill>
            <a:prstDash val="solid"/>
            <a:tailEnd type="triangle"/>
          </a:ln>
        </p:spPr>
      </p:sp>
      <p:sp>
        <p:nvSpPr>
          <p:cNvPr id="26" name="Text 24"/>
          <p:cNvSpPr txBox="1"/>
          <p:nvPr/>
        </p:nvSpPr>
        <p:spPr>
          <a:xfrm>
            <a:off x="2240280" y="214884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Channel?</a:t>
            </a:r>
            <a:endParaRPr lang="en-US" sz="950" dirty="0"/>
          </a:p>
        </p:txBody>
      </p:sp>
      <p:sp>
        <p:nvSpPr>
          <p:cNvPr id="27" name="Shape 25"/>
          <p:cNvSpPr/>
          <p:nvPr/>
        </p:nvSpPr>
        <p:spPr>
          <a:xfrm>
            <a:off x="3977640" y="2468880"/>
            <a:ext cx="274320" cy="0"/>
          </a:xfrm>
          <a:prstGeom prst="line">
            <a:avLst/>
          </a:prstGeom>
          <a:noFill/>
          <a:ln w="12700">
            <a:solidFill>
              <a:srgbClr val="5B7D80"/>
            </a:solidFill>
            <a:prstDash val="solid"/>
            <a:tailEnd type="triangle"/>
          </a:ln>
        </p:spPr>
      </p:sp>
      <p:sp>
        <p:nvSpPr>
          <p:cNvPr id="28" name="Text 26"/>
          <p:cNvSpPr txBox="1"/>
          <p:nvPr/>
        </p:nvSpPr>
        <p:spPr>
          <a:xfrm>
            <a:off x="4251960" y="2032635"/>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Direct to AES, secure mail</a:t>
            </a:r>
            <a:endParaRPr lang="en-US" sz="800" dirty="0"/>
          </a:p>
        </p:txBody>
      </p:sp>
      <p:sp>
        <p:nvSpPr>
          <p:cNvPr id="29" name="Text 27"/>
          <p:cNvSpPr txBox="1"/>
          <p:nvPr/>
        </p:nvSpPr>
        <p:spPr>
          <a:xfrm>
            <a:off x="4251960" y="2252091"/>
            <a:ext cx="1463040" cy="433578"/>
          </a:xfrm>
          <a:prstGeom prst="roundRect">
            <a:avLst>
              <a:gd name="adj" fmla="val 8436"/>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AES already gathered the info — insurer only re-checks coverage</a:t>
            </a:r>
            <a:endParaRPr lang="en-US" sz="760" dirty="0"/>
          </a:p>
        </p:txBody>
      </p:sp>
      <p:sp>
        <p:nvSpPr>
          <p:cNvPr id="30" name="Shape 28"/>
          <p:cNvSpPr/>
          <p:nvPr/>
        </p:nvSpPr>
        <p:spPr>
          <a:xfrm flipH="1">
            <a:off x="1965960" y="2468880"/>
            <a:ext cx="274320" cy="0"/>
          </a:xfrm>
          <a:prstGeom prst="line">
            <a:avLst/>
          </a:prstGeom>
          <a:noFill/>
          <a:ln w="12700">
            <a:solidFill>
              <a:srgbClr val="5B7D80"/>
            </a:solidFill>
            <a:prstDash val="dash"/>
            <a:tailEnd type="triangle"/>
          </a:ln>
        </p:spPr>
      </p:sp>
      <p:sp>
        <p:nvSpPr>
          <p:cNvPr id="31" name="Text 29"/>
          <p:cNvSpPr txBox="1"/>
          <p:nvPr/>
        </p:nvSpPr>
        <p:spPr>
          <a:xfrm>
            <a:off x="411480" y="2085213"/>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Teeth/glasses: 'tooth' · email + invoices</a:t>
            </a:r>
            <a:endParaRPr lang="en-US" sz="800" dirty="0"/>
          </a:p>
        </p:txBody>
      </p:sp>
      <p:sp>
        <p:nvSpPr>
          <p:cNvPr id="32" name="Text 30"/>
          <p:cNvSpPr txBox="1"/>
          <p:nvPr/>
        </p:nvSpPr>
        <p:spPr>
          <a:xfrm>
            <a:off x="502920" y="2304669"/>
            <a:ext cx="1463040" cy="328422"/>
          </a:xfrm>
          <a:prstGeom prst="roundRect">
            <a:avLst>
              <a:gd name="adj" fmla="val 11137"/>
            </a:avLst>
          </a:prstGeom>
          <a:solidFill>
            <a:srgbClr val="FCEFD6"/>
          </a:solidFill>
          <a:ln w="15875">
            <a:solidFill>
              <a:srgbClr val="EF9F27"/>
            </a:solidFill>
            <a:prstDash val="dash"/>
          </a:ln>
        </p:spPr>
        <p:txBody>
          <a:bodyPr wrap="square" lIns="38100" tIns="38100" rIns="38100" bIns="38100" rtlCol="0" anchor="ctr"/>
          <a:lstStyle/>
          <a:p>
            <a:pPr algn="ctr" indent="0" marL="0">
              <a:lnSpc>
                <a:spcPct val="108000"/>
              </a:lnSpc>
              <a:buNone/>
            </a:pPr>
            <a:r>
              <a:rPr lang="en-US" sz="780" dirty="0">
                <a:solidFill>
                  <a:srgbClr val="6B4A10"/>
                </a:solidFill>
                <a:latin typeface="Arial" pitchFamily="34" charset="0"/>
                <a:ea typeface="Arial" pitchFamily="34" charset="-122"/>
                <a:cs typeface="Arial" pitchFamily="34" charset="-120"/>
              </a:rPr>
              <a:t>Side track — not PD/LOEC, see 1.1</a:t>
            </a:r>
            <a:endParaRPr lang="en-US" sz="780" dirty="0"/>
          </a:p>
        </p:txBody>
      </p:sp>
      <p:sp>
        <p:nvSpPr>
          <p:cNvPr id="33" name="Text 31"/>
          <p:cNvSpPr txBox="1"/>
          <p:nvPr/>
        </p:nvSpPr>
        <p:spPr>
          <a:xfrm>
            <a:off x="3218688" y="2798064"/>
            <a:ext cx="219456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EASY / IDB auto-import</a:t>
            </a:r>
            <a:endParaRPr lang="en-US" sz="800" dirty="0"/>
          </a:p>
        </p:txBody>
      </p:sp>
      <p:sp>
        <p:nvSpPr>
          <p:cNvPr id="34" name="Shape 32"/>
          <p:cNvSpPr/>
          <p:nvPr/>
        </p:nvSpPr>
        <p:spPr>
          <a:xfrm>
            <a:off x="3108960" y="2788920"/>
            <a:ext cx="0" cy="457200"/>
          </a:xfrm>
          <a:prstGeom prst="line">
            <a:avLst/>
          </a:prstGeom>
          <a:noFill/>
          <a:ln w="12700">
            <a:solidFill>
              <a:srgbClr val="5B7D80"/>
            </a:solidFill>
            <a:prstDash val="solid"/>
            <a:tailEnd type="triangle"/>
          </a:ln>
        </p:spPr>
      </p:sp>
      <p:sp>
        <p:nvSpPr>
          <p:cNvPr id="35" name="Text 33"/>
          <p:cNvSpPr txBox="1"/>
          <p:nvPr/>
        </p:nvSpPr>
        <p:spPr>
          <a:xfrm>
            <a:off x="2240280" y="32461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Auto-import</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worked?</a:t>
            </a:r>
            <a:endParaRPr lang="en-US" sz="950" dirty="0"/>
          </a:p>
        </p:txBody>
      </p:sp>
      <p:sp>
        <p:nvSpPr>
          <p:cNvPr id="36" name="Shape 34"/>
          <p:cNvSpPr/>
          <p:nvPr/>
        </p:nvSpPr>
        <p:spPr>
          <a:xfrm flipH="1">
            <a:off x="1965960" y="3566160"/>
            <a:ext cx="274320" cy="0"/>
          </a:xfrm>
          <a:prstGeom prst="line">
            <a:avLst/>
          </a:prstGeom>
          <a:noFill/>
          <a:ln w="12700">
            <a:solidFill>
              <a:srgbClr val="5B7D80"/>
            </a:solidFill>
            <a:prstDash val="solid"/>
            <a:tailEnd type="triangle"/>
          </a:ln>
        </p:spPr>
      </p:sp>
      <p:sp>
        <p:nvSpPr>
          <p:cNvPr id="37" name="Text 35"/>
          <p:cNvSpPr txBox="1"/>
          <p:nvPr/>
        </p:nvSpPr>
        <p:spPr>
          <a:xfrm>
            <a:off x="411480" y="3234341"/>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No</a:t>
            </a:r>
            <a:endParaRPr lang="en-US" sz="800" dirty="0"/>
          </a:p>
        </p:txBody>
      </p:sp>
      <p:sp>
        <p:nvSpPr>
          <p:cNvPr id="38" name="Text 36"/>
          <p:cNvSpPr txBox="1"/>
          <p:nvPr/>
        </p:nvSpPr>
        <p:spPr>
          <a:xfrm>
            <a:off x="502920" y="3453797"/>
            <a:ext cx="1463040" cy="224727"/>
          </a:xfrm>
          <a:prstGeom prst="roundRect">
            <a:avLst>
              <a:gd name="adj" fmla="val 16276"/>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850" dirty="0">
                <a:solidFill>
                  <a:srgbClr val="6B4A10"/>
                </a:solidFill>
                <a:latin typeface="Arial" pitchFamily="34" charset="0"/>
                <a:ea typeface="Arial" pitchFamily="34" charset="-122"/>
                <a:cs typeface="Arial" pitchFamily="34" charset="-120"/>
              </a:rPr>
              <a:t>Manual claim creation</a:t>
            </a:r>
            <a:endParaRPr lang="en-US" sz="850" dirty="0"/>
          </a:p>
        </p:txBody>
      </p:sp>
      <p:sp>
        <p:nvSpPr>
          <p:cNvPr id="39" name="Shape 37"/>
          <p:cNvSpPr/>
          <p:nvPr/>
        </p:nvSpPr>
        <p:spPr>
          <a:xfrm>
            <a:off x="1965960" y="3678523"/>
            <a:ext cx="1143000" cy="481997"/>
          </a:xfrm>
          <a:prstGeom prst="line">
            <a:avLst/>
          </a:prstGeom>
          <a:noFill/>
          <a:ln w="12700">
            <a:solidFill>
              <a:srgbClr val="5B7D80"/>
            </a:solidFill>
            <a:prstDash val="solid"/>
            <a:tailEnd type="triangle"/>
          </a:ln>
        </p:spPr>
      </p:sp>
      <p:sp>
        <p:nvSpPr>
          <p:cNvPr id="40" name="Text 38"/>
          <p:cNvSpPr txBox="1"/>
          <p:nvPr/>
        </p:nvSpPr>
        <p:spPr>
          <a:xfrm>
            <a:off x="3218688" y="3913632"/>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Yes</a:t>
            </a:r>
            <a:endParaRPr lang="en-US" sz="800" dirty="0"/>
          </a:p>
        </p:txBody>
      </p:sp>
      <p:sp>
        <p:nvSpPr>
          <p:cNvPr id="41" name="Shape 39"/>
          <p:cNvSpPr/>
          <p:nvPr/>
        </p:nvSpPr>
        <p:spPr>
          <a:xfrm>
            <a:off x="3108960" y="3886200"/>
            <a:ext cx="0" cy="411480"/>
          </a:xfrm>
          <a:prstGeom prst="line">
            <a:avLst/>
          </a:prstGeom>
          <a:noFill/>
          <a:ln w="12700">
            <a:solidFill>
              <a:srgbClr val="5B7D80"/>
            </a:solidFill>
            <a:prstDash val="solid"/>
            <a:tailEnd type="triangle"/>
          </a:ln>
        </p:spPr>
      </p:sp>
      <p:sp>
        <p:nvSpPr>
          <p:cNvPr id="42" name="Shape 40"/>
          <p:cNvSpPr/>
          <p:nvPr/>
        </p:nvSpPr>
        <p:spPr>
          <a:xfrm>
            <a:off x="5715000" y="2685669"/>
            <a:ext cx="0" cy="1593723"/>
          </a:xfrm>
          <a:prstGeom prst="line">
            <a:avLst/>
          </a:prstGeom>
          <a:noFill/>
          <a:ln w="12700">
            <a:solidFill>
              <a:srgbClr val="5B7D80"/>
            </a:solidFill>
            <a:prstDash val="solid"/>
            <a:tailEnd type="triangle"/>
          </a:ln>
        </p:spPr>
      </p:sp>
      <p:sp>
        <p:nvSpPr>
          <p:cNvPr id="43" name="Shape 41"/>
          <p:cNvSpPr/>
          <p:nvPr/>
        </p:nvSpPr>
        <p:spPr>
          <a:xfrm flipH="1">
            <a:off x="3108960" y="4279392"/>
            <a:ext cx="2606040" cy="0"/>
          </a:xfrm>
          <a:prstGeom prst="line">
            <a:avLst/>
          </a:prstGeom>
          <a:noFill/>
          <a:ln w="12700">
            <a:solidFill>
              <a:srgbClr val="5B7D80"/>
            </a:solidFill>
            <a:prstDash val="solid"/>
            <a:tailEnd type="triangle"/>
          </a:ln>
        </p:spPr>
      </p:sp>
      <p:sp>
        <p:nvSpPr>
          <p:cNvPr id="44" name="Text 42"/>
          <p:cNvSpPr txBox="1"/>
          <p:nvPr/>
        </p:nvSpPr>
        <p:spPr>
          <a:xfrm>
            <a:off x="1645920" y="438912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continues, part 2 · Data / Policy / Duplicate checks</a:t>
            </a:r>
            <a:endParaRPr lang="en-US" sz="830" dirty="0"/>
          </a:p>
        </p:txBody>
      </p:sp>
      <p:sp>
        <p:nvSpPr>
          <p:cNvPr id="45" name="Text 43"/>
          <p:cNvSpPr txBox="1"/>
          <p:nvPr/>
        </p:nvSpPr>
        <p:spPr>
          <a:xfrm>
            <a:off x="6583680" y="1417320"/>
            <a:ext cx="4937760" cy="239332"/>
          </a:xfrm>
          <a:prstGeom prst="roundRect">
            <a:avLst>
              <a:gd name="adj" fmla="val 15283"/>
            </a:avLst>
          </a:prstGeom>
          <a:solidFill>
            <a:srgbClr val="E6F8F7"/>
          </a:solidFill>
          <a:ln w="15875">
            <a:solidFill>
              <a:srgbClr val="007A82"/>
            </a:solidFill>
            <a:prstDash val="solid"/>
          </a:ln>
        </p:spPr>
        <p:txBody>
          <a:bodyPr wrap="square" lIns="38100" tIns="38100" rIns="38100" bIns="38100" rtlCol="0" anchor="ctr"/>
          <a:lstStyle/>
          <a:p>
            <a:pPr algn="ctr" indent="0" marL="0">
              <a:lnSpc>
                <a:spcPct val="108000"/>
              </a:lnSpc>
              <a:buNone/>
            </a:pPr>
            <a:r>
              <a:rPr lang="en-US" sz="950" dirty="0">
                <a:solidFill>
                  <a:srgbClr val="00373A"/>
                </a:solidFill>
                <a:latin typeface="Arial" pitchFamily="34" charset="0"/>
                <a:ea typeface="Arial" pitchFamily="34" charset="-122"/>
                <a:cs typeface="Arial" pitchFamily="34" charset="-120"/>
              </a:rPr>
              <a:t>Claim arrives — any channel, any format (EASY, AES secure mail, email)</a:t>
            </a:r>
            <a:endParaRPr lang="en-US" sz="950" dirty="0"/>
          </a:p>
        </p:txBody>
      </p:sp>
      <p:sp>
        <p:nvSpPr>
          <p:cNvPr id="46" name="Shape 44"/>
          <p:cNvSpPr/>
          <p:nvPr/>
        </p:nvSpPr>
        <p:spPr>
          <a:xfrm>
            <a:off x="9052560" y="1783080"/>
            <a:ext cx="0" cy="365760"/>
          </a:xfrm>
          <a:prstGeom prst="line">
            <a:avLst/>
          </a:prstGeom>
          <a:noFill/>
          <a:ln w="12700">
            <a:solidFill>
              <a:srgbClr val="5B7D80"/>
            </a:solidFill>
            <a:prstDash val="solid"/>
            <a:tailEnd type="triangle"/>
          </a:ln>
        </p:spPr>
      </p:sp>
      <p:sp>
        <p:nvSpPr>
          <p:cNvPr id="47" name="Text 45"/>
          <p:cNvSpPr txBox="1"/>
          <p:nvPr/>
        </p:nvSpPr>
        <p:spPr>
          <a:xfrm>
            <a:off x="6583680" y="2148840"/>
            <a:ext cx="4937760" cy="538734"/>
          </a:xfrm>
          <a:prstGeom prst="roundRect">
            <a:avLst>
              <a:gd name="adj" fmla="val 6789"/>
            </a:avLst>
          </a:prstGeom>
          <a:solidFill>
            <a:srgbClr val="E3EDF6"/>
          </a:solidFill>
          <a:ln w="15875">
            <a:solidFill>
              <a:srgbClr val="3B6FA0"/>
            </a:solidFill>
            <a:prstDash val="solid"/>
          </a:ln>
        </p:spPr>
        <p:txBody>
          <a:bodyPr wrap="square" lIns="38100" tIns="38100" rIns="38100" bIns="38100" rtlCol="0" anchor="ctr"/>
          <a:lstStyle/>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Extraction Agent</a:t>
            </a:r>
            <a:endParaRPr lang="en-US" sz="1000" dirty="0"/>
          </a:p>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reads any channel/format · extracts structured fields · matches CPR / CVR</a:t>
            </a:r>
            <a:endParaRPr lang="en-US" sz="1000" dirty="0"/>
          </a:p>
        </p:txBody>
      </p:sp>
      <p:sp>
        <p:nvSpPr>
          <p:cNvPr id="48" name="Shape 46"/>
          <p:cNvSpPr/>
          <p:nvPr/>
        </p:nvSpPr>
        <p:spPr>
          <a:xfrm>
            <a:off x="9052560" y="2687574"/>
            <a:ext cx="0" cy="182880"/>
          </a:xfrm>
          <a:prstGeom prst="line">
            <a:avLst/>
          </a:prstGeom>
          <a:noFill/>
          <a:ln w="12700">
            <a:solidFill>
              <a:srgbClr val="5B7D80"/>
            </a:solidFill>
            <a:prstDash val="solid"/>
            <a:tailEnd type="triangle"/>
          </a:ln>
        </p:spPr>
      </p:sp>
      <p:sp>
        <p:nvSpPr>
          <p:cNvPr id="49" name="Text 47"/>
          <p:cNvSpPr txBox="1"/>
          <p:nvPr/>
        </p:nvSpPr>
        <p:spPr>
          <a:xfrm>
            <a:off x="6583680" y="2870454"/>
            <a:ext cx="4937760" cy="538734"/>
          </a:xfrm>
          <a:prstGeom prst="roundRect">
            <a:avLst>
              <a:gd name="adj" fmla="val 6789"/>
            </a:avLst>
          </a:prstGeom>
          <a:solidFill>
            <a:srgbClr val="E3EDF6"/>
          </a:solidFill>
          <a:ln w="15875">
            <a:solidFill>
              <a:srgbClr val="3B6FA0"/>
            </a:solidFill>
            <a:prstDash val="solid"/>
          </a:ln>
        </p:spPr>
        <p:txBody>
          <a:bodyPr wrap="square" lIns="38100" tIns="38100" rIns="38100" bIns="38100" rtlCol="0" anchor="ctr"/>
          <a:lstStyle/>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Classification Agent</a:t>
            </a:r>
            <a:endParaRPr lang="en-US" sz="1000" dirty="0"/>
          </a:p>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labels claim type (standard, teeth, glasses, violence-cover) with a confidence score</a:t>
            </a:r>
            <a:endParaRPr lang="en-US" sz="1000" dirty="0"/>
          </a:p>
        </p:txBody>
      </p:sp>
      <p:sp>
        <p:nvSpPr>
          <p:cNvPr id="50" name="Shape 48"/>
          <p:cNvSpPr/>
          <p:nvPr/>
        </p:nvSpPr>
        <p:spPr>
          <a:xfrm>
            <a:off x="9052560" y="3409188"/>
            <a:ext cx="0" cy="320040"/>
          </a:xfrm>
          <a:prstGeom prst="line">
            <a:avLst/>
          </a:prstGeom>
          <a:noFill/>
          <a:ln w="12700">
            <a:solidFill>
              <a:srgbClr val="5B7D80"/>
            </a:solidFill>
            <a:prstDash val="solid"/>
            <a:tailEnd type="triangle"/>
          </a:ln>
        </p:spPr>
      </p:sp>
      <p:sp>
        <p:nvSpPr>
          <p:cNvPr id="51" name="Text 49"/>
          <p:cNvSpPr txBox="1"/>
          <p:nvPr/>
        </p:nvSpPr>
        <p:spPr>
          <a:xfrm>
            <a:off x="8183880" y="3729228"/>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Confidence ≥</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threshold?</a:t>
            </a:r>
            <a:endParaRPr lang="en-US" sz="950" dirty="0"/>
          </a:p>
        </p:txBody>
      </p:sp>
      <p:sp>
        <p:nvSpPr>
          <p:cNvPr id="52" name="Text 50"/>
          <p:cNvSpPr txBox="1"/>
          <p:nvPr/>
        </p:nvSpPr>
        <p:spPr>
          <a:xfrm>
            <a:off x="10058400" y="3838956"/>
            <a:ext cx="1691640" cy="420624"/>
          </a:xfrm>
          <a:prstGeom prst="rect">
            <a:avLst/>
          </a:prstGeom>
          <a:noFill/>
          <a:ln/>
        </p:spPr>
        <p:txBody>
          <a:bodyPr wrap="square" lIns="0" tIns="0" rIns="0" bIns="0" rtlCol="0" anchor="ctr"/>
          <a:lstStyle/>
          <a:p>
            <a:pPr algn="l" indent="0" marL="0">
              <a:buNone/>
            </a:pPr>
            <a:r>
              <a:rPr lang="en-US" sz="720" i="1" dirty="0">
                <a:solidFill>
                  <a:srgbClr val="5B6472"/>
                </a:solidFill>
                <a:latin typeface="Arial" pitchFamily="34" charset="0"/>
                <a:ea typeface="Arial" pitchFamily="34" charset="-122"/>
                <a:cs typeface="Arial" pitchFamily="34" charset="-120"/>
              </a:rPr>
              <a:t>threshold starts strict, loosens as override-rate data accumulates</a:t>
            </a:r>
            <a:endParaRPr lang="en-US" sz="720" dirty="0"/>
          </a:p>
        </p:txBody>
      </p:sp>
      <p:sp>
        <p:nvSpPr>
          <p:cNvPr id="53" name="Shape 51"/>
          <p:cNvSpPr/>
          <p:nvPr/>
        </p:nvSpPr>
        <p:spPr>
          <a:xfrm flipH="1">
            <a:off x="7909560" y="4049268"/>
            <a:ext cx="274320" cy="0"/>
          </a:xfrm>
          <a:prstGeom prst="line">
            <a:avLst/>
          </a:prstGeom>
          <a:noFill/>
          <a:ln w="12700">
            <a:solidFill>
              <a:srgbClr val="5B7D80"/>
            </a:solidFill>
            <a:prstDash val="solid"/>
            <a:tailEnd type="triangle"/>
          </a:ln>
        </p:spPr>
      </p:sp>
      <p:sp>
        <p:nvSpPr>
          <p:cNvPr id="54" name="Text 52"/>
          <p:cNvSpPr txBox="1"/>
          <p:nvPr/>
        </p:nvSpPr>
        <p:spPr>
          <a:xfrm>
            <a:off x="6355080" y="3608641"/>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No</a:t>
            </a:r>
            <a:endParaRPr lang="en-US" sz="800" dirty="0"/>
          </a:p>
        </p:txBody>
      </p:sp>
      <p:sp>
        <p:nvSpPr>
          <p:cNvPr id="55" name="Text 53"/>
          <p:cNvSpPr txBox="1"/>
          <p:nvPr/>
        </p:nvSpPr>
        <p:spPr>
          <a:xfrm>
            <a:off x="6446520" y="3828097"/>
            <a:ext cx="1463040" cy="442341"/>
          </a:xfrm>
          <a:prstGeom prst="roundRect">
            <a:avLst>
              <a:gd name="adj" fmla="val 8269"/>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80" dirty="0">
                <a:solidFill>
                  <a:srgbClr val="6B4A10"/>
                </a:solidFill>
                <a:latin typeface="Arial" pitchFamily="34" charset="0"/>
                <a:ea typeface="Arial" pitchFamily="34" charset="-122"/>
                <a:cs typeface="Arial" pitchFamily="34" charset="-120"/>
              </a:rPr>
              <a:t>Falls back to today's manual queue — never silently wrong</a:t>
            </a:r>
            <a:endParaRPr lang="en-US" sz="780" dirty="0"/>
          </a:p>
        </p:txBody>
      </p:sp>
      <p:sp>
        <p:nvSpPr>
          <p:cNvPr id="56" name="Text 54"/>
          <p:cNvSpPr txBox="1"/>
          <p:nvPr/>
        </p:nvSpPr>
        <p:spPr>
          <a:xfrm>
            <a:off x="9162288" y="4396740"/>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Yes</a:t>
            </a:r>
            <a:endParaRPr lang="en-US" sz="800" dirty="0"/>
          </a:p>
        </p:txBody>
      </p:sp>
      <p:sp>
        <p:nvSpPr>
          <p:cNvPr id="57" name="Shape 55"/>
          <p:cNvSpPr/>
          <p:nvPr/>
        </p:nvSpPr>
        <p:spPr>
          <a:xfrm>
            <a:off x="9052560" y="4369308"/>
            <a:ext cx="0" cy="411480"/>
          </a:xfrm>
          <a:prstGeom prst="line">
            <a:avLst/>
          </a:prstGeom>
          <a:noFill/>
          <a:ln w="12700">
            <a:solidFill>
              <a:srgbClr val="5B7D80"/>
            </a:solidFill>
            <a:prstDash val="solid"/>
            <a:tailEnd type="triangle"/>
          </a:ln>
        </p:spPr>
      </p:sp>
      <p:sp>
        <p:nvSpPr>
          <p:cNvPr id="58" name="Text 56"/>
          <p:cNvSpPr txBox="1"/>
          <p:nvPr/>
        </p:nvSpPr>
        <p:spPr>
          <a:xfrm>
            <a:off x="7589520" y="485394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continues, part 2 · Parallel Validation</a:t>
            </a:r>
            <a:endParaRPr lang="en-US" sz="830" dirty="0"/>
          </a:p>
        </p:txBody>
      </p:sp>
      <p:sp>
        <p:nvSpPr>
          <p:cNvPr id="59" name="Shape 57"/>
          <p:cNvSpPr/>
          <p:nvPr/>
        </p:nvSpPr>
        <p:spPr>
          <a:xfrm>
            <a:off x="6400800" y="5146548"/>
            <a:ext cx="5303520" cy="566928"/>
          </a:xfrm>
          <a:prstGeom prst="roundRect">
            <a:avLst>
              <a:gd name="adj" fmla="val 8065"/>
            </a:avLst>
          </a:prstGeom>
          <a:solidFill>
            <a:srgbClr val="F7F7F5"/>
          </a:solidFill>
          <a:ln w="12700">
            <a:solidFill>
              <a:srgbClr val="D7DCE2"/>
            </a:solidFill>
            <a:prstDash val="solid"/>
          </a:ln>
        </p:spPr>
      </p:sp>
      <p:sp>
        <p:nvSpPr>
          <p:cNvPr id="60" name="Text 58"/>
          <p:cNvSpPr txBox="1"/>
          <p:nvPr/>
        </p:nvSpPr>
        <p:spPr>
          <a:xfrm>
            <a:off x="6537960" y="5146548"/>
            <a:ext cx="5029200" cy="566928"/>
          </a:xfrm>
          <a:prstGeom prst="rect">
            <a:avLst/>
          </a:prstGeom>
          <a:noFill/>
          <a:ln/>
        </p:spPr>
        <p:txBody>
          <a:bodyPr wrap="square" lIns="50800" tIns="50800" rIns="50800" bIns="50800" rtlCol="0" anchor="ctr"/>
          <a:lstStyle/>
          <a:p>
            <a:pPr algn="ctr" indent="0" marL="0">
              <a:lnSpc>
                <a:spcPct val="115000"/>
              </a:lnSpc>
              <a:buNone/>
            </a:pPr>
            <a:r>
              <a:rPr lang="en-US" sz="860" dirty="0">
                <a:solidFill>
                  <a:srgbClr val="3A4250"/>
                </a:solidFill>
                <a:latin typeface="Arial" pitchFamily="34" charset="0"/>
                <a:ea typeface="Arial" pitchFamily="34" charset="-122"/>
                <a:cs typeface="Arial" pitchFamily="34" charset="-120"/>
              </a:rPr>
              <a:t>These two agents together replace 3 entry channels, the auto-import failure path, and the entire 1.1 side-track diagram.</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18872"/>
            <a:ext cx="813816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Three checks done one after another become one check done all at once</a:t>
            </a:r>
            <a:endParaRPr lang="en-US" sz="1400" dirty="0"/>
          </a:p>
        </p:txBody>
      </p:sp>
      <p:sp>
        <p:nvSpPr>
          <p:cNvPr id="3" name="Text 1"/>
          <p:cNvSpPr txBox="1"/>
          <p:nvPr/>
        </p:nvSpPr>
        <p:spPr>
          <a:xfrm>
            <a:off x="365760" y="402336"/>
            <a:ext cx="10607040" cy="237744"/>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Is it complete, linked to the right policy, and not already in the system? None of the three depends on the others</a:t>
            </a:r>
            <a:endParaRPr lang="en-US" sz="950" dirty="0"/>
          </a:p>
        </p:txBody>
      </p:sp>
      <p:sp>
        <p:nvSpPr>
          <p:cNvPr id="4" name="Text 2"/>
          <p:cNvSpPr txBox="1"/>
          <p:nvPr/>
        </p:nvSpPr>
        <p:spPr>
          <a:xfrm>
            <a:off x="8595360" y="146304"/>
            <a:ext cx="32278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FNOL REDESIGN · 2 OF 3</a:t>
            </a:r>
            <a:endParaRPr lang="en-US" sz="950" dirty="0"/>
          </a:p>
        </p:txBody>
      </p:sp>
      <p:sp>
        <p:nvSpPr>
          <p:cNvPr id="5" name="Shape 3"/>
          <p:cNvSpPr/>
          <p:nvPr/>
        </p:nvSpPr>
        <p:spPr>
          <a:xfrm>
            <a:off x="365760" y="713232"/>
            <a:ext cx="137160" cy="137160"/>
          </a:xfrm>
          <a:prstGeom prst="roundRect">
            <a:avLst>
              <a:gd name="adj" fmla="val 13333"/>
            </a:avLst>
          </a:prstGeom>
          <a:solidFill>
            <a:srgbClr val="E6F8F7"/>
          </a:solidFill>
          <a:ln w="12700">
            <a:solidFill>
              <a:srgbClr val="007A82"/>
            </a:solidFill>
            <a:prstDash val="solid"/>
          </a:ln>
        </p:spPr>
      </p:sp>
      <p:sp>
        <p:nvSpPr>
          <p:cNvPr id="6" name="Text 4"/>
          <p:cNvSpPr txBox="1"/>
          <p:nvPr/>
        </p:nvSpPr>
        <p:spPr>
          <a:xfrm>
            <a:off x="5669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Trigger / start</a:t>
            </a:r>
            <a:endParaRPr lang="en-US" sz="800" dirty="0"/>
          </a:p>
        </p:txBody>
      </p:sp>
      <p:sp>
        <p:nvSpPr>
          <p:cNvPr id="7" name="Shape 5"/>
          <p:cNvSpPr/>
          <p:nvPr/>
        </p:nvSpPr>
        <p:spPr>
          <a:xfrm>
            <a:off x="1691640" y="713232"/>
            <a:ext cx="137160" cy="137160"/>
          </a:xfrm>
          <a:prstGeom prst="roundRect">
            <a:avLst>
              <a:gd name="adj" fmla="val 13333"/>
            </a:avLst>
          </a:prstGeom>
          <a:solidFill>
            <a:srgbClr val="FFFFFF"/>
          </a:solidFill>
          <a:ln w="12700">
            <a:solidFill>
              <a:srgbClr val="5B7D80"/>
            </a:solidFill>
            <a:prstDash val="solid"/>
          </a:ln>
        </p:spPr>
      </p:sp>
      <p:sp>
        <p:nvSpPr>
          <p:cNvPr id="8" name="Text 6"/>
          <p:cNvSpPr txBox="1"/>
          <p:nvPr/>
        </p:nvSpPr>
        <p:spPr>
          <a:xfrm>
            <a:off x="18928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Step / decision</a:t>
            </a:r>
            <a:endParaRPr lang="en-US" sz="800" dirty="0"/>
          </a:p>
        </p:txBody>
      </p:sp>
      <p:sp>
        <p:nvSpPr>
          <p:cNvPr id="9" name="Shape 7"/>
          <p:cNvSpPr/>
          <p:nvPr/>
        </p:nvSpPr>
        <p:spPr>
          <a:xfrm>
            <a:off x="3063240" y="713232"/>
            <a:ext cx="137160" cy="137160"/>
          </a:xfrm>
          <a:prstGeom prst="roundRect">
            <a:avLst>
              <a:gd name="adj" fmla="val 13333"/>
            </a:avLst>
          </a:prstGeom>
          <a:solidFill>
            <a:srgbClr val="FCEFD6"/>
          </a:solidFill>
          <a:ln w="12700">
            <a:solidFill>
              <a:srgbClr val="EF9F27"/>
            </a:solidFill>
            <a:prstDash val="solid"/>
          </a:ln>
        </p:spPr>
      </p:sp>
      <p:sp>
        <p:nvSpPr>
          <p:cNvPr id="10" name="Text 8"/>
          <p:cNvSpPr txBox="1"/>
          <p:nvPr/>
        </p:nvSpPr>
        <p:spPr>
          <a:xfrm>
            <a:off x="3264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Exception / rework</a:t>
            </a:r>
            <a:endParaRPr lang="en-US" sz="800" dirty="0"/>
          </a:p>
        </p:txBody>
      </p:sp>
      <p:sp>
        <p:nvSpPr>
          <p:cNvPr id="11" name="Shape 9"/>
          <p:cNvSpPr/>
          <p:nvPr/>
        </p:nvSpPr>
        <p:spPr>
          <a:xfrm>
            <a:off x="4892040" y="713232"/>
            <a:ext cx="137160" cy="137160"/>
          </a:xfrm>
          <a:prstGeom prst="roundRect">
            <a:avLst>
              <a:gd name="adj" fmla="val 13333"/>
            </a:avLst>
          </a:prstGeom>
          <a:solidFill>
            <a:srgbClr val="EDF7DB"/>
          </a:solidFill>
          <a:ln w="12700">
            <a:solidFill>
              <a:srgbClr val="6FA01F"/>
            </a:solidFill>
            <a:prstDash val="solid"/>
          </a:ln>
        </p:spPr>
      </p:sp>
      <p:sp>
        <p:nvSpPr>
          <p:cNvPr id="12" name="Text 10"/>
          <p:cNvSpPr txBox="1"/>
          <p:nvPr/>
        </p:nvSpPr>
        <p:spPr>
          <a:xfrm>
            <a:off x="50932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Exit</a:t>
            </a:r>
            <a:endParaRPr lang="en-US" sz="800" dirty="0"/>
          </a:p>
        </p:txBody>
      </p:sp>
      <p:sp>
        <p:nvSpPr>
          <p:cNvPr id="13" name="Shape 11"/>
          <p:cNvSpPr/>
          <p:nvPr/>
        </p:nvSpPr>
        <p:spPr>
          <a:xfrm>
            <a:off x="6309360" y="713232"/>
            <a:ext cx="137160" cy="137160"/>
          </a:xfrm>
          <a:prstGeom prst="roundRect">
            <a:avLst>
              <a:gd name="adj" fmla="val 13333"/>
            </a:avLst>
          </a:prstGeom>
          <a:solidFill>
            <a:srgbClr val="E3EDF6"/>
          </a:solidFill>
          <a:ln w="12700">
            <a:solidFill>
              <a:srgbClr val="3B6FA0"/>
            </a:solidFill>
            <a:prstDash val="solid"/>
          </a:ln>
        </p:spPr>
      </p:sp>
      <p:sp>
        <p:nvSpPr>
          <p:cNvPr id="14" name="Text 12"/>
          <p:cNvSpPr txBox="1"/>
          <p:nvPr/>
        </p:nvSpPr>
        <p:spPr>
          <a:xfrm>
            <a:off x="65105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AI agent (LLM call)</a:t>
            </a:r>
            <a:endParaRPr lang="en-US" sz="800" dirty="0"/>
          </a:p>
        </p:txBody>
      </p:sp>
      <p:sp>
        <p:nvSpPr>
          <p:cNvPr id="15" name="Shape 13"/>
          <p:cNvSpPr/>
          <p:nvPr/>
        </p:nvSpPr>
        <p:spPr>
          <a:xfrm>
            <a:off x="8092440" y="713232"/>
            <a:ext cx="137160" cy="137160"/>
          </a:xfrm>
          <a:prstGeom prst="roundRect">
            <a:avLst>
              <a:gd name="adj" fmla="val 13333"/>
            </a:avLst>
          </a:prstGeom>
          <a:solidFill>
            <a:srgbClr val="ECEFF3"/>
          </a:solidFill>
          <a:ln w="12700">
            <a:solidFill>
              <a:srgbClr val="6B7787"/>
            </a:solidFill>
            <a:prstDash val="solid"/>
          </a:ln>
        </p:spPr>
      </p:sp>
      <p:sp>
        <p:nvSpPr>
          <p:cNvPr id="16" name="Text 14"/>
          <p:cNvSpPr txBox="1"/>
          <p:nvPr/>
        </p:nvSpPr>
        <p:spPr>
          <a:xfrm>
            <a:off x="82936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Rules only, no model</a:t>
            </a:r>
            <a:endParaRPr lang="en-US" sz="800" dirty="0"/>
          </a:p>
        </p:txBody>
      </p:sp>
      <p:sp>
        <p:nvSpPr>
          <p:cNvPr id="17" name="Shape 15"/>
          <p:cNvSpPr/>
          <p:nvPr/>
        </p:nvSpPr>
        <p:spPr>
          <a:xfrm>
            <a:off x="9921240" y="713232"/>
            <a:ext cx="137160" cy="137160"/>
          </a:xfrm>
          <a:prstGeom prst="roundRect">
            <a:avLst>
              <a:gd name="adj" fmla="val 13333"/>
            </a:avLst>
          </a:prstGeom>
          <a:solidFill>
            <a:srgbClr val="F1E6ED"/>
          </a:solidFill>
          <a:ln w="12700">
            <a:solidFill>
              <a:srgbClr val="7A4A66"/>
            </a:solidFill>
            <a:prstDash val="solid"/>
          </a:ln>
        </p:spPr>
      </p:sp>
      <p:sp>
        <p:nvSpPr>
          <p:cNvPr id="18" name="Text 16"/>
          <p:cNvSpPr txBox="1"/>
          <p:nvPr/>
        </p:nvSpPr>
        <p:spPr>
          <a:xfrm>
            <a:off x="10122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Human checkpoint</a:t>
            </a:r>
            <a:endParaRPr lang="en-US" sz="800" dirty="0"/>
          </a:p>
        </p:txBody>
      </p:sp>
      <p:sp>
        <p:nvSpPr>
          <p:cNvPr id="19" name="Shape 17"/>
          <p:cNvSpPr/>
          <p:nvPr/>
        </p:nvSpPr>
        <p:spPr>
          <a:xfrm>
            <a:off x="6062472" y="1024128"/>
            <a:ext cx="0" cy="5440680"/>
          </a:xfrm>
          <a:prstGeom prst="line">
            <a:avLst/>
          </a:prstGeom>
          <a:noFill/>
          <a:ln w="9525">
            <a:solidFill>
              <a:srgbClr val="D7DCE2"/>
            </a:solidFill>
            <a:prstDash val="solid"/>
          </a:ln>
        </p:spPr>
      </p:sp>
      <p:sp>
        <p:nvSpPr>
          <p:cNvPr id="20" name="Text 18"/>
          <p:cNvSpPr txBox="1"/>
          <p:nvPr/>
        </p:nvSpPr>
        <p:spPr>
          <a:xfrm>
            <a:off x="365760" y="1005840"/>
            <a:ext cx="5486400" cy="237744"/>
          </a:xfrm>
          <a:prstGeom prst="rect">
            <a:avLst/>
          </a:prstGeom>
          <a:noFill/>
          <a:ln/>
        </p:spPr>
        <p:txBody>
          <a:bodyPr wrap="square" lIns="0" tIns="0" rIns="0" bIns="0" rtlCol="0" anchor="ctr"/>
          <a:lstStyle/>
          <a:p>
            <a:pPr indent="0" marL="0">
              <a:buNone/>
            </a:pPr>
            <a:r>
              <a:rPr lang="en-US" sz="1150" b="1" dirty="0">
                <a:solidFill>
                  <a:srgbClr val="5B6472"/>
                </a:solidFill>
                <a:latin typeface="Arial" pitchFamily="34" charset="0"/>
                <a:ea typeface="Arial" pitchFamily="34" charset="-122"/>
                <a:cs typeface="Arial" pitchFamily="34" charset="-120"/>
              </a:rPr>
              <a:t>TODAY</a:t>
            </a:r>
            <a:endParaRPr lang="en-US" sz="1150" dirty="0"/>
          </a:p>
        </p:txBody>
      </p:sp>
      <p:sp>
        <p:nvSpPr>
          <p:cNvPr id="21" name="Text 19"/>
          <p:cNvSpPr txBox="1"/>
          <p:nvPr/>
        </p:nvSpPr>
        <p:spPr>
          <a:xfrm>
            <a:off x="6309360" y="1005840"/>
            <a:ext cx="5486400" cy="237744"/>
          </a:xfrm>
          <a:prstGeom prst="rect">
            <a:avLst/>
          </a:prstGeom>
          <a:noFill/>
          <a:ln/>
        </p:spPr>
        <p:txBody>
          <a:bodyPr wrap="square" lIns="0" tIns="0" rIns="0" bIns="0" rtlCol="0" anchor="ctr"/>
          <a:lstStyle/>
          <a:p>
            <a:pPr indent="0" marL="0">
              <a:buNone/>
            </a:pPr>
            <a:r>
              <a:rPr lang="en-US" sz="1150" b="1" dirty="0">
                <a:solidFill>
                  <a:srgbClr val="3B6FA0"/>
                </a:solidFill>
                <a:latin typeface="Arial" pitchFamily="34" charset="0"/>
                <a:ea typeface="Arial" pitchFamily="34" charset="-122"/>
                <a:cs typeface="Arial" pitchFamily="34" charset="-120"/>
              </a:rPr>
              <a:t>AI-NATIVE  </a:t>
            </a:r>
            <a:pPr indent="0" marL="0">
              <a:buNone/>
            </a:pPr>
            <a:r>
              <a:rPr lang="en-US" sz="850" i="1" dirty="0">
                <a:solidFill>
                  <a:srgbClr val="5B6472"/>
                </a:solidFill>
                <a:latin typeface="Arial" pitchFamily="34" charset="0"/>
                <a:ea typeface="Arial" pitchFamily="34" charset="-122"/>
                <a:cs typeface="Arial" pitchFamily="34" charset="-120"/>
              </a:rPr>
              <a:t>— one LangGraph state graph · shared claim state carries the audit trail</a:t>
            </a:r>
            <a:endParaRPr lang="en-US" sz="1150" dirty="0"/>
          </a:p>
        </p:txBody>
      </p:sp>
      <p:sp>
        <p:nvSpPr>
          <p:cNvPr id="22" name="Text 20"/>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23" name="Text 21"/>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3 / 10</a:t>
            </a:r>
            <a:endParaRPr lang="en-US" sz="800" dirty="0"/>
          </a:p>
        </p:txBody>
      </p:sp>
      <p:sp>
        <p:nvSpPr>
          <p:cNvPr id="24" name="Text 22"/>
          <p:cNvSpPr txBox="1"/>
          <p:nvPr/>
        </p:nvSpPr>
        <p:spPr>
          <a:xfrm>
            <a:off x="1645920" y="12801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continued from part 1</a:t>
            </a:r>
            <a:endParaRPr lang="en-US" sz="830" dirty="0"/>
          </a:p>
        </p:txBody>
      </p:sp>
      <p:sp>
        <p:nvSpPr>
          <p:cNvPr id="25" name="Shape 23"/>
          <p:cNvSpPr/>
          <p:nvPr/>
        </p:nvSpPr>
        <p:spPr>
          <a:xfrm>
            <a:off x="3108960" y="1481328"/>
            <a:ext cx="0" cy="164592"/>
          </a:xfrm>
          <a:prstGeom prst="line">
            <a:avLst/>
          </a:prstGeom>
          <a:noFill/>
          <a:ln w="12700">
            <a:solidFill>
              <a:srgbClr val="5B7D80"/>
            </a:solidFill>
            <a:prstDash val="solid"/>
            <a:tailEnd type="triangle"/>
          </a:ln>
        </p:spPr>
      </p:sp>
      <p:sp>
        <p:nvSpPr>
          <p:cNvPr id="26" name="Text 24"/>
          <p:cNvSpPr txBox="1"/>
          <p:nvPr/>
        </p:nvSpPr>
        <p:spPr>
          <a:xfrm>
            <a:off x="2240280" y="16459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Data correct</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and complete?</a:t>
            </a:r>
            <a:endParaRPr lang="en-US" sz="950" dirty="0"/>
          </a:p>
        </p:txBody>
      </p:sp>
      <p:sp>
        <p:nvSpPr>
          <p:cNvPr id="27" name="Shape 25"/>
          <p:cNvSpPr/>
          <p:nvPr/>
        </p:nvSpPr>
        <p:spPr>
          <a:xfrm flipH="1">
            <a:off x="1965960" y="1965960"/>
            <a:ext cx="274320" cy="0"/>
          </a:xfrm>
          <a:prstGeom prst="line">
            <a:avLst/>
          </a:prstGeom>
          <a:noFill/>
          <a:ln w="12700">
            <a:solidFill>
              <a:srgbClr val="5B7D80"/>
            </a:solidFill>
            <a:prstDash val="solid"/>
            <a:tailEnd type="triangle"/>
          </a:ln>
        </p:spPr>
      </p:sp>
      <p:sp>
        <p:nvSpPr>
          <p:cNvPr id="28" name="Text 26"/>
          <p:cNvSpPr txBox="1"/>
          <p:nvPr/>
        </p:nvSpPr>
        <p:spPr>
          <a:xfrm>
            <a:off x="411480" y="1582293"/>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Missing CPR</a:t>
            </a:r>
            <a:endParaRPr lang="en-US" sz="800" dirty="0"/>
          </a:p>
        </p:txBody>
      </p:sp>
      <p:sp>
        <p:nvSpPr>
          <p:cNvPr id="29" name="Text 27"/>
          <p:cNvSpPr txBox="1"/>
          <p:nvPr/>
        </p:nvSpPr>
        <p:spPr>
          <a:xfrm>
            <a:off x="502920" y="1801749"/>
            <a:ext cx="1463040" cy="328422"/>
          </a:xfrm>
          <a:prstGeom prst="roundRect">
            <a:avLst>
              <a:gd name="adj" fmla="val 11137"/>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80" dirty="0">
                <a:solidFill>
                  <a:srgbClr val="6B4A10"/>
                </a:solidFill>
                <a:latin typeface="Arial" pitchFamily="34" charset="0"/>
                <a:ea typeface="Arial" pitchFamily="34" charset="-122"/>
                <a:cs typeface="Arial" pitchFamily="34" charset="-120"/>
              </a:rPr>
              <a:t>Ask / fill fields (via questionnaire)</a:t>
            </a:r>
            <a:endParaRPr lang="en-US" sz="780" dirty="0"/>
          </a:p>
        </p:txBody>
      </p:sp>
      <p:sp>
        <p:nvSpPr>
          <p:cNvPr id="30" name="Shape 28"/>
          <p:cNvSpPr/>
          <p:nvPr/>
        </p:nvSpPr>
        <p:spPr>
          <a:xfrm>
            <a:off x="1965960" y="2130171"/>
            <a:ext cx="1143000" cy="521589"/>
          </a:xfrm>
          <a:prstGeom prst="line">
            <a:avLst/>
          </a:prstGeom>
          <a:noFill/>
          <a:ln w="12700">
            <a:solidFill>
              <a:srgbClr val="5B7D80"/>
            </a:solidFill>
            <a:prstDash val="solid"/>
            <a:tailEnd type="triangle"/>
          </a:ln>
        </p:spPr>
      </p:sp>
      <p:sp>
        <p:nvSpPr>
          <p:cNvPr id="31" name="Text 29"/>
          <p:cNvSpPr txBox="1"/>
          <p:nvPr/>
        </p:nvSpPr>
        <p:spPr>
          <a:xfrm>
            <a:off x="3218688" y="2240280"/>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OK</a:t>
            </a:r>
            <a:endParaRPr lang="en-US" sz="800" dirty="0"/>
          </a:p>
        </p:txBody>
      </p:sp>
      <p:sp>
        <p:nvSpPr>
          <p:cNvPr id="32" name="Shape 30"/>
          <p:cNvSpPr/>
          <p:nvPr/>
        </p:nvSpPr>
        <p:spPr>
          <a:xfrm>
            <a:off x="3108960" y="2212848"/>
            <a:ext cx="0" cy="438912"/>
          </a:xfrm>
          <a:prstGeom prst="line">
            <a:avLst/>
          </a:prstGeom>
          <a:noFill/>
          <a:ln w="12700">
            <a:solidFill>
              <a:srgbClr val="5B7D80"/>
            </a:solidFill>
            <a:prstDash val="solid"/>
            <a:tailEnd type="triangle"/>
          </a:ln>
        </p:spPr>
      </p:sp>
      <p:sp>
        <p:nvSpPr>
          <p:cNvPr id="33" name="Text 31"/>
          <p:cNvSpPr txBox="1"/>
          <p:nvPr/>
        </p:nvSpPr>
        <p:spPr>
          <a:xfrm>
            <a:off x="2240280" y="265176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Valid policy</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attached?</a:t>
            </a:r>
            <a:endParaRPr lang="en-US" sz="950" dirty="0"/>
          </a:p>
        </p:txBody>
      </p:sp>
      <p:sp>
        <p:nvSpPr>
          <p:cNvPr id="34" name="Shape 32"/>
          <p:cNvSpPr/>
          <p:nvPr/>
        </p:nvSpPr>
        <p:spPr>
          <a:xfrm flipH="1">
            <a:off x="1965960" y="2971800"/>
            <a:ext cx="274320" cy="0"/>
          </a:xfrm>
          <a:prstGeom prst="line">
            <a:avLst/>
          </a:prstGeom>
          <a:noFill/>
          <a:ln w="12700">
            <a:solidFill>
              <a:srgbClr val="5B7D80"/>
            </a:solidFill>
            <a:prstDash val="solid"/>
            <a:tailEnd type="triangle"/>
          </a:ln>
        </p:spPr>
      </p:sp>
      <p:sp>
        <p:nvSpPr>
          <p:cNvPr id="35" name="Text 33"/>
          <p:cNvSpPr txBox="1"/>
          <p:nvPr/>
        </p:nvSpPr>
        <p:spPr>
          <a:xfrm>
            <a:off x="411480" y="2643632"/>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Wrong / old policy</a:t>
            </a:r>
            <a:endParaRPr lang="en-US" sz="800" dirty="0"/>
          </a:p>
        </p:txBody>
      </p:sp>
      <p:sp>
        <p:nvSpPr>
          <p:cNvPr id="36" name="Text 34"/>
          <p:cNvSpPr txBox="1"/>
          <p:nvPr/>
        </p:nvSpPr>
        <p:spPr>
          <a:xfrm>
            <a:off x="502920" y="2863088"/>
            <a:ext cx="1463040" cy="217424"/>
          </a:xfrm>
          <a:prstGeom prst="roundRect">
            <a:avLst>
              <a:gd name="adj" fmla="val 16822"/>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800" dirty="0">
                <a:solidFill>
                  <a:srgbClr val="6B4A10"/>
                </a:solidFill>
                <a:latin typeface="Arial" pitchFamily="34" charset="0"/>
                <a:ea typeface="Arial" pitchFamily="34" charset="-122"/>
                <a:cs typeface="Arial" pitchFamily="34" charset="-120"/>
              </a:rPr>
              <a:t>Reattach correct policy</a:t>
            </a:r>
            <a:endParaRPr lang="en-US" sz="800" dirty="0"/>
          </a:p>
        </p:txBody>
      </p:sp>
      <p:sp>
        <p:nvSpPr>
          <p:cNvPr id="37" name="Shape 35"/>
          <p:cNvSpPr/>
          <p:nvPr/>
        </p:nvSpPr>
        <p:spPr>
          <a:xfrm>
            <a:off x="1965960" y="3080512"/>
            <a:ext cx="1143000" cy="650240"/>
          </a:xfrm>
          <a:prstGeom prst="line">
            <a:avLst/>
          </a:prstGeom>
          <a:noFill/>
          <a:ln w="12700">
            <a:solidFill>
              <a:srgbClr val="5B7D80"/>
            </a:solidFill>
            <a:prstDash val="solid"/>
            <a:tailEnd type="triangle"/>
          </a:ln>
        </p:spPr>
      </p:sp>
      <p:sp>
        <p:nvSpPr>
          <p:cNvPr id="38" name="Shape 36"/>
          <p:cNvSpPr/>
          <p:nvPr/>
        </p:nvSpPr>
        <p:spPr>
          <a:xfrm>
            <a:off x="3977640" y="2971800"/>
            <a:ext cx="274320" cy="0"/>
          </a:xfrm>
          <a:prstGeom prst="line">
            <a:avLst/>
          </a:prstGeom>
          <a:noFill/>
          <a:ln w="12700">
            <a:solidFill>
              <a:srgbClr val="5B7D80"/>
            </a:solidFill>
            <a:prstDash val="solid"/>
            <a:tailEnd type="triangle"/>
          </a:ln>
        </p:spPr>
      </p:sp>
      <p:sp>
        <p:nvSpPr>
          <p:cNvPr id="39" name="Text 37"/>
          <p:cNvSpPr txBox="1"/>
          <p:nvPr/>
        </p:nvSpPr>
        <p:spPr>
          <a:xfrm>
            <a:off x="4251960" y="2588133"/>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No valid policy</a:t>
            </a:r>
            <a:endParaRPr lang="en-US" sz="800" dirty="0"/>
          </a:p>
        </p:txBody>
      </p:sp>
      <p:sp>
        <p:nvSpPr>
          <p:cNvPr id="40" name="Text 38"/>
          <p:cNvSpPr txBox="1"/>
          <p:nvPr/>
        </p:nvSpPr>
        <p:spPr>
          <a:xfrm>
            <a:off x="4251960" y="2807589"/>
            <a:ext cx="1463040" cy="328422"/>
          </a:xfrm>
          <a:prstGeom prst="roundRect">
            <a:avLst>
              <a:gd name="adj" fmla="val 11137"/>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80" dirty="0">
                <a:solidFill>
                  <a:srgbClr val="33480A"/>
                </a:solidFill>
                <a:latin typeface="Arial" pitchFamily="34" charset="0"/>
                <a:ea typeface="Arial" pitchFamily="34" charset="-122"/>
                <a:cs typeface="Arial" pitchFamily="34" charset="-120"/>
              </a:rPr>
              <a:t>Back to employer: correct insurer</a:t>
            </a:r>
            <a:endParaRPr lang="en-US" sz="780" dirty="0"/>
          </a:p>
        </p:txBody>
      </p:sp>
      <p:sp>
        <p:nvSpPr>
          <p:cNvPr id="41" name="Text 39"/>
          <p:cNvSpPr txBox="1"/>
          <p:nvPr/>
        </p:nvSpPr>
        <p:spPr>
          <a:xfrm>
            <a:off x="3218688" y="3319272"/>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Yes</a:t>
            </a:r>
            <a:endParaRPr lang="en-US" sz="800" dirty="0"/>
          </a:p>
        </p:txBody>
      </p:sp>
      <p:sp>
        <p:nvSpPr>
          <p:cNvPr id="42" name="Shape 40"/>
          <p:cNvSpPr/>
          <p:nvPr/>
        </p:nvSpPr>
        <p:spPr>
          <a:xfrm>
            <a:off x="3108960" y="3291840"/>
            <a:ext cx="0" cy="438912"/>
          </a:xfrm>
          <a:prstGeom prst="line">
            <a:avLst/>
          </a:prstGeom>
          <a:noFill/>
          <a:ln w="12700">
            <a:solidFill>
              <a:srgbClr val="5B7D80"/>
            </a:solidFill>
            <a:prstDash val="solid"/>
            <a:tailEnd type="triangle"/>
          </a:ln>
        </p:spPr>
      </p:sp>
      <p:sp>
        <p:nvSpPr>
          <p:cNvPr id="43" name="Text 41"/>
          <p:cNvSpPr txBox="1"/>
          <p:nvPr/>
        </p:nvSpPr>
        <p:spPr>
          <a:xfrm>
            <a:off x="2240280" y="3730752"/>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Earlier or</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duplicate?</a:t>
            </a:r>
            <a:endParaRPr lang="en-US" sz="950" dirty="0"/>
          </a:p>
        </p:txBody>
      </p:sp>
      <p:sp>
        <p:nvSpPr>
          <p:cNvPr id="44" name="Shape 42"/>
          <p:cNvSpPr/>
          <p:nvPr/>
        </p:nvSpPr>
        <p:spPr>
          <a:xfrm flipH="1">
            <a:off x="1965960" y="4050792"/>
            <a:ext cx="274320" cy="0"/>
          </a:xfrm>
          <a:prstGeom prst="line">
            <a:avLst/>
          </a:prstGeom>
          <a:noFill/>
          <a:ln w="12700">
            <a:solidFill>
              <a:srgbClr val="5B7D80"/>
            </a:solidFill>
            <a:prstDash val="solid"/>
            <a:tailEnd type="triangle"/>
          </a:ln>
        </p:spPr>
      </p:sp>
      <p:sp>
        <p:nvSpPr>
          <p:cNvPr id="45" name="Text 43"/>
          <p:cNvSpPr txBox="1"/>
          <p:nvPr/>
        </p:nvSpPr>
        <p:spPr>
          <a:xfrm>
            <a:off x="411480" y="3667125"/>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Duplicate</a:t>
            </a:r>
            <a:endParaRPr lang="en-US" sz="800" dirty="0"/>
          </a:p>
        </p:txBody>
      </p:sp>
      <p:sp>
        <p:nvSpPr>
          <p:cNvPr id="46" name="Text 44"/>
          <p:cNvSpPr txBox="1"/>
          <p:nvPr/>
        </p:nvSpPr>
        <p:spPr>
          <a:xfrm>
            <a:off x="502920" y="3886581"/>
            <a:ext cx="1463040" cy="328422"/>
          </a:xfrm>
          <a:prstGeom prst="roundRect">
            <a:avLst>
              <a:gd name="adj" fmla="val 11137"/>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80" dirty="0">
                <a:solidFill>
                  <a:srgbClr val="6B4A10"/>
                </a:solidFill>
                <a:latin typeface="Arial" pitchFamily="34" charset="0"/>
                <a:ea typeface="Arial" pitchFamily="34" charset="-122"/>
                <a:cs typeface="Arial" pitchFamily="34" charset="-120"/>
              </a:rPr>
              <a:t>Dedup / connect same-CPR claims</a:t>
            </a:r>
            <a:endParaRPr lang="en-US" sz="780" dirty="0"/>
          </a:p>
        </p:txBody>
      </p:sp>
      <p:sp>
        <p:nvSpPr>
          <p:cNvPr id="47" name="Shape 45"/>
          <p:cNvSpPr/>
          <p:nvPr/>
        </p:nvSpPr>
        <p:spPr>
          <a:xfrm>
            <a:off x="1965960" y="4215003"/>
            <a:ext cx="1143000" cy="631317"/>
          </a:xfrm>
          <a:prstGeom prst="line">
            <a:avLst/>
          </a:prstGeom>
          <a:noFill/>
          <a:ln w="12700">
            <a:solidFill>
              <a:srgbClr val="5B7D80"/>
            </a:solidFill>
            <a:prstDash val="solid"/>
            <a:tailEnd type="triangle"/>
          </a:ln>
        </p:spPr>
      </p:sp>
      <p:sp>
        <p:nvSpPr>
          <p:cNvPr id="48" name="Text 46"/>
          <p:cNvSpPr txBox="1"/>
          <p:nvPr/>
        </p:nvSpPr>
        <p:spPr>
          <a:xfrm>
            <a:off x="3218688" y="4398264"/>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New</a:t>
            </a:r>
            <a:endParaRPr lang="en-US" sz="800" dirty="0"/>
          </a:p>
        </p:txBody>
      </p:sp>
      <p:sp>
        <p:nvSpPr>
          <p:cNvPr id="49" name="Shape 47"/>
          <p:cNvSpPr/>
          <p:nvPr/>
        </p:nvSpPr>
        <p:spPr>
          <a:xfrm>
            <a:off x="3108960" y="4370832"/>
            <a:ext cx="0" cy="475488"/>
          </a:xfrm>
          <a:prstGeom prst="line">
            <a:avLst/>
          </a:prstGeom>
          <a:noFill/>
          <a:ln w="12700">
            <a:solidFill>
              <a:srgbClr val="5B7D80"/>
            </a:solidFill>
            <a:prstDash val="solid"/>
            <a:tailEnd type="triangle"/>
          </a:ln>
        </p:spPr>
      </p:sp>
      <p:sp>
        <p:nvSpPr>
          <p:cNvPr id="50" name="Text 48"/>
          <p:cNvSpPr txBox="1"/>
          <p:nvPr/>
        </p:nvSpPr>
        <p:spPr>
          <a:xfrm>
            <a:off x="1645920" y="49377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continues, part 3 · Escalation &amp; Close-Out</a:t>
            </a:r>
            <a:endParaRPr lang="en-US" sz="830" dirty="0"/>
          </a:p>
        </p:txBody>
      </p:sp>
      <p:sp>
        <p:nvSpPr>
          <p:cNvPr id="51" name="Text 49"/>
          <p:cNvSpPr txBox="1"/>
          <p:nvPr/>
        </p:nvSpPr>
        <p:spPr>
          <a:xfrm>
            <a:off x="7589520" y="12801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continued from part 1</a:t>
            </a:r>
            <a:endParaRPr lang="en-US" sz="830" dirty="0"/>
          </a:p>
        </p:txBody>
      </p:sp>
      <p:sp>
        <p:nvSpPr>
          <p:cNvPr id="52" name="Shape 50"/>
          <p:cNvSpPr/>
          <p:nvPr/>
        </p:nvSpPr>
        <p:spPr>
          <a:xfrm>
            <a:off x="9052560" y="1481328"/>
            <a:ext cx="0" cy="164592"/>
          </a:xfrm>
          <a:prstGeom prst="line">
            <a:avLst/>
          </a:prstGeom>
          <a:noFill/>
          <a:ln w="12700">
            <a:solidFill>
              <a:srgbClr val="5B7D80"/>
            </a:solidFill>
            <a:prstDash val="solid"/>
            <a:tailEnd type="triangle"/>
          </a:ln>
        </p:spPr>
      </p:sp>
      <p:sp>
        <p:nvSpPr>
          <p:cNvPr id="53" name="Text 51"/>
          <p:cNvSpPr txBox="1"/>
          <p:nvPr/>
        </p:nvSpPr>
        <p:spPr>
          <a:xfrm>
            <a:off x="6583680" y="1645920"/>
            <a:ext cx="4937760" cy="538734"/>
          </a:xfrm>
          <a:prstGeom prst="roundRect">
            <a:avLst>
              <a:gd name="adj" fmla="val 6789"/>
            </a:avLst>
          </a:prstGeom>
          <a:solidFill>
            <a:srgbClr val="ECEFF3"/>
          </a:solidFill>
          <a:ln w="15875">
            <a:solidFill>
              <a:srgbClr val="6B7787"/>
            </a:solidFill>
            <a:prstDash val="solid"/>
          </a:ln>
        </p:spPr>
        <p:txBody>
          <a:bodyPr wrap="square" lIns="38100" tIns="38100" rIns="38100" bIns="38100" rtlCol="0" anchor="ctr"/>
          <a:lstStyle/>
          <a:p>
            <a:pPr algn="ctr" indent="0" marL="0">
              <a:lnSpc>
                <a:spcPct val="108000"/>
              </a:lnSpc>
              <a:buNone/>
            </a:pPr>
            <a:r>
              <a:rPr lang="en-US" sz="1000" b="1" dirty="0">
                <a:solidFill>
                  <a:srgbClr val="2A3340"/>
                </a:solidFill>
                <a:latin typeface="Arial" pitchFamily="34" charset="0"/>
                <a:ea typeface="Arial" pitchFamily="34" charset="-122"/>
                <a:cs typeface="Arial" pitchFamily="34" charset="-120"/>
              </a:rPr>
              <a:t>Validation Node — rules only</a:t>
            </a:r>
            <a:endParaRPr lang="en-US" sz="1000" dirty="0"/>
          </a:p>
          <a:p>
            <a:pPr algn="ctr" indent="0" marL="0">
              <a:lnSpc>
                <a:spcPct val="108000"/>
              </a:lnSpc>
              <a:buNone/>
            </a:pPr>
            <a:r>
              <a:rPr lang="en-US" sz="1000" b="1" dirty="0">
                <a:solidFill>
                  <a:srgbClr val="2A3340"/>
                </a:solidFill>
                <a:latin typeface="Arial" pitchFamily="34" charset="0"/>
                <a:ea typeface="Arial" pitchFamily="34" charset="-122"/>
                <a:cs typeface="Arial" pitchFamily="34" charset="-120"/>
              </a:rPr>
              <a:t>CPR dedup · policy in force · completeness — three lookups at once, no model call</a:t>
            </a:r>
            <a:endParaRPr lang="en-US" sz="1000" dirty="0"/>
          </a:p>
        </p:txBody>
      </p:sp>
      <p:sp>
        <p:nvSpPr>
          <p:cNvPr id="54" name="Shape 52"/>
          <p:cNvSpPr/>
          <p:nvPr/>
        </p:nvSpPr>
        <p:spPr>
          <a:xfrm>
            <a:off x="9052560" y="2184654"/>
            <a:ext cx="0" cy="320040"/>
          </a:xfrm>
          <a:prstGeom prst="line">
            <a:avLst/>
          </a:prstGeom>
          <a:noFill/>
          <a:ln w="12700">
            <a:solidFill>
              <a:srgbClr val="5B7D80"/>
            </a:solidFill>
            <a:prstDash val="solid"/>
            <a:tailEnd type="triangle"/>
          </a:ln>
        </p:spPr>
      </p:sp>
      <p:sp>
        <p:nvSpPr>
          <p:cNvPr id="55" name="Text 53"/>
          <p:cNvSpPr txBox="1"/>
          <p:nvPr/>
        </p:nvSpPr>
        <p:spPr>
          <a:xfrm>
            <a:off x="8183880" y="2504694"/>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Any check</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failed?</a:t>
            </a:r>
            <a:endParaRPr lang="en-US" sz="950" dirty="0"/>
          </a:p>
        </p:txBody>
      </p:sp>
      <p:sp>
        <p:nvSpPr>
          <p:cNvPr id="56" name="Shape 54"/>
          <p:cNvSpPr/>
          <p:nvPr/>
        </p:nvSpPr>
        <p:spPr>
          <a:xfrm>
            <a:off x="9921240" y="2824734"/>
            <a:ext cx="274320" cy="0"/>
          </a:xfrm>
          <a:prstGeom prst="line">
            <a:avLst/>
          </a:prstGeom>
          <a:noFill/>
          <a:ln w="12700">
            <a:solidFill>
              <a:srgbClr val="5B7D80"/>
            </a:solidFill>
            <a:prstDash val="solid"/>
            <a:tailEnd type="triangle"/>
          </a:ln>
        </p:spPr>
      </p:sp>
      <p:sp>
        <p:nvSpPr>
          <p:cNvPr id="57" name="Text 55"/>
          <p:cNvSpPr txBox="1"/>
          <p:nvPr/>
        </p:nvSpPr>
        <p:spPr>
          <a:xfrm>
            <a:off x="10195560" y="2388489"/>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Yes</a:t>
            </a:r>
            <a:endParaRPr lang="en-US" sz="800" dirty="0"/>
          </a:p>
        </p:txBody>
      </p:sp>
      <p:sp>
        <p:nvSpPr>
          <p:cNvPr id="58" name="Text 56"/>
          <p:cNvSpPr txBox="1"/>
          <p:nvPr/>
        </p:nvSpPr>
        <p:spPr>
          <a:xfrm>
            <a:off x="10195560" y="2607945"/>
            <a:ext cx="1463040" cy="433578"/>
          </a:xfrm>
          <a:prstGeom prst="roundRect">
            <a:avLst>
              <a:gd name="adj" fmla="val 8436"/>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60" dirty="0">
                <a:solidFill>
                  <a:srgbClr val="6B4A10"/>
                </a:solidFill>
                <a:latin typeface="Arial" pitchFamily="34" charset="0"/>
                <a:ea typeface="Arial" pitchFamily="34" charset="-122"/>
                <a:cs typeface="Arial" pitchFamily="34" charset="-120"/>
              </a:rPr>
              <a:t>Exception Research Agent — gathers CVR / fuzzy-match candidates as evidence</a:t>
            </a:r>
            <a:endParaRPr lang="en-US" sz="760" dirty="0"/>
          </a:p>
        </p:txBody>
      </p:sp>
      <p:sp>
        <p:nvSpPr>
          <p:cNvPr id="59" name="Shape 57"/>
          <p:cNvSpPr/>
          <p:nvPr/>
        </p:nvSpPr>
        <p:spPr>
          <a:xfrm>
            <a:off x="10927080" y="3041523"/>
            <a:ext cx="0" cy="219456"/>
          </a:xfrm>
          <a:prstGeom prst="line">
            <a:avLst/>
          </a:prstGeom>
          <a:noFill/>
          <a:ln w="12700">
            <a:solidFill>
              <a:srgbClr val="5B7D80"/>
            </a:solidFill>
            <a:prstDash val="solid"/>
            <a:tailEnd type="triangle"/>
          </a:ln>
        </p:spPr>
      </p:sp>
      <p:sp>
        <p:nvSpPr>
          <p:cNvPr id="60" name="Text 58"/>
          <p:cNvSpPr txBox="1"/>
          <p:nvPr/>
        </p:nvSpPr>
        <p:spPr>
          <a:xfrm>
            <a:off x="10195560" y="3260979"/>
            <a:ext cx="1463040" cy="433578"/>
          </a:xfrm>
          <a:prstGeom prst="roundRect">
            <a:avLst>
              <a:gd name="adj" fmla="val 8436"/>
            </a:avLst>
          </a:prstGeom>
          <a:solidFill>
            <a:srgbClr val="F1E6ED"/>
          </a:solidFill>
          <a:ln w="15875">
            <a:solidFill>
              <a:srgbClr val="7A4A66"/>
            </a:solidFill>
            <a:prstDash val="solid"/>
          </a:ln>
        </p:spPr>
        <p:txBody>
          <a:bodyPr wrap="square" lIns="38100" tIns="38100" rIns="38100" bIns="38100" rtlCol="0" anchor="ctr"/>
          <a:lstStyle/>
          <a:p>
            <a:pPr algn="ctr" indent="0" marL="0">
              <a:lnSpc>
                <a:spcPct val="108000"/>
              </a:lnSpc>
              <a:buNone/>
            </a:pPr>
            <a:r>
              <a:rPr lang="en-US" sz="760" dirty="0">
                <a:solidFill>
                  <a:srgbClr val="4A2C3B"/>
                </a:solidFill>
                <a:latin typeface="Arial" pitchFamily="34" charset="0"/>
                <a:ea typeface="Arial" pitchFamily="34" charset="-122"/>
                <a:cs typeface="Arial" pitchFamily="34" charset="-120"/>
              </a:rPr>
              <a:t>Underwriter decides</a:t>
            </a:r>
            <a:endParaRPr lang="en-US" sz="760" dirty="0"/>
          </a:p>
          <a:p>
            <a:pPr algn="ctr" indent="0" marL="0">
              <a:lnSpc>
                <a:spcPct val="108000"/>
              </a:lnSpc>
              <a:buNone/>
            </a:pPr>
            <a:r>
              <a:rPr lang="en-US" sz="760" dirty="0">
                <a:solidFill>
                  <a:srgbClr val="4A2C3B"/>
                </a:solidFill>
                <a:latin typeface="Arial" pitchFamily="34" charset="0"/>
                <a:ea typeface="Arial" pitchFamily="34" charset="-122"/>
                <a:cs typeface="Arial" pitchFamily="34" charset="-120"/>
              </a:rPr>
              <a:t>(AI prepares, never decides)</a:t>
            </a:r>
            <a:endParaRPr lang="en-US" sz="760" dirty="0"/>
          </a:p>
        </p:txBody>
      </p:sp>
      <p:sp>
        <p:nvSpPr>
          <p:cNvPr id="61" name="Text 59"/>
          <p:cNvSpPr txBox="1"/>
          <p:nvPr/>
        </p:nvSpPr>
        <p:spPr>
          <a:xfrm>
            <a:off x="9162288" y="3172206"/>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No</a:t>
            </a:r>
            <a:endParaRPr lang="en-US" sz="800" dirty="0"/>
          </a:p>
        </p:txBody>
      </p:sp>
      <p:sp>
        <p:nvSpPr>
          <p:cNvPr id="62" name="Shape 60"/>
          <p:cNvSpPr/>
          <p:nvPr/>
        </p:nvSpPr>
        <p:spPr>
          <a:xfrm>
            <a:off x="9052560" y="3144774"/>
            <a:ext cx="0" cy="1701546"/>
          </a:xfrm>
          <a:prstGeom prst="line">
            <a:avLst/>
          </a:prstGeom>
          <a:noFill/>
          <a:ln w="12700">
            <a:solidFill>
              <a:srgbClr val="5B7D80"/>
            </a:solidFill>
            <a:prstDash val="solid"/>
            <a:tailEnd type="triangle"/>
          </a:ln>
        </p:spPr>
      </p:sp>
      <p:sp>
        <p:nvSpPr>
          <p:cNvPr id="63" name="Text 61"/>
          <p:cNvSpPr txBox="1"/>
          <p:nvPr/>
        </p:nvSpPr>
        <p:spPr>
          <a:xfrm>
            <a:off x="7589520" y="49377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continues, part 3 · Outcome Drafting Agent</a:t>
            </a:r>
            <a:endParaRPr lang="en-US" sz="830" dirty="0"/>
          </a:p>
        </p:txBody>
      </p:sp>
      <p:sp>
        <p:nvSpPr>
          <p:cNvPr id="64" name="Shape 62"/>
          <p:cNvSpPr/>
          <p:nvPr/>
        </p:nvSpPr>
        <p:spPr>
          <a:xfrm>
            <a:off x="6309360" y="5532120"/>
            <a:ext cx="3017520" cy="658368"/>
          </a:xfrm>
          <a:prstGeom prst="roundRect">
            <a:avLst>
              <a:gd name="adj" fmla="val 6944"/>
            </a:avLst>
          </a:prstGeom>
          <a:solidFill>
            <a:srgbClr val="F7F7F5"/>
          </a:solidFill>
          <a:ln w="12700">
            <a:solidFill>
              <a:srgbClr val="D7DCE2"/>
            </a:solidFill>
            <a:prstDash val="solid"/>
          </a:ln>
        </p:spPr>
      </p:sp>
      <p:sp>
        <p:nvSpPr>
          <p:cNvPr id="65" name="Text 63"/>
          <p:cNvSpPr txBox="1"/>
          <p:nvPr/>
        </p:nvSpPr>
        <p:spPr>
          <a:xfrm>
            <a:off x="6400800" y="5532120"/>
            <a:ext cx="2834640" cy="658368"/>
          </a:xfrm>
          <a:prstGeom prst="rect">
            <a:avLst/>
          </a:prstGeom>
          <a:noFill/>
          <a:ln/>
        </p:spPr>
        <p:txBody>
          <a:bodyPr wrap="square" lIns="50800" tIns="50800" rIns="50800" bIns="50800" rtlCol="0" anchor="ctr"/>
          <a:lstStyle/>
          <a:p>
            <a:pPr algn="ctr" indent="0" marL="0">
              <a:lnSpc>
                <a:spcPct val="120000"/>
              </a:lnSpc>
              <a:buNone/>
            </a:pPr>
            <a:r>
              <a:rPr lang="en-US" sz="840" dirty="0">
                <a:solidFill>
                  <a:srgbClr val="3A4250"/>
                </a:solidFill>
                <a:latin typeface="Arial" pitchFamily="34" charset="0"/>
                <a:ea typeface="Arial" pitchFamily="34" charset="-122"/>
                <a:cs typeface="Arial" pitchFamily="34" charset="-120"/>
              </a:rPr>
              <a:t>3 sequential gates, each with its own rework loop, become 1 parallel check.</a:t>
            </a:r>
            <a:endParaRPr lang="en-US" sz="8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18872"/>
            <a:ext cx="813816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The AI writes the draft; the handler still makes the decision</a:t>
            </a:r>
            <a:endParaRPr lang="en-US" sz="1400" dirty="0"/>
          </a:p>
        </p:txBody>
      </p:sp>
      <p:sp>
        <p:nvSpPr>
          <p:cNvPr id="3" name="Text 1"/>
          <p:cNvSpPr txBox="1"/>
          <p:nvPr/>
        </p:nvSpPr>
        <p:spPr>
          <a:xfrm>
            <a:off x="365760" y="402336"/>
            <a:ext cx="10607040" cy="237744"/>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From a system warning to a closed claim or a fully opened one — nothing that can go against a claimant is automated</a:t>
            </a:r>
            <a:endParaRPr lang="en-US" sz="950" dirty="0"/>
          </a:p>
        </p:txBody>
      </p:sp>
      <p:sp>
        <p:nvSpPr>
          <p:cNvPr id="4" name="Text 2"/>
          <p:cNvSpPr txBox="1"/>
          <p:nvPr/>
        </p:nvSpPr>
        <p:spPr>
          <a:xfrm>
            <a:off x="8595360" y="146304"/>
            <a:ext cx="32278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FNOL REDESIGN · 3 OF 3</a:t>
            </a:r>
            <a:endParaRPr lang="en-US" sz="950" dirty="0"/>
          </a:p>
        </p:txBody>
      </p:sp>
      <p:sp>
        <p:nvSpPr>
          <p:cNvPr id="5" name="Shape 3"/>
          <p:cNvSpPr/>
          <p:nvPr/>
        </p:nvSpPr>
        <p:spPr>
          <a:xfrm>
            <a:off x="365760" y="713232"/>
            <a:ext cx="137160" cy="137160"/>
          </a:xfrm>
          <a:prstGeom prst="roundRect">
            <a:avLst>
              <a:gd name="adj" fmla="val 13333"/>
            </a:avLst>
          </a:prstGeom>
          <a:solidFill>
            <a:srgbClr val="E6F8F7"/>
          </a:solidFill>
          <a:ln w="12700">
            <a:solidFill>
              <a:srgbClr val="007A82"/>
            </a:solidFill>
            <a:prstDash val="solid"/>
          </a:ln>
        </p:spPr>
      </p:sp>
      <p:sp>
        <p:nvSpPr>
          <p:cNvPr id="6" name="Text 4"/>
          <p:cNvSpPr txBox="1"/>
          <p:nvPr/>
        </p:nvSpPr>
        <p:spPr>
          <a:xfrm>
            <a:off x="5669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Trigger / start</a:t>
            </a:r>
            <a:endParaRPr lang="en-US" sz="800" dirty="0"/>
          </a:p>
        </p:txBody>
      </p:sp>
      <p:sp>
        <p:nvSpPr>
          <p:cNvPr id="7" name="Shape 5"/>
          <p:cNvSpPr/>
          <p:nvPr/>
        </p:nvSpPr>
        <p:spPr>
          <a:xfrm>
            <a:off x="1691640" y="713232"/>
            <a:ext cx="137160" cy="137160"/>
          </a:xfrm>
          <a:prstGeom prst="roundRect">
            <a:avLst>
              <a:gd name="adj" fmla="val 13333"/>
            </a:avLst>
          </a:prstGeom>
          <a:solidFill>
            <a:srgbClr val="FFFFFF"/>
          </a:solidFill>
          <a:ln w="12700">
            <a:solidFill>
              <a:srgbClr val="5B7D80"/>
            </a:solidFill>
            <a:prstDash val="solid"/>
          </a:ln>
        </p:spPr>
      </p:sp>
      <p:sp>
        <p:nvSpPr>
          <p:cNvPr id="8" name="Text 6"/>
          <p:cNvSpPr txBox="1"/>
          <p:nvPr/>
        </p:nvSpPr>
        <p:spPr>
          <a:xfrm>
            <a:off x="18928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Step / decision</a:t>
            </a:r>
            <a:endParaRPr lang="en-US" sz="800" dirty="0"/>
          </a:p>
        </p:txBody>
      </p:sp>
      <p:sp>
        <p:nvSpPr>
          <p:cNvPr id="9" name="Shape 7"/>
          <p:cNvSpPr/>
          <p:nvPr/>
        </p:nvSpPr>
        <p:spPr>
          <a:xfrm>
            <a:off x="3063240" y="713232"/>
            <a:ext cx="137160" cy="137160"/>
          </a:xfrm>
          <a:prstGeom prst="roundRect">
            <a:avLst>
              <a:gd name="adj" fmla="val 13333"/>
            </a:avLst>
          </a:prstGeom>
          <a:solidFill>
            <a:srgbClr val="FCEFD6"/>
          </a:solidFill>
          <a:ln w="12700">
            <a:solidFill>
              <a:srgbClr val="EF9F27"/>
            </a:solidFill>
            <a:prstDash val="solid"/>
          </a:ln>
        </p:spPr>
      </p:sp>
      <p:sp>
        <p:nvSpPr>
          <p:cNvPr id="10" name="Text 8"/>
          <p:cNvSpPr txBox="1"/>
          <p:nvPr/>
        </p:nvSpPr>
        <p:spPr>
          <a:xfrm>
            <a:off x="3264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Exception / rework</a:t>
            </a:r>
            <a:endParaRPr lang="en-US" sz="800" dirty="0"/>
          </a:p>
        </p:txBody>
      </p:sp>
      <p:sp>
        <p:nvSpPr>
          <p:cNvPr id="11" name="Shape 9"/>
          <p:cNvSpPr/>
          <p:nvPr/>
        </p:nvSpPr>
        <p:spPr>
          <a:xfrm>
            <a:off x="4892040" y="713232"/>
            <a:ext cx="137160" cy="137160"/>
          </a:xfrm>
          <a:prstGeom prst="roundRect">
            <a:avLst>
              <a:gd name="adj" fmla="val 13333"/>
            </a:avLst>
          </a:prstGeom>
          <a:solidFill>
            <a:srgbClr val="EDF7DB"/>
          </a:solidFill>
          <a:ln w="12700">
            <a:solidFill>
              <a:srgbClr val="6FA01F"/>
            </a:solidFill>
            <a:prstDash val="solid"/>
          </a:ln>
        </p:spPr>
      </p:sp>
      <p:sp>
        <p:nvSpPr>
          <p:cNvPr id="12" name="Text 10"/>
          <p:cNvSpPr txBox="1"/>
          <p:nvPr/>
        </p:nvSpPr>
        <p:spPr>
          <a:xfrm>
            <a:off x="50932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Exit</a:t>
            </a:r>
            <a:endParaRPr lang="en-US" sz="800" dirty="0"/>
          </a:p>
        </p:txBody>
      </p:sp>
      <p:sp>
        <p:nvSpPr>
          <p:cNvPr id="13" name="Shape 11"/>
          <p:cNvSpPr/>
          <p:nvPr/>
        </p:nvSpPr>
        <p:spPr>
          <a:xfrm>
            <a:off x="6309360" y="713232"/>
            <a:ext cx="137160" cy="137160"/>
          </a:xfrm>
          <a:prstGeom prst="roundRect">
            <a:avLst>
              <a:gd name="adj" fmla="val 13333"/>
            </a:avLst>
          </a:prstGeom>
          <a:solidFill>
            <a:srgbClr val="E3EDF6"/>
          </a:solidFill>
          <a:ln w="12700">
            <a:solidFill>
              <a:srgbClr val="3B6FA0"/>
            </a:solidFill>
            <a:prstDash val="solid"/>
          </a:ln>
        </p:spPr>
      </p:sp>
      <p:sp>
        <p:nvSpPr>
          <p:cNvPr id="14" name="Text 12"/>
          <p:cNvSpPr txBox="1"/>
          <p:nvPr/>
        </p:nvSpPr>
        <p:spPr>
          <a:xfrm>
            <a:off x="65105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AI agent (LLM call)</a:t>
            </a:r>
            <a:endParaRPr lang="en-US" sz="800" dirty="0"/>
          </a:p>
        </p:txBody>
      </p:sp>
      <p:sp>
        <p:nvSpPr>
          <p:cNvPr id="15" name="Shape 13"/>
          <p:cNvSpPr/>
          <p:nvPr/>
        </p:nvSpPr>
        <p:spPr>
          <a:xfrm>
            <a:off x="8092440" y="713232"/>
            <a:ext cx="137160" cy="137160"/>
          </a:xfrm>
          <a:prstGeom prst="roundRect">
            <a:avLst>
              <a:gd name="adj" fmla="val 13333"/>
            </a:avLst>
          </a:prstGeom>
          <a:solidFill>
            <a:srgbClr val="ECEFF3"/>
          </a:solidFill>
          <a:ln w="12700">
            <a:solidFill>
              <a:srgbClr val="6B7787"/>
            </a:solidFill>
            <a:prstDash val="solid"/>
          </a:ln>
        </p:spPr>
      </p:sp>
      <p:sp>
        <p:nvSpPr>
          <p:cNvPr id="16" name="Text 14"/>
          <p:cNvSpPr txBox="1"/>
          <p:nvPr/>
        </p:nvSpPr>
        <p:spPr>
          <a:xfrm>
            <a:off x="82936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Rules only, no model</a:t>
            </a:r>
            <a:endParaRPr lang="en-US" sz="800" dirty="0"/>
          </a:p>
        </p:txBody>
      </p:sp>
      <p:sp>
        <p:nvSpPr>
          <p:cNvPr id="17" name="Shape 15"/>
          <p:cNvSpPr/>
          <p:nvPr/>
        </p:nvSpPr>
        <p:spPr>
          <a:xfrm>
            <a:off x="9921240" y="713232"/>
            <a:ext cx="137160" cy="137160"/>
          </a:xfrm>
          <a:prstGeom prst="roundRect">
            <a:avLst>
              <a:gd name="adj" fmla="val 13333"/>
            </a:avLst>
          </a:prstGeom>
          <a:solidFill>
            <a:srgbClr val="F1E6ED"/>
          </a:solidFill>
          <a:ln w="12700">
            <a:solidFill>
              <a:srgbClr val="7A4A66"/>
            </a:solidFill>
            <a:prstDash val="solid"/>
          </a:ln>
        </p:spPr>
      </p:sp>
      <p:sp>
        <p:nvSpPr>
          <p:cNvPr id="18" name="Text 16"/>
          <p:cNvSpPr txBox="1"/>
          <p:nvPr/>
        </p:nvSpPr>
        <p:spPr>
          <a:xfrm>
            <a:off x="10122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Human checkpoint</a:t>
            </a:r>
            <a:endParaRPr lang="en-US" sz="800" dirty="0"/>
          </a:p>
        </p:txBody>
      </p:sp>
      <p:sp>
        <p:nvSpPr>
          <p:cNvPr id="19" name="Shape 17"/>
          <p:cNvSpPr/>
          <p:nvPr/>
        </p:nvSpPr>
        <p:spPr>
          <a:xfrm>
            <a:off x="6062472" y="1024128"/>
            <a:ext cx="0" cy="5440680"/>
          </a:xfrm>
          <a:prstGeom prst="line">
            <a:avLst/>
          </a:prstGeom>
          <a:noFill/>
          <a:ln w="9525">
            <a:solidFill>
              <a:srgbClr val="D7DCE2"/>
            </a:solidFill>
            <a:prstDash val="solid"/>
          </a:ln>
        </p:spPr>
      </p:sp>
      <p:sp>
        <p:nvSpPr>
          <p:cNvPr id="20" name="Text 18"/>
          <p:cNvSpPr txBox="1"/>
          <p:nvPr/>
        </p:nvSpPr>
        <p:spPr>
          <a:xfrm>
            <a:off x="365760" y="1005840"/>
            <a:ext cx="5486400" cy="237744"/>
          </a:xfrm>
          <a:prstGeom prst="rect">
            <a:avLst/>
          </a:prstGeom>
          <a:noFill/>
          <a:ln/>
        </p:spPr>
        <p:txBody>
          <a:bodyPr wrap="square" lIns="0" tIns="0" rIns="0" bIns="0" rtlCol="0" anchor="ctr"/>
          <a:lstStyle/>
          <a:p>
            <a:pPr indent="0" marL="0">
              <a:buNone/>
            </a:pPr>
            <a:r>
              <a:rPr lang="en-US" sz="1150" b="1" dirty="0">
                <a:solidFill>
                  <a:srgbClr val="5B6472"/>
                </a:solidFill>
                <a:latin typeface="Arial" pitchFamily="34" charset="0"/>
                <a:ea typeface="Arial" pitchFamily="34" charset="-122"/>
                <a:cs typeface="Arial" pitchFamily="34" charset="-120"/>
              </a:rPr>
              <a:t>TODAY</a:t>
            </a:r>
            <a:endParaRPr lang="en-US" sz="1150" dirty="0"/>
          </a:p>
        </p:txBody>
      </p:sp>
      <p:sp>
        <p:nvSpPr>
          <p:cNvPr id="21" name="Text 19"/>
          <p:cNvSpPr txBox="1"/>
          <p:nvPr/>
        </p:nvSpPr>
        <p:spPr>
          <a:xfrm>
            <a:off x="6309360" y="1005840"/>
            <a:ext cx="5486400" cy="237744"/>
          </a:xfrm>
          <a:prstGeom prst="rect">
            <a:avLst/>
          </a:prstGeom>
          <a:noFill/>
          <a:ln/>
        </p:spPr>
        <p:txBody>
          <a:bodyPr wrap="square" lIns="0" tIns="0" rIns="0" bIns="0" rtlCol="0" anchor="ctr"/>
          <a:lstStyle/>
          <a:p>
            <a:pPr indent="0" marL="0">
              <a:buNone/>
            </a:pPr>
            <a:r>
              <a:rPr lang="en-US" sz="1150" b="1" dirty="0">
                <a:solidFill>
                  <a:srgbClr val="3B6FA0"/>
                </a:solidFill>
                <a:latin typeface="Arial" pitchFamily="34" charset="0"/>
                <a:ea typeface="Arial" pitchFamily="34" charset="-122"/>
                <a:cs typeface="Arial" pitchFamily="34" charset="-120"/>
              </a:rPr>
              <a:t>AI-NATIVE  </a:t>
            </a:r>
            <a:pPr indent="0" marL="0">
              <a:buNone/>
            </a:pPr>
            <a:r>
              <a:rPr lang="en-US" sz="850" i="1" dirty="0">
                <a:solidFill>
                  <a:srgbClr val="5B6472"/>
                </a:solidFill>
                <a:latin typeface="Arial" pitchFamily="34" charset="0"/>
                <a:ea typeface="Arial" pitchFamily="34" charset="-122"/>
                <a:cs typeface="Arial" pitchFamily="34" charset="-120"/>
              </a:rPr>
              <a:t>— one LangGraph state graph · shared claim state carries the audit trail</a:t>
            </a:r>
            <a:endParaRPr lang="en-US" sz="1150" dirty="0"/>
          </a:p>
        </p:txBody>
      </p:sp>
      <p:sp>
        <p:nvSpPr>
          <p:cNvPr id="22" name="Text 20"/>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23" name="Text 21"/>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4 / 10</a:t>
            </a:r>
            <a:endParaRPr lang="en-US" sz="800" dirty="0"/>
          </a:p>
        </p:txBody>
      </p:sp>
      <p:sp>
        <p:nvSpPr>
          <p:cNvPr id="24" name="Text 22"/>
          <p:cNvSpPr txBox="1"/>
          <p:nvPr/>
        </p:nvSpPr>
        <p:spPr>
          <a:xfrm>
            <a:off x="1645920" y="12801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continued from part 2</a:t>
            </a:r>
            <a:endParaRPr lang="en-US" sz="830" dirty="0"/>
          </a:p>
        </p:txBody>
      </p:sp>
      <p:sp>
        <p:nvSpPr>
          <p:cNvPr id="25" name="Shape 23"/>
          <p:cNvSpPr/>
          <p:nvPr/>
        </p:nvSpPr>
        <p:spPr>
          <a:xfrm>
            <a:off x="3108960" y="1481328"/>
            <a:ext cx="0" cy="164592"/>
          </a:xfrm>
          <a:prstGeom prst="line">
            <a:avLst/>
          </a:prstGeom>
          <a:noFill/>
          <a:ln w="12700">
            <a:solidFill>
              <a:srgbClr val="5B7D80"/>
            </a:solidFill>
            <a:prstDash val="solid"/>
            <a:tailEnd type="triangle"/>
          </a:ln>
        </p:spPr>
      </p:sp>
      <p:sp>
        <p:nvSpPr>
          <p:cNvPr id="26" name="Text 24"/>
          <p:cNvSpPr txBox="1"/>
          <p:nvPr/>
        </p:nvSpPr>
        <p:spPr>
          <a:xfrm>
            <a:off x="2240280" y="16459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Red warning</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on claim?</a:t>
            </a:r>
            <a:endParaRPr lang="en-US" sz="950" dirty="0"/>
          </a:p>
        </p:txBody>
      </p:sp>
      <p:sp>
        <p:nvSpPr>
          <p:cNvPr id="27" name="Shape 25"/>
          <p:cNvSpPr/>
          <p:nvPr/>
        </p:nvSpPr>
        <p:spPr>
          <a:xfrm flipH="1">
            <a:off x="1965960" y="1965960"/>
            <a:ext cx="274320" cy="0"/>
          </a:xfrm>
          <a:prstGeom prst="line">
            <a:avLst/>
          </a:prstGeom>
          <a:noFill/>
          <a:ln w="12700">
            <a:solidFill>
              <a:srgbClr val="5B7D80"/>
            </a:solidFill>
            <a:prstDash val="solid"/>
            <a:tailEnd type="triangle"/>
          </a:ln>
        </p:spPr>
      </p:sp>
      <p:sp>
        <p:nvSpPr>
          <p:cNvPr id="28" name="Text 26"/>
          <p:cNvSpPr txBox="1"/>
          <p:nvPr/>
        </p:nvSpPr>
        <p:spPr>
          <a:xfrm>
            <a:off x="411480" y="1585214"/>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Yes</a:t>
            </a:r>
            <a:endParaRPr lang="en-US" sz="800" dirty="0"/>
          </a:p>
        </p:txBody>
      </p:sp>
      <p:sp>
        <p:nvSpPr>
          <p:cNvPr id="29" name="Text 27"/>
          <p:cNvSpPr txBox="1"/>
          <p:nvPr/>
        </p:nvSpPr>
        <p:spPr>
          <a:xfrm>
            <a:off x="502920" y="1804670"/>
            <a:ext cx="1463040" cy="322580"/>
          </a:xfrm>
          <a:prstGeom prst="roundRect">
            <a:avLst>
              <a:gd name="adj" fmla="val 11339"/>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60" dirty="0">
                <a:solidFill>
                  <a:srgbClr val="6B4A10"/>
                </a:solidFill>
                <a:latin typeface="Arial" pitchFamily="34" charset="0"/>
                <a:ea typeface="Arial" pitchFamily="34" charset="-122"/>
                <a:cs typeface="Arial" pitchFamily="34" charset="-120"/>
              </a:rPr>
              <a:t>On hold: check with UW before it can move on</a:t>
            </a:r>
            <a:endParaRPr lang="en-US" sz="760" dirty="0"/>
          </a:p>
        </p:txBody>
      </p:sp>
      <p:sp>
        <p:nvSpPr>
          <p:cNvPr id="30" name="Shape 28"/>
          <p:cNvSpPr/>
          <p:nvPr/>
        </p:nvSpPr>
        <p:spPr>
          <a:xfrm>
            <a:off x="1965960" y="2127250"/>
            <a:ext cx="1143000" cy="661670"/>
          </a:xfrm>
          <a:prstGeom prst="line">
            <a:avLst/>
          </a:prstGeom>
          <a:noFill/>
          <a:ln w="12700">
            <a:solidFill>
              <a:srgbClr val="5B7D80"/>
            </a:solidFill>
            <a:prstDash val="solid"/>
            <a:tailEnd type="triangle"/>
          </a:ln>
        </p:spPr>
      </p:sp>
      <p:sp>
        <p:nvSpPr>
          <p:cNvPr id="31" name="Text 29"/>
          <p:cNvSpPr txBox="1"/>
          <p:nvPr/>
        </p:nvSpPr>
        <p:spPr>
          <a:xfrm>
            <a:off x="3218688" y="2240280"/>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No</a:t>
            </a:r>
            <a:endParaRPr lang="en-US" sz="800" dirty="0"/>
          </a:p>
        </p:txBody>
      </p:sp>
      <p:sp>
        <p:nvSpPr>
          <p:cNvPr id="32" name="Shape 30"/>
          <p:cNvSpPr/>
          <p:nvPr/>
        </p:nvSpPr>
        <p:spPr>
          <a:xfrm>
            <a:off x="3108960" y="2212848"/>
            <a:ext cx="0" cy="576072"/>
          </a:xfrm>
          <a:prstGeom prst="line">
            <a:avLst/>
          </a:prstGeom>
          <a:noFill/>
          <a:ln w="12700">
            <a:solidFill>
              <a:srgbClr val="5B7D80"/>
            </a:solidFill>
            <a:prstDash val="solid"/>
            <a:tailEnd type="triangle"/>
          </a:ln>
        </p:spPr>
      </p:sp>
      <p:sp>
        <p:nvSpPr>
          <p:cNvPr id="33" name="Text 31"/>
          <p:cNvSpPr txBox="1"/>
          <p:nvPr/>
        </p:nvSpPr>
        <p:spPr>
          <a:xfrm>
            <a:off x="2240280" y="27889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Injury minor?</a:t>
            </a:r>
            <a:endParaRPr lang="en-US" sz="950" dirty="0"/>
          </a:p>
        </p:txBody>
      </p:sp>
      <p:sp>
        <p:nvSpPr>
          <p:cNvPr id="34" name="Shape 32"/>
          <p:cNvSpPr/>
          <p:nvPr/>
        </p:nvSpPr>
        <p:spPr>
          <a:xfrm flipH="1">
            <a:off x="1965960" y="3108960"/>
            <a:ext cx="274320" cy="0"/>
          </a:xfrm>
          <a:prstGeom prst="line">
            <a:avLst/>
          </a:prstGeom>
          <a:noFill/>
          <a:ln w="12700">
            <a:solidFill>
              <a:srgbClr val="5B7D80"/>
            </a:solidFill>
            <a:prstDash val="solid"/>
            <a:tailEnd type="triangle"/>
          </a:ln>
        </p:spPr>
      </p:sp>
      <p:sp>
        <p:nvSpPr>
          <p:cNvPr id="35" name="Text 33"/>
          <p:cNvSpPr txBox="1"/>
          <p:nvPr/>
        </p:nvSpPr>
        <p:spPr>
          <a:xfrm>
            <a:off x="411480" y="2728214"/>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Yes, ~65% (likely more)</a:t>
            </a:r>
            <a:endParaRPr lang="en-US" sz="800" dirty="0"/>
          </a:p>
        </p:txBody>
      </p:sp>
      <p:sp>
        <p:nvSpPr>
          <p:cNvPr id="36" name="Text 34"/>
          <p:cNvSpPr txBox="1"/>
          <p:nvPr/>
        </p:nvSpPr>
        <p:spPr>
          <a:xfrm>
            <a:off x="502920" y="2947670"/>
            <a:ext cx="1463040" cy="322580"/>
          </a:xfrm>
          <a:prstGeom prst="roundRect">
            <a:avLst>
              <a:gd name="adj" fmla="val 11339"/>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Close at intake — letter, no permanent injury</a:t>
            </a:r>
            <a:endParaRPr lang="en-US" sz="760" dirty="0"/>
          </a:p>
        </p:txBody>
      </p:sp>
      <p:sp>
        <p:nvSpPr>
          <p:cNvPr id="37" name="Shape 35"/>
          <p:cNvSpPr/>
          <p:nvPr/>
        </p:nvSpPr>
        <p:spPr>
          <a:xfrm>
            <a:off x="3977640" y="3108960"/>
            <a:ext cx="274320" cy="0"/>
          </a:xfrm>
          <a:prstGeom prst="line">
            <a:avLst/>
          </a:prstGeom>
          <a:noFill/>
          <a:ln w="12700">
            <a:solidFill>
              <a:srgbClr val="5B7D80"/>
            </a:solidFill>
            <a:prstDash val="solid"/>
            <a:tailEnd type="triangle"/>
          </a:ln>
        </p:spPr>
      </p:sp>
      <p:sp>
        <p:nvSpPr>
          <p:cNvPr id="38" name="Text 36"/>
          <p:cNvSpPr txBox="1"/>
          <p:nvPr/>
        </p:nvSpPr>
        <p:spPr>
          <a:xfrm>
            <a:off x="4251960" y="2672715"/>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No</a:t>
            </a:r>
            <a:endParaRPr lang="en-US" sz="800" dirty="0"/>
          </a:p>
        </p:txBody>
      </p:sp>
      <p:sp>
        <p:nvSpPr>
          <p:cNvPr id="39" name="Text 37"/>
          <p:cNvSpPr txBox="1"/>
          <p:nvPr/>
        </p:nvSpPr>
        <p:spPr>
          <a:xfrm>
            <a:off x="4251960" y="2892171"/>
            <a:ext cx="1463040" cy="433578"/>
          </a:xfrm>
          <a:prstGeom prst="roundRect">
            <a:avLst>
              <a:gd name="adj" fmla="val 8436"/>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Claim in IDB: fields checked, task opened, questionnaire</a:t>
            </a:r>
            <a:endParaRPr lang="en-US" sz="760" dirty="0"/>
          </a:p>
        </p:txBody>
      </p:sp>
      <p:sp>
        <p:nvSpPr>
          <p:cNvPr id="40" name="Shape 38"/>
          <p:cNvSpPr/>
          <p:nvPr/>
        </p:nvSpPr>
        <p:spPr>
          <a:xfrm>
            <a:off x="365760" y="4160520"/>
            <a:ext cx="5486400" cy="685800"/>
          </a:xfrm>
          <a:prstGeom prst="roundRect">
            <a:avLst>
              <a:gd name="adj" fmla="val 6667"/>
            </a:avLst>
          </a:prstGeom>
          <a:solidFill>
            <a:srgbClr val="F7F7F5"/>
          </a:solidFill>
          <a:ln w="12700">
            <a:solidFill>
              <a:srgbClr val="D7DCE2"/>
            </a:solidFill>
            <a:prstDash val="solid"/>
          </a:ln>
        </p:spPr>
      </p:sp>
      <p:sp>
        <p:nvSpPr>
          <p:cNvPr id="41" name="Text 39"/>
          <p:cNvSpPr txBox="1"/>
          <p:nvPr/>
        </p:nvSpPr>
        <p:spPr>
          <a:xfrm>
            <a:off x="502920" y="4160520"/>
            <a:ext cx="5212080" cy="685800"/>
          </a:xfrm>
          <a:prstGeom prst="rect">
            <a:avLst/>
          </a:prstGeom>
          <a:noFill/>
          <a:ln/>
        </p:spPr>
        <p:txBody>
          <a:bodyPr wrap="square" lIns="50800" tIns="50800" rIns="50800" bIns="50800" rtlCol="0" anchor="ctr"/>
          <a:lstStyle/>
          <a:p>
            <a:pPr algn="ctr" indent="0" marL="0">
              <a:lnSpc>
                <a:spcPct val="120000"/>
              </a:lnSpc>
              <a:buNone/>
            </a:pPr>
            <a:r>
              <a:rPr lang="en-US" sz="900" dirty="0">
                <a:solidFill>
                  <a:srgbClr val="3A4250"/>
                </a:solidFill>
                <a:latin typeface="Arial" pitchFamily="34" charset="0"/>
                <a:ea typeface="Arial" pitchFamily="34" charset="-122"/>
                <a:cs typeface="Arial" pitchFamily="34" charset="-120"/>
              </a:rPr>
              <a:t>Today: 7 decision gates, 3 entry channels, 10 exception or exit branches across the full FNOL flow.</a:t>
            </a:r>
            <a:endParaRPr lang="en-US" sz="900" dirty="0"/>
          </a:p>
        </p:txBody>
      </p:sp>
      <p:sp>
        <p:nvSpPr>
          <p:cNvPr id="42" name="Text 40"/>
          <p:cNvSpPr txBox="1"/>
          <p:nvPr/>
        </p:nvSpPr>
        <p:spPr>
          <a:xfrm>
            <a:off x="7589520" y="12801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continued from part 2</a:t>
            </a:r>
            <a:endParaRPr lang="en-US" sz="830" dirty="0"/>
          </a:p>
        </p:txBody>
      </p:sp>
      <p:sp>
        <p:nvSpPr>
          <p:cNvPr id="43" name="Shape 41"/>
          <p:cNvSpPr/>
          <p:nvPr/>
        </p:nvSpPr>
        <p:spPr>
          <a:xfrm>
            <a:off x="9052560" y="1481328"/>
            <a:ext cx="0" cy="164592"/>
          </a:xfrm>
          <a:prstGeom prst="line">
            <a:avLst/>
          </a:prstGeom>
          <a:noFill/>
          <a:ln w="12700">
            <a:solidFill>
              <a:srgbClr val="5B7D80"/>
            </a:solidFill>
            <a:prstDash val="solid"/>
            <a:tailEnd type="triangle"/>
          </a:ln>
        </p:spPr>
      </p:sp>
      <p:sp>
        <p:nvSpPr>
          <p:cNvPr id="44" name="Text 42"/>
          <p:cNvSpPr txBox="1"/>
          <p:nvPr/>
        </p:nvSpPr>
        <p:spPr>
          <a:xfrm>
            <a:off x="6583680" y="1645920"/>
            <a:ext cx="4937760" cy="538734"/>
          </a:xfrm>
          <a:prstGeom prst="roundRect">
            <a:avLst>
              <a:gd name="adj" fmla="val 6789"/>
            </a:avLst>
          </a:prstGeom>
          <a:solidFill>
            <a:srgbClr val="E3EDF6"/>
          </a:solidFill>
          <a:ln w="15875">
            <a:solidFill>
              <a:srgbClr val="3B6FA0"/>
            </a:solidFill>
            <a:prstDash val="solid"/>
          </a:ln>
        </p:spPr>
        <p:txBody>
          <a:bodyPr wrap="square" lIns="38100" tIns="38100" rIns="38100" bIns="38100" rtlCol="0" anchor="ctr"/>
          <a:lstStyle/>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Outcome Drafting Agent</a:t>
            </a:r>
            <a:endParaRPr lang="en-US" sz="1000" dirty="0"/>
          </a:p>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drafts the close-out letter, or the full IDB record, with its reasoning attached</a:t>
            </a:r>
            <a:endParaRPr lang="en-US" sz="1000" dirty="0"/>
          </a:p>
        </p:txBody>
      </p:sp>
      <p:sp>
        <p:nvSpPr>
          <p:cNvPr id="45" name="Shape 43"/>
          <p:cNvSpPr/>
          <p:nvPr/>
        </p:nvSpPr>
        <p:spPr>
          <a:xfrm>
            <a:off x="9052560" y="2184654"/>
            <a:ext cx="0" cy="201168"/>
          </a:xfrm>
          <a:prstGeom prst="line">
            <a:avLst/>
          </a:prstGeom>
          <a:noFill/>
          <a:ln w="12700">
            <a:solidFill>
              <a:srgbClr val="5B7D80"/>
            </a:solidFill>
            <a:prstDash val="solid"/>
            <a:tailEnd type="triangle"/>
          </a:ln>
        </p:spPr>
      </p:sp>
      <p:sp>
        <p:nvSpPr>
          <p:cNvPr id="46" name="Text 44"/>
          <p:cNvSpPr txBox="1"/>
          <p:nvPr/>
        </p:nvSpPr>
        <p:spPr>
          <a:xfrm>
            <a:off x="7040880" y="2385822"/>
            <a:ext cx="4023360" cy="351790"/>
          </a:xfrm>
          <a:prstGeom prst="roundRect">
            <a:avLst>
              <a:gd name="adj" fmla="val 10397"/>
            </a:avLst>
          </a:prstGeom>
          <a:solidFill>
            <a:srgbClr val="F1E6ED"/>
          </a:solidFill>
          <a:ln w="15875">
            <a:solidFill>
              <a:srgbClr val="7A4A66"/>
            </a:solidFill>
            <a:prstDash val="solid"/>
          </a:ln>
        </p:spPr>
        <p:txBody>
          <a:bodyPr wrap="square" lIns="38100" tIns="38100" rIns="38100" bIns="38100" rtlCol="0" anchor="ctr"/>
          <a:lstStyle/>
          <a:p>
            <a:pPr algn="ctr" indent="0" marL="0">
              <a:lnSpc>
                <a:spcPct val="108000"/>
              </a:lnSpc>
              <a:buNone/>
            </a:pPr>
            <a:r>
              <a:rPr lang="en-US" sz="860" b="1" dirty="0">
                <a:solidFill>
                  <a:srgbClr val="4A2C3B"/>
                </a:solidFill>
                <a:latin typeface="Arial" pitchFamily="34" charset="0"/>
                <a:ea typeface="Arial" pitchFamily="34" charset="-122"/>
                <a:cs typeface="Arial" pitchFamily="34" charset="-120"/>
              </a:rPr>
              <a:t>Handler approves before anything sends — edit rate is the monitored metric, not model accuracy</a:t>
            </a:r>
            <a:endParaRPr lang="en-US" sz="860" dirty="0"/>
          </a:p>
        </p:txBody>
      </p:sp>
      <p:sp>
        <p:nvSpPr>
          <p:cNvPr id="47" name="Shape 45"/>
          <p:cNvSpPr/>
          <p:nvPr/>
        </p:nvSpPr>
        <p:spPr>
          <a:xfrm>
            <a:off x="9052560" y="2737612"/>
            <a:ext cx="0" cy="292608"/>
          </a:xfrm>
          <a:prstGeom prst="line">
            <a:avLst/>
          </a:prstGeom>
          <a:noFill/>
          <a:ln w="12700">
            <a:solidFill>
              <a:srgbClr val="5B7D80"/>
            </a:solidFill>
            <a:prstDash val="solid"/>
            <a:tailEnd type="triangle"/>
          </a:ln>
        </p:spPr>
      </p:sp>
      <p:sp>
        <p:nvSpPr>
          <p:cNvPr id="48" name="Text 46"/>
          <p:cNvSpPr txBox="1"/>
          <p:nvPr/>
        </p:nvSpPr>
        <p:spPr>
          <a:xfrm>
            <a:off x="8183880" y="30302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Injury minor?</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(~65%)</a:t>
            </a:r>
            <a:endParaRPr lang="en-US" sz="950" dirty="0"/>
          </a:p>
        </p:txBody>
      </p:sp>
      <p:sp>
        <p:nvSpPr>
          <p:cNvPr id="49" name="Shape 47"/>
          <p:cNvSpPr/>
          <p:nvPr/>
        </p:nvSpPr>
        <p:spPr>
          <a:xfrm flipH="1">
            <a:off x="7909560" y="3350260"/>
            <a:ext cx="274320" cy="0"/>
          </a:xfrm>
          <a:prstGeom prst="line">
            <a:avLst/>
          </a:prstGeom>
          <a:noFill/>
          <a:ln w="12700">
            <a:solidFill>
              <a:srgbClr val="5B7D80"/>
            </a:solidFill>
            <a:prstDash val="solid"/>
            <a:tailEnd type="triangle"/>
          </a:ln>
        </p:spPr>
      </p:sp>
      <p:sp>
        <p:nvSpPr>
          <p:cNvPr id="50" name="Text 48"/>
          <p:cNvSpPr txBox="1"/>
          <p:nvPr/>
        </p:nvSpPr>
        <p:spPr>
          <a:xfrm>
            <a:off x="6355080" y="2969514"/>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Yes</a:t>
            </a:r>
            <a:endParaRPr lang="en-US" sz="800" dirty="0"/>
          </a:p>
        </p:txBody>
      </p:sp>
      <p:sp>
        <p:nvSpPr>
          <p:cNvPr id="51" name="Text 49"/>
          <p:cNvSpPr txBox="1"/>
          <p:nvPr/>
        </p:nvSpPr>
        <p:spPr>
          <a:xfrm>
            <a:off x="6446520" y="3188970"/>
            <a:ext cx="1463040" cy="322580"/>
          </a:xfrm>
          <a:prstGeom prst="roundRect">
            <a:avLst>
              <a:gd name="adj" fmla="val 11339"/>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Close at intake — AI-drafted, handler approved</a:t>
            </a:r>
            <a:endParaRPr lang="en-US" sz="760" dirty="0"/>
          </a:p>
        </p:txBody>
      </p:sp>
      <p:sp>
        <p:nvSpPr>
          <p:cNvPr id="52" name="Shape 50"/>
          <p:cNvSpPr/>
          <p:nvPr/>
        </p:nvSpPr>
        <p:spPr>
          <a:xfrm>
            <a:off x="9921240" y="3350260"/>
            <a:ext cx="274320" cy="0"/>
          </a:xfrm>
          <a:prstGeom prst="line">
            <a:avLst/>
          </a:prstGeom>
          <a:noFill/>
          <a:ln w="12700">
            <a:solidFill>
              <a:srgbClr val="5B7D80"/>
            </a:solidFill>
            <a:prstDash val="solid"/>
            <a:tailEnd type="triangle"/>
          </a:ln>
        </p:spPr>
      </p:sp>
      <p:sp>
        <p:nvSpPr>
          <p:cNvPr id="53" name="Text 51"/>
          <p:cNvSpPr txBox="1"/>
          <p:nvPr/>
        </p:nvSpPr>
        <p:spPr>
          <a:xfrm>
            <a:off x="10195560" y="2969514"/>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No</a:t>
            </a:r>
            <a:endParaRPr lang="en-US" sz="800" dirty="0"/>
          </a:p>
        </p:txBody>
      </p:sp>
      <p:sp>
        <p:nvSpPr>
          <p:cNvPr id="54" name="Text 52"/>
          <p:cNvSpPr txBox="1"/>
          <p:nvPr/>
        </p:nvSpPr>
        <p:spPr>
          <a:xfrm>
            <a:off x="10195560" y="3188970"/>
            <a:ext cx="1463040" cy="322580"/>
          </a:xfrm>
          <a:prstGeom prst="roundRect">
            <a:avLst>
              <a:gd name="adj" fmla="val 11339"/>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Claim in IDB — runs parallel with Coverage Check</a:t>
            </a:r>
            <a:endParaRPr lang="en-US" sz="760" dirty="0"/>
          </a:p>
        </p:txBody>
      </p:sp>
      <p:sp>
        <p:nvSpPr>
          <p:cNvPr id="55" name="Shape 53"/>
          <p:cNvSpPr/>
          <p:nvPr/>
        </p:nvSpPr>
        <p:spPr>
          <a:xfrm>
            <a:off x="6400800" y="4081780"/>
            <a:ext cx="5303520" cy="914400"/>
          </a:xfrm>
          <a:prstGeom prst="roundRect">
            <a:avLst>
              <a:gd name="adj" fmla="val 5000"/>
            </a:avLst>
          </a:prstGeom>
          <a:solidFill>
            <a:srgbClr val="F7F7F5"/>
          </a:solidFill>
          <a:ln w="12700">
            <a:solidFill>
              <a:srgbClr val="D7DCE2"/>
            </a:solidFill>
            <a:prstDash val="solid"/>
          </a:ln>
        </p:spPr>
      </p:sp>
      <p:sp>
        <p:nvSpPr>
          <p:cNvPr id="56" name="Text 54"/>
          <p:cNvSpPr txBox="1"/>
          <p:nvPr/>
        </p:nvSpPr>
        <p:spPr>
          <a:xfrm>
            <a:off x="6537960" y="4081780"/>
            <a:ext cx="5029200" cy="914400"/>
          </a:xfrm>
          <a:prstGeom prst="rect">
            <a:avLst/>
          </a:prstGeom>
          <a:noFill/>
          <a:ln/>
        </p:spPr>
        <p:txBody>
          <a:bodyPr wrap="square" lIns="50800" tIns="50800" rIns="50800" bIns="50800" rtlCol="0" anchor="ctr"/>
          <a:lstStyle/>
          <a:p>
            <a:pPr algn="ctr" indent="0" marL="0">
              <a:lnSpc>
                <a:spcPct val="120000"/>
              </a:lnSpc>
              <a:buNone/>
            </a:pPr>
            <a:r>
              <a:rPr lang="en-US" sz="900" b="1" dirty="0">
                <a:solidFill>
                  <a:srgbClr val="1B2430"/>
                </a:solidFill>
                <a:latin typeface="Arial" pitchFamily="34" charset="0"/>
                <a:ea typeface="Arial" pitchFamily="34" charset="-122"/>
                <a:cs typeface="Arial" pitchFamily="34" charset="-120"/>
              </a:rPr>
              <a:t>Net result across all three parts:
</a:t>
            </a:r>
            <a:endParaRPr lang="en-US" sz="900" dirty="0"/>
          </a:p>
          <a:p>
            <a:pPr algn="ctr" indent="0" marL="0">
              <a:lnSpc>
                <a:spcPct val="120000"/>
              </a:lnSpc>
              <a:buNone/>
            </a:pPr>
            <a:r>
              <a:rPr lang="en-US" sz="900" dirty="0">
                <a:solidFill>
                  <a:srgbClr val="3A4250"/>
                </a:solidFill>
                <a:latin typeface="Arial" pitchFamily="34" charset="0"/>
                <a:ea typeface="Arial" pitchFamily="34" charset="-122"/>
                <a:cs typeface="Arial" pitchFamily="34" charset="-120"/>
              </a:rPr>
              <a:t>4 LLM agents + 1 rules-only node · 2 human checkpoints kept by design · 3 entry channels → 1 · 3 sequential gates → 1 parallel check · shared claim state carries the audit trail</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Coverage Check stops being a second investigation — the evidence is already in the claim</a:t>
            </a:r>
            <a:endParaRPr lang="en-US" sz="1400" dirty="0"/>
          </a:p>
        </p:txBody>
      </p:sp>
      <p:sp>
        <p:nvSpPr>
          <p:cNvPr id="3" name="Text 1"/>
          <p:cNvSpPr txBox="1"/>
          <p:nvPr/>
        </p:nvSpPr>
        <p:spPr>
          <a:xfrm>
            <a:off x="8229600" y="146304"/>
            <a:ext cx="359359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COVERAGE CHECK &amp; HANDOFF</a:t>
            </a:r>
            <a:endParaRPr lang="en-US" sz="950" dirty="0"/>
          </a:p>
        </p:txBody>
      </p:sp>
      <p:sp>
        <p:nvSpPr>
          <p:cNvPr id="4" name="Text 2"/>
          <p:cNvSpPr txBox="1"/>
          <p:nvPr/>
        </p:nvSpPr>
        <p:spPr>
          <a:xfrm>
            <a:off x="365760" y="457200"/>
            <a:ext cx="7589520" cy="219456"/>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Every reason a claim can fail the coverage test, and where each one should be settled</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786384"/>
          <a:ext cx="7589520" cy="914400"/>
        </p:xfrm>
        <a:graphic>
          <a:graphicData uri="http://schemas.openxmlformats.org/drawingml/2006/table">
            <a:tbl>
              <a:tblPr/>
              <a:tblGrid>
                <a:gridCol w="2331720"/>
                <a:gridCol w="1508760"/>
                <a:gridCol w="2514600"/>
                <a:gridCol w="1234440"/>
              </a:tblGrid>
              <a:tr h="310896">
                <a:tc>
                  <a:txBody>
                    <a:bodyPr/>
                    <a:lstStyle/>
                    <a:p>
                      <a:pPr algn="l" indent="0" marL="0">
                        <a:buNone/>
                      </a:pPr>
                      <a:r>
                        <a:rPr lang="en-US" sz="800" b="1" dirty="0">
                          <a:solidFill>
                            <a:srgbClr val="3A3A3A"/>
                          </a:solidFill>
                          <a:latin typeface="Arial" pitchFamily="34" charset="0"/>
                          <a:ea typeface="Arial" pitchFamily="34" charset="-122"/>
                          <a:cs typeface="Arial" pitchFamily="34" charset="-120"/>
                        </a:rPr>
                        <a:t>Why coverage looks missing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3A3A3A"/>
                          </a:solidFill>
                          <a:latin typeface="Arial" pitchFamily="34" charset="0"/>
                          <a:ea typeface="Arial" pitchFamily="34" charset="-122"/>
                          <a:cs typeface="Arial" pitchFamily="34" charset="-120"/>
                        </a:rPr>
                        <a:t>Today</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3A3A3A"/>
                          </a:solidFill>
                          <a:latin typeface="Arial" pitchFamily="34" charset="0"/>
                          <a:ea typeface="Arial" pitchFamily="34" charset="-122"/>
                          <a:cs typeface="Arial" pitchFamily="34" charset="-120"/>
                        </a:rPr>
                        <a:t>Redesigned</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3A3A3A"/>
                          </a:solidFill>
                          <a:latin typeface="Arial" pitchFamily="34" charset="0"/>
                          <a:ea typeface="Arial" pitchFamily="34" charset="-122"/>
                          <a:cs typeface="Arial" pitchFamily="34" charset="-120"/>
                        </a:rPr>
                        <a:t>Who decides</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Date sits inside a valid policy — no warning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quick manual check</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rules, no model call</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system</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 valid follow-up policy exists</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find it, reattach</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registry lookup, reattach drafted</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handler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Self-employed, voluntary cover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manual self-check</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registry lookup, rules</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handler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Group or branch policy not surfaced</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ask underwriting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agent gathers the evidence, drafts the question</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underwriting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Company-name mismatch</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ask underwriting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agent fuzzy-matches CVR, drafts the question</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underwriting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Wrong, expired, or no policy at all</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back to employer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letter drafted, never sent unread</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handler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3310128"/>
            <a:ext cx="7589520" cy="841248"/>
          </a:xfrm>
          <a:prstGeom prst="roundRect">
            <a:avLst>
              <a:gd name="adj" fmla="val 6522"/>
            </a:avLst>
          </a:prstGeom>
          <a:solidFill>
            <a:srgbClr val="E4F4F8"/>
          </a:solidFill>
          <a:ln w="15240">
            <a:solidFill>
              <a:srgbClr val="0891B2"/>
            </a:solidFill>
            <a:prstDash val="solid"/>
          </a:ln>
        </p:spPr>
      </p:sp>
      <p:sp>
        <p:nvSpPr>
          <p:cNvPr id="7" name="Text 4"/>
          <p:cNvSpPr txBox="1"/>
          <p:nvPr/>
        </p:nvSpPr>
        <p:spPr>
          <a:xfrm>
            <a:off x="530352" y="3310128"/>
            <a:ext cx="7260336" cy="841248"/>
          </a:xfrm>
          <a:prstGeom prst="rect">
            <a:avLst/>
          </a:prstGeom>
          <a:noFill/>
          <a:ln/>
        </p:spPr>
        <p:txBody>
          <a:bodyPr wrap="square" lIns="0" tIns="0" rIns="0" bIns="0" rtlCol="0" anchor="ctr"/>
          <a:lstStyle/>
          <a:p>
            <a:pPr indent="0" marL="0">
              <a:lnSpc>
                <a:spcPct val="120000"/>
              </a:lnSpc>
              <a:buNone/>
            </a:pPr>
            <a:r>
              <a:rPr lang="en-US" sz="860" b="1" dirty="0">
                <a:solidFill>
                  <a:srgbClr val="0B5A66"/>
                </a:solidFill>
                <a:latin typeface="Arial" pitchFamily="34" charset="0"/>
                <a:ea typeface="Arial" pitchFamily="34" charset="-122"/>
                <a:cs typeface="Arial" pitchFamily="34" charset="-120"/>
              </a:rPr>
              <a:t>Only two rows change hands.  </a:t>
            </a:r>
            <a:pPr indent="0" marL="0">
              <a:lnSpc>
                <a:spcPct val="120000"/>
              </a:lnSpc>
              <a:buNone/>
            </a:pPr>
            <a:r>
              <a:rPr lang="en-US" sz="860" dirty="0">
                <a:solidFill>
                  <a:srgbClr val="34474A"/>
                </a:solidFill>
                <a:latin typeface="Arial" pitchFamily="34" charset="0"/>
                <a:ea typeface="Arial" pitchFamily="34" charset="-122"/>
                <a:cs typeface="Arial" pitchFamily="34" charset="-120"/>
              </a:rPr>
              <a:t>Four of the six are lookups against a register the insurer already queries — those become rules with no model call at all. The two that genuinely need judgement still go to underwriting, because that authority is not ours to take. The AI's job there is to arrive with the evidence assembled, not to answer the question.</a:t>
            </a:r>
            <a:endParaRPr lang="en-US" sz="860" dirty="0"/>
          </a:p>
        </p:txBody>
      </p:sp>
      <p:sp>
        <p:nvSpPr>
          <p:cNvPr id="8" name="Shape 5"/>
          <p:cNvSpPr/>
          <p:nvPr/>
        </p:nvSpPr>
        <p:spPr>
          <a:xfrm>
            <a:off x="365760" y="4261104"/>
            <a:ext cx="7589520" cy="1700784"/>
          </a:xfrm>
          <a:prstGeom prst="roundRect">
            <a:avLst>
              <a:gd name="adj" fmla="val 3226"/>
            </a:avLst>
          </a:prstGeom>
          <a:solidFill>
            <a:srgbClr val="FFFFFF"/>
          </a:solidFill>
          <a:ln w="12700">
            <a:solidFill>
              <a:srgbClr val="D7DCE2"/>
            </a:solidFill>
            <a:prstDash val="solid"/>
          </a:ln>
        </p:spPr>
      </p:sp>
      <p:sp>
        <p:nvSpPr>
          <p:cNvPr id="9" name="Text 6"/>
          <p:cNvSpPr txBox="1"/>
          <p:nvPr/>
        </p:nvSpPr>
        <p:spPr>
          <a:xfrm>
            <a:off x="548640" y="4370832"/>
            <a:ext cx="7223760" cy="201168"/>
          </a:xfrm>
          <a:prstGeom prst="rect">
            <a:avLst/>
          </a:prstGeom>
          <a:noFill/>
          <a:ln/>
        </p:spPr>
        <p:txBody>
          <a:bodyPr wrap="square" lIns="0" tIns="0" rIns="0" bIns="0" rtlCol="0" anchor="ctr"/>
          <a:lstStyle/>
          <a:p>
            <a:pPr indent="0" marL="0">
              <a:buNone/>
            </a:pPr>
            <a:r>
              <a:rPr lang="en-US" sz="900" b="1" spc="80" kern="0" dirty="0">
                <a:solidFill>
                  <a:srgbClr val="D97706"/>
                </a:solidFill>
                <a:latin typeface="Arial" pitchFamily="34" charset="0"/>
                <a:ea typeface="Arial" pitchFamily="34" charset="-122"/>
                <a:cs typeface="Arial" pitchFamily="34" charset="-120"/>
              </a:rPr>
              <a:t>WHAT THIS REMOVES</a:t>
            </a:r>
            <a:endParaRPr lang="en-US" sz="900" dirty="0"/>
          </a:p>
        </p:txBody>
      </p:sp>
      <p:sp>
        <p:nvSpPr>
          <p:cNvPr id="10" name="Shape 7"/>
          <p:cNvSpPr/>
          <p:nvPr/>
        </p:nvSpPr>
        <p:spPr>
          <a:xfrm>
            <a:off x="548640" y="4645152"/>
            <a:ext cx="36576" cy="347472"/>
          </a:xfrm>
          <a:prstGeom prst="rect">
            <a:avLst/>
          </a:prstGeom>
          <a:solidFill>
            <a:srgbClr val="D97706"/>
          </a:solidFill>
          <a:ln/>
        </p:spPr>
      </p:sp>
      <p:sp>
        <p:nvSpPr>
          <p:cNvPr id="11" name="Text 8"/>
          <p:cNvSpPr txBox="1"/>
          <p:nvPr/>
        </p:nvSpPr>
        <p:spPr>
          <a:xfrm>
            <a:off x="676656" y="4626864"/>
            <a:ext cx="2468880" cy="365760"/>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The second look at the policy</a:t>
            </a:r>
            <a:endParaRPr lang="en-US" sz="840" dirty="0"/>
          </a:p>
        </p:txBody>
      </p:sp>
      <p:sp>
        <p:nvSpPr>
          <p:cNvPr id="12" name="Text 9"/>
          <p:cNvSpPr txBox="1"/>
          <p:nvPr/>
        </p:nvSpPr>
        <p:spPr>
          <a:xfrm>
            <a:off x="3200400" y="4626864"/>
            <a:ext cx="4572000" cy="365760"/>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FNOL already asked “is a valid policy attached?”. Coverage Check asks it again, from the same documents.</a:t>
            </a:r>
            <a:endParaRPr lang="en-US" sz="800" dirty="0"/>
          </a:p>
        </p:txBody>
      </p:sp>
      <p:sp>
        <p:nvSpPr>
          <p:cNvPr id="13" name="Shape 10"/>
          <p:cNvSpPr/>
          <p:nvPr/>
        </p:nvSpPr>
        <p:spPr>
          <a:xfrm>
            <a:off x="548640" y="5065776"/>
            <a:ext cx="36576" cy="347472"/>
          </a:xfrm>
          <a:prstGeom prst="rect">
            <a:avLst/>
          </a:prstGeom>
          <a:solidFill>
            <a:srgbClr val="D97706"/>
          </a:solidFill>
          <a:ln/>
        </p:spPr>
      </p:sp>
      <p:sp>
        <p:nvSpPr>
          <p:cNvPr id="14" name="Text 11"/>
          <p:cNvSpPr txBox="1"/>
          <p:nvPr/>
        </p:nvSpPr>
        <p:spPr>
          <a:xfrm>
            <a:off x="676656" y="5047488"/>
            <a:ext cx="2468880" cy="365760"/>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The wait between the two</a:t>
            </a:r>
            <a:endParaRPr lang="en-US" sz="840" dirty="0"/>
          </a:p>
        </p:txBody>
      </p:sp>
      <p:sp>
        <p:nvSpPr>
          <p:cNvPr id="15" name="Text 12"/>
          <p:cNvSpPr txBox="1"/>
          <p:nvPr/>
        </p:nvSpPr>
        <p:spPr>
          <a:xfrm>
            <a:off x="3200400" y="5047488"/>
            <a:ext cx="4572000" cy="365760"/>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Today the claim sits in IDB until someone picks up the coverage step. It now runs beside claim creation, not after it.</a:t>
            </a:r>
            <a:endParaRPr lang="en-US" sz="800" dirty="0"/>
          </a:p>
        </p:txBody>
      </p:sp>
      <p:sp>
        <p:nvSpPr>
          <p:cNvPr id="16" name="Shape 13"/>
          <p:cNvSpPr/>
          <p:nvPr/>
        </p:nvSpPr>
        <p:spPr>
          <a:xfrm>
            <a:off x="548640" y="5486400"/>
            <a:ext cx="36576" cy="347472"/>
          </a:xfrm>
          <a:prstGeom prst="rect">
            <a:avLst/>
          </a:prstGeom>
          <a:solidFill>
            <a:srgbClr val="D97706"/>
          </a:solidFill>
          <a:ln/>
        </p:spPr>
      </p:sp>
      <p:sp>
        <p:nvSpPr>
          <p:cNvPr id="17" name="Text 14"/>
          <p:cNvSpPr txBox="1"/>
          <p:nvPr/>
        </p:nvSpPr>
        <p:spPr>
          <a:xfrm>
            <a:off x="676656" y="5468112"/>
            <a:ext cx="2468880" cy="365760"/>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Re-reading the file to ask underwriting</a:t>
            </a:r>
            <a:endParaRPr lang="en-US" sz="840" dirty="0"/>
          </a:p>
        </p:txBody>
      </p:sp>
      <p:sp>
        <p:nvSpPr>
          <p:cNvPr id="18" name="Text 15"/>
          <p:cNvSpPr txBox="1"/>
          <p:nvPr/>
        </p:nvSpPr>
        <p:spPr>
          <a:xfrm>
            <a:off x="3200400" y="5468112"/>
            <a:ext cx="4572000" cy="365760"/>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The question arrives with the policy history, the CVR match and the dates already attached.</a:t>
            </a:r>
            <a:endParaRPr lang="en-US" sz="800" dirty="0"/>
          </a:p>
        </p:txBody>
      </p:sp>
      <p:sp>
        <p:nvSpPr>
          <p:cNvPr id="19" name="Shape 16"/>
          <p:cNvSpPr/>
          <p:nvPr/>
        </p:nvSpPr>
        <p:spPr>
          <a:xfrm>
            <a:off x="8138160" y="786384"/>
            <a:ext cx="3685032" cy="5175504"/>
          </a:xfrm>
          <a:prstGeom prst="roundRect">
            <a:avLst>
              <a:gd name="adj" fmla="val 1489"/>
            </a:avLst>
          </a:prstGeom>
          <a:solidFill>
            <a:srgbClr val="EDECFB"/>
          </a:solidFill>
          <a:ln w="16510">
            <a:solidFill>
              <a:srgbClr val="4338CA"/>
            </a:solidFill>
            <a:prstDash val="solid"/>
          </a:ln>
        </p:spPr>
      </p:sp>
      <p:sp>
        <p:nvSpPr>
          <p:cNvPr id="20" name="Text 17"/>
          <p:cNvSpPr txBox="1"/>
          <p:nvPr/>
        </p:nvSpPr>
        <p:spPr>
          <a:xfrm>
            <a:off x="8339328" y="914400"/>
            <a:ext cx="3282696" cy="219456"/>
          </a:xfrm>
          <a:prstGeom prst="rect">
            <a:avLst/>
          </a:prstGeom>
          <a:noFill/>
          <a:ln/>
        </p:spPr>
        <p:txBody>
          <a:bodyPr wrap="square" lIns="0" tIns="0" rIns="0" bIns="0" rtlCol="0" anchor="ctr"/>
          <a:lstStyle/>
          <a:p>
            <a:pPr indent="0" marL="0">
              <a:buNone/>
            </a:pPr>
            <a:r>
              <a:rPr lang="en-US" sz="1000" b="1" spc="90" kern="0" dirty="0">
                <a:solidFill>
                  <a:srgbClr val="4338CA"/>
                </a:solidFill>
                <a:latin typeface="Arial" pitchFamily="34" charset="0"/>
                <a:ea typeface="Arial" pitchFamily="34" charset="-122"/>
                <a:cs typeface="Arial" pitchFamily="34" charset="-120"/>
              </a:rPr>
              <a:t>THE HANDOFF</a:t>
            </a:r>
            <a:endParaRPr lang="en-US" sz="1000" dirty="0"/>
          </a:p>
        </p:txBody>
      </p:sp>
      <p:sp>
        <p:nvSpPr>
          <p:cNvPr id="21" name="Text 18"/>
          <p:cNvSpPr txBox="1"/>
          <p:nvPr/>
        </p:nvSpPr>
        <p:spPr>
          <a:xfrm>
            <a:off x="8339328" y="1152144"/>
            <a:ext cx="3282696" cy="475488"/>
          </a:xfrm>
          <a:prstGeom prst="rect">
            <a:avLst/>
          </a:prstGeom>
          <a:noFill/>
          <a:ln/>
        </p:spPr>
        <p:txBody>
          <a:bodyPr wrap="square" lIns="0" tIns="0" rIns="0" bIns="0" rtlCol="0" anchor="ctr"/>
          <a:lstStyle/>
          <a:p>
            <a:pPr indent="0" marL="0">
              <a:lnSpc>
                <a:spcPct val="115000"/>
              </a:lnSpc>
              <a:buNone/>
            </a:pPr>
            <a:r>
              <a:rPr lang="en-US" sz="820" i="1" dirty="0">
                <a:solidFill>
                  <a:srgbClr val="3A3A5E"/>
                </a:solidFill>
                <a:latin typeface="Arial" pitchFamily="34" charset="0"/>
                <a:ea typeface="Arial" pitchFamily="34" charset="-122"/>
                <a:cs typeface="Arial" pitchFamily="34" charset="-120"/>
              </a:rPr>
              <a:t>The brief asks about the join between the two workflows. Today it is a queue. In the redesign there is nothing to hand over.</a:t>
            </a:r>
            <a:endParaRPr lang="en-US" sz="820" dirty="0"/>
          </a:p>
        </p:txBody>
      </p:sp>
      <p:sp>
        <p:nvSpPr>
          <p:cNvPr id="22" name="Text 19"/>
          <p:cNvSpPr txBox="1"/>
          <p:nvPr/>
        </p:nvSpPr>
        <p:spPr>
          <a:xfrm>
            <a:off x="8339328" y="1700784"/>
            <a:ext cx="3282696" cy="182880"/>
          </a:xfrm>
          <a:prstGeom prst="rect">
            <a:avLst/>
          </a:prstGeom>
          <a:noFill/>
          <a:ln/>
        </p:spPr>
        <p:txBody>
          <a:bodyPr wrap="square" lIns="0" tIns="0" rIns="0" bIns="0" rtlCol="0" anchor="ctr"/>
          <a:lstStyle/>
          <a:p>
            <a:pPr indent="0" marL="0">
              <a:buNone/>
            </a:pPr>
            <a:r>
              <a:rPr lang="en-US" sz="840" b="1" spc="100" kern="0" dirty="0">
                <a:solidFill>
                  <a:srgbClr val="6A6A7E"/>
                </a:solidFill>
                <a:latin typeface="Arial" pitchFamily="34" charset="0"/>
                <a:ea typeface="Arial" pitchFamily="34" charset="-122"/>
                <a:cs typeface="Arial" pitchFamily="34" charset="-120"/>
              </a:rPr>
              <a:t>TODAY</a:t>
            </a:r>
            <a:endParaRPr lang="en-US" sz="840" dirty="0"/>
          </a:p>
        </p:txBody>
      </p:sp>
      <p:sp>
        <p:nvSpPr>
          <p:cNvPr id="23" name="Text 20"/>
          <p:cNvSpPr txBox="1"/>
          <p:nvPr/>
        </p:nvSpPr>
        <p:spPr>
          <a:xfrm>
            <a:off x="8339328" y="1920240"/>
            <a:ext cx="3282696" cy="292608"/>
          </a:xfrm>
          <a:prstGeom prst="rect">
            <a:avLst/>
          </a:prstGeom>
          <a:noFill/>
          <a:ln/>
        </p:spPr>
        <p:txBody>
          <a:bodyPr wrap="square" lIns="0" tIns="0" rIns="0" bIns="0" rtlCol="0" anchor="ctr"/>
          <a:lstStyle/>
          <a:p>
            <a:pPr indent="0" marL="0">
              <a:lnSpc>
                <a:spcPct val="115000"/>
              </a:lnSpc>
              <a:buNone/>
            </a:pPr>
            <a:r>
              <a:rPr lang="en-US" sz="820" dirty="0">
                <a:solidFill>
                  <a:srgbClr val="4A4A5E"/>
                </a:solidFill>
                <a:latin typeface="Arial" pitchFamily="34" charset="0"/>
                <a:ea typeface="Arial" pitchFamily="34" charset="-122"/>
                <a:cs typeface="Arial" pitchFamily="34" charset="-120"/>
              </a:rPr>
              <a:t>•  FNOL closes. The claim is written to IDB.</a:t>
            </a:r>
            <a:endParaRPr lang="en-US" sz="820" dirty="0"/>
          </a:p>
        </p:txBody>
      </p:sp>
      <p:sp>
        <p:nvSpPr>
          <p:cNvPr id="24" name="Text 21"/>
          <p:cNvSpPr txBox="1"/>
          <p:nvPr/>
        </p:nvSpPr>
        <p:spPr>
          <a:xfrm>
            <a:off x="8339328" y="2231136"/>
            <a:ext cx="3282696" cy="292608"/>
          </a:xfrm>
          <a:prstGeom prst="rect">
            <a:avLst/>
          </a:prstGeom>
          <a:noFill/>
          <a:ln/>
        </p:spPr>
        <p:txBody>
          <a:bodyPr wrap="square" lIns="0" tIns="0" rIns="0" bIns="0" rtlCol="0" anchor="ctr"/>
          <a:lstStyle/>
          <a:p>
            <a:pPr indent="0" marL="0">
              <a:lnSpc>
                <a:spcPct val="115000"/>
              </a:lnSpc>
              <a:buNone/>
            </a:pPr>
            <a:r>
              <a:rPr lang="en-US" sz="820" dirty="0">
                <a:solidFill>
                  <a:srgbClr val="4A4A5E"/>
                </a:solidFill>
                <a:latin typeface="Arial" pitchFamily="34" charset="0"/>
                <a:ea typeface="Arial" pitchFamily="34" charset="-122"/>
                <a:cs typeface="Arial" pitchFamily="34" charset="-120"/>
              </a:rPr>
              <a:t>•  It waits in a queue for the coverage step.</a:t>
            </a:r>
            <a:endParaRPr lang="en-US" sz="820" dirty="0"/>
          </a:p>
        </p:txBody>
      </p:sp>
      <p:sp>
        <p:nvSpPr>
          <p:cNvPr id="25" name="Text 22"/>
          <p:cNvSpPr txBox="1"/>
          <p:nvPr/>
        </p:nvSpPr>
        <p:spPr>
          <a:xfrm>
            <a:off x="8339328" y="2542032"/>
            <a:ext cx="3282696" cy="292608"/>
          </a:xfrm>
          <a:prstGeom prst="rect">
            <a:avLst/>
          </a:prstGeom>
          <a:noFill/>
          <a:ln/>
        </p:spPr>
        <p:txBody>
          <a:bodyPr wrap="square" lIns="0" tIns="0" rIns="0" bIns="0" rtlCol="0" anchor="ctr"/>
          <a:lstStyle/>
          <a:p>
            <a:pPr indent="0" marL="0">
              <a:lnSpc>
                <a:spcPct val="115000"/>
              </a:lnSpc>
              <a:buNone/>
            </a:pPr>
            <a:r>
              <a:rPr lang="en-US" sz="820" dirty="0">
                <a:solidFill>
                  <a:srgbClr val="4A4A5E"/>
                </a:solidFill>
                <a:latin typeface="Arial" pitchFamily="34" charset="0"/>
                <a:ea typeface="Arial" pitchFamily="34" charset="-122"/>
                <a:cs typeface="Arial" pitchFamily="34" charset="-120"/>
              </a:rPr>
              <a:t>•  A second person opens the same documents.</a:t>
            </a:r>
            <a:endParaRPr lang="en-US" sz="820" dirty="0"/>
          </a:p>
        </p:txBody>
      </p:sp>
      <p:sp>
        <p:nvSpPr>
          <p:cNvPr id="26" name="Text 23"/>
          <p:cNvSpPr txBox="1"/>
          <p:nvPr/>
        </p:nvSpPr>
        <p:spPr>
          <a:xfrm>
            <a:off x="8339328" y="2852928"/>
            <a:ext cx="3282696" cy="292608"/>
          </a:xfrm>
          <a:prstGeom prst="rect">
            <a:avLst/>
          </a:prstGeom>
          <a:noFill/>
          <a:ln/>
        </p:spPr>
        <p:txBody>
          <a:bodyPr wrap="square" lIns="0" tIns="0" rIns="0" bIns="0" rtlCol="0" anchor="ctr"/>
          <a:lstStyle/>
          <a:p>
            <a:pPr indent="0" marL="0">
              <a:lnSpc>
                <a:spcPct val="115000"/>
              </a:lnSpc>
              <a:buNone/>
            </a:pPr>
            <a:r>
              <a:rPr lang="en-US" sz="820" dirty="0">
                <a:solidFill>
                  <a:srgbClr val="4A4A5E"/>
                </a:solidFill>
                <a:latin typeface="Arial" pitchFamily="34" charset="0"/>
                <a:ea typeface="Arial" pitchFamily="34" charset="-122"/>
                <a:cs typeface="Arial" pitchFamily="34" charset="-120"/>
              </a:rPr>
              <a:t>•  They re-ask a question FNOL already asked.</a:t>
            </a:r>
            <a:endParaRPr lang="en-US" sz="820" dirty="0"/>
          </a:p>
        </p:txBody>
      </p:sp>
      <p:sp>
        <p:nvSpPr>
          <p:cNvPr id="27" name="Text 24"/>
          <p:cNvSpPr txBox="1"/>
          <p:nvPr/>
        </p:nvSpPr>
        <p:spPr>
          <a:xfrm>
            <a:off x="8339328" y="3291840"/>
            <a:ext cx="3282696" cy="182880"/>
          </a:xfrm>
          <a:prstGeom prst="rect">
            <a:avLst/>
          </a:prstGeom>
          <a:noFill/>
          <a:ln/>
        </p:spPr>
        <p:txBody>
          <a:bodyPr wrap="square" lIns="0" tIns="0" rIns="0" bIns="0" rtlCol="0" anchor="ctr"/>
          <a:lstStyle/>
          <a:p>
            <a:pPr indent="0" marL="0">
              <a:buNone/>
            </a:pPr>
            <a:r>
              <a:rPr lang="en-US" sz="840" b="1" spc="100" kern="0" dirty="0">
                <a:solidFill>
                  <a:srgbClr val="4338CA"/>
                </a:solidFill>
                <a:latin typeface="Arial" pitchFamily="34" charset="0"/>
                <a:ea typeface="Arial" pitchFamily="34" charset="-122"/>
                <a:cs typeface="Arial" pitchFamily="34" charset="-120"/>
              </a:rPr>
              <a:t>REDESIGNED</a:t>
            </a:r>
            <a:endParaRPr lang="en-US" sz="840" dirty="0"/>
          </a:p>
        </p:txBody>
      </p:sp>
      <p:sp>
        <p:nvSpPr>
          <p:cNvPr id="28" name="Text 25"/>
          <p:cNvSpPr txBox="1"/>
          <p:nvPr/>
        </p:nvSpPr>
        <p:spPr>
          <a:xfrm>
            <a:off x="8339328" y="3511296"/>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One state graph spans both workflows.</a:t>
            </a:r>
            <a:endParaRPr lang="en-US" sz="820" dirty="0"/>
          </a:p>
        </p:txBody>
      </p:sp>
      <p:sp>
        <p:nvSpPr>
          <p:cNvPr id="29" name="Text 26"/>
          <p:cNvSpPr txBox="1"/>
          <p:nvPr/>
        </p:nvSpPr>
        <p:spPr>
          <a:xfrm>
            <a:off x="8339328" y="3895344"/>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Extraction captures policy, dates, CVR and employment status once.</a:t>
            </a:r>
            <a:endParaRPr lang="en-US" sz="820" dirty="0"/>
          </a:p>
        </p:txBody>
      </p:sp>
      <p:sp>
        <p:nvSpPr>
          <p:cNvPr id="30" name="Text 27"/>
          <p:cNvSpPr txBox="1"/>
          <p:nvPr/>
        </p:nvSpPr>
        <p:spPr>
          <a:xfrm>
            <a:off x="8339328" y="4279392"/>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Coverage is a rules pass over state that already exists.</a:t>
            </a:r>
            <a:endParaRPr lang="en-US" sz="820" dirty="0"/>
          </a:p>
        </p:txBody>
      </p:sp>
      <p:sp>
        <p:nvSpPr>
          <p:cNvPr id="31" name="Text 28"/>
          <p:cNvSpPr txBox="1"/>
          <p:nvPr/>
        </p:nvSpPr>
        <p:spPr>
          <a:xfrm>
            <a:off x="8339328" y="4663440"/>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It runs beside claim creation, not after it.</a:t>
            </a:r>
            <a:endParaRPr lang="en-US" sz="820" dirty="0"/>
          </a:p>
        </p:txBody>
      </p:sp>
      <p:sp>
        <p:nvSpPr>
          <p:cNvPr id="32" name="Text 29"/>
          <p:cNvSpPr txBox="1"/>
          <p:nvPr/>
        </p:nvSpPr>
        <p:spPr>
          <a:xfrm>
            <a:off x="8339328" y="5047488"/>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Only the exceptions become anyone's work.</a:t>
            </a:r>
            <a:endParaRPr lang="en-US" sz="820" dirty="0"/>
          </a:p>
        </p:txBody>
      </p:sp>
      <p:sp>
        <p:nvSpPr>
          <p:cNvPr id="33" name="Shape 30"/>
          <p:cNvSpPr/>
          <p:nvPr/>
        </p:nvSpPr>
        <p:spPr>
          <a:xfrm>
            <a:off x="8339328" y="5431536"/>
            <a:ext cx="3282696" cy="402336"/>
          </a:xfrm>
          <a:prstGeom prst="roundRect">
            <a:avLst>
              <a:gd name="adj" fmla="val 11364"/>
            </a:avLst>
          </a:prstGeom>
          <a:solidFill>
            <a:srgbClr val="FFFFFF"/>
          </a:solidFill>
          <a:ln w="12700">
            <a:solidFill>
              <a:srgbClr val="4338CA"/>
            </a:solidFill>
            <a:prstDash val="solid"/>
          </a:ln>
        </p:spPr>
      </p:sp>
      <p:sp>
        <p:nvSpPr>
          <p:cNvPr id="34" name="Text 31"/>
          <p:cNvSpPr txBox="1"/>
          <p:nvPr/>
        </p:nvSpPr>
        <p:spPr>
          <a:xfrm>
            <a:off x="8430768" y="5431536"/>
            <a:ext cx="3099816" cy="402336"/>
          </a:xfrm>
          <a:prstGeom prst="rect">
            <a:avLst/>
          </a:prstGeom>
          <a:noFill/>
          <a:ln/>
        </p:spPr>
        <p:txBody>
          <a:bodyPr wrap="square" lIns="0" tIns="0" rIns="0" bIns="0" rtlCol="0" anchor="ctr"/>
          <a:lstStyle/>
          <a:p>
            <a:pPr algn="ctr" indent="0" marL="0">
              <a:buNone/>
            </a:pPr>
            <a:r>
              <a:rPr lang="en-US" sz="820" b="1" dirty="0">
                <a:solidFill>
                  <a:srgbClr val="4338CA"/>
                </a:solidFill>
                <a:latin typeface="Arial" pitchFamily="34" charset="0"/>
                <a:ea typeface="Arial" pitchFamily="34" charset="-122"/>
                <a:cs typeface="Arial" pitchFamily="34" charset="-120"/>
              </a:rPr>
              <a:t>A handoff you delete cannot be the thing that breaks.</a:t>
            </a:r>
            <a:endParaRPr lang="en-US" sz="820" dirty="0"/>
          </a:p>
        </p:txBody>
      </p:sp>
      <p:sp>
        <p:nvSpPr>
          <p:cNvPr id="35" name="Text 32"/>
          <p:cNvSpPr txBox="1"/>
          <p:nvPr/>
        </p:nvSpPr>
        <p:spPr>
          <a:xfrm>
            <a:off x="365760" y="6053328"/>
            <a:ext cx="11430000" cy="237744"/>
          </a:xfrm>
          <a:prstGeom prst="rect">
            <a:avLst/>
          </a:prstGeom>
          <a:noFill/>
          <a:ln/>
        </p:spPr>
        <p:txBody>
          <a:bodyPr wrap="square" lIns="0" tIns="0" rIns="0" bIns="0" rtlCol="0" anchor="ctr"/>
          <a:lstStyle/>
          <a:p>
            <a:pPr indent="0" marL="0">
              <a:buNone/>
            </a:pPr>
            <a:r>
              <a:rPr lang="en-US" sz="700" dirty="0">
                <a:solidFill>
                  <a:srgbClr val="5B6472"/>
                </a:solidFill>
                <a:latin typeface="Arial" pitchFamily="34" charset="0"/>
                <a:ea typeface="Arial" pitchFamily="34" charset="-122"/>
                <a:cs typeface="Arial" pitchFamily="34" charset="-120"/>
              </a:rPr>
              <a:t>Causes and their handling are taken from Diagram 2 of the brief · “who decides” is the design choice, not an observation</a:t>
            </a:r>
            <a:endParaRPr lang="en-US" sz="700" dirty="0"/>
          </a:p>
        </p:txBody>
      </p:sp>
      <p:sp>
        <p:nvSpPr>
          <p:cNvPr id="36" name="Text 33"/>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37" name="Text 34"/>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5 / 10</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Start where a mistake is cheap — that is what earns the trust the bigger wins depend on</a:t>
            </a:r>
            <a:endParaRPr lang="en-US" sz="1400" dirty="0"/>
          </a:p>
        </p:txBody>
      </p:sp>
      <p:sp>
        <p:nvSpPr>
          <p:cNvPr id="3" name="Text 1"/>
          <p:cNvSpPr txBox="1"/>
          <p:nvPr/>
        </p:nvSpPr>
        <p:spPr>
          <a:xfrm>
            <a:off x="9509760" y="146304"/>
            <a:ext cx="23134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SEQUENCING</a:t>
            </a:r>
            <a:endParaRPr lang="en-US" sz="950" dirty="0"/>
          </a:p>
        </p:txBody>
      </p:sp>
      <p:sp>
        <p:nvSpPr>
          <p:cNvPr id="4" name="Text 2"/>
          <p:cNvSpPr txBox="1"/>
          <p:nvPr/>
        </p:nvSpPr>
        <p:spPr>
          <a:xfrm>
            <a:off x="365760" y="457200"/>
            <a:ext cx="11430000" cy="237744"/>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“Hard” means build effort and regulatory exposure together, not just weeks of work</a:t>
            </a:r>
            <a:endParaRPr lang="en-US" sz="950" dirty="0"/>
          </a:p>
        </p:txBody>
      </p:sp>
      <p:sp>
        <p:nvSpPr>
          <p:cNvPr id="5" name="Text 3"/>
          <p:cNvSpPr txBox="1"/>
          <p:nvPr/>
        </p:nvSpPr>
        <p:spPr>
          <a:xfrm rot="16200000">
            <a:off x="18288" y="3072384"/>
            <a:ext cx="1600200" cy="256032"/>
          </a:xfrm>
          <a:prstGeom prst="rect">
            <a:avLst/>
          </a:prstGeom>
          <a:noFill/>
          <a:ln/>
        </p:spPr>
        <p:txBody>
          <a:bodyPr wrap="square" lIns="0" tIns="0" rIns="0" bIns="0" rtlCol="0" anchor="ctr"/>
          <a:lstStyle/>
          <a:p>
            <a:pPr algn="ctr" indent="0" marL="0">
              <a:buNone/>
            </a:pPr>
            <a:r>
              <a:rPr lang="en-US" sz="800" b="1" dirty="0">
                <a:solidFill>
                  <a:srgbClr val="5B6472"/>
                </a:solidFill>
                <a:latin typeface="Arial" pitchFamily="34" charset="0"/>
                <a:ea typeface="Arial" pitchFamily="34" charset="-122"/>
                <a:cs typeface="Arial" pitchFamily="34" charset="-120"/>
              </a:rPr>
              <a:t>HOW OFTEN IT HAPPENS  →</a:t>
            </a:r>
            <a:endParaRPr lang="en-US" sz="800" dirty="0"/>
          </a:p>
        </p:txBody>
      </p:sp>
      <p:sp>
        <p:nvSpPr>
          <p:cNvPr id="6" name="Text 4"/>
          <p:cNvSpPr txBox="1"/>
          <p:nvPr/>
        </p:nvSpPr>
        <p:spPr>
          <a:xfrm>
            <a:off x="1051560" y="5577840"/>
            <a:ext cx="7863840" cy="219456"/>
          </a:xfrm>
          <a:prstGeom prst="rect">
            <a:avLst/>
          </a:prstGeom>
          <a:noFill/>
          <a:ln/>
        </p:spPr>
        <p:txBody>
          <a:bodyPr wrap="square" lIns="0" tIns="0" rIns="0" bIns="0" rtlCol="0" anchor="ctr"/>
          <a:lstStyle/>
          <a:p>
            <a:pPr algn="ctr" indent="0" marL="0">
              <a:buNone/>
            </a:pPr>
            <a:r>
              <a:rPr lang="en-US" sz="800" b="1" dirty="0">
                <a:solidFill>
                  <a:srgbClr val="5B6472"/>
                </a:solidFill>
                <a:latin typeface="Arial" pitchFamily="34" charset="0"/>
                <a:ea typeface="Arial" pitchFamily="34" charset="-122"/>
                <a:cs typeface="Arial" pitchFamily="34" charset="-120"/>
              </a:rPr>
              <a:t>HOW HARD AND HOW RISKY IT IS  →</a:t>
            </a:r>
            <a:endParaRPr lang="en-US" sz="800" dirty="0"/>
          </a:p>
        </p:txBody>
      </p:sp>
      <p:sp>
        <p:nvSpPr>
          <p:cNvPr id="7" name="Shape 5"/>
          <p:cNvSpPr/>
          <p:nvPr/>
        </p:nvSpPr>
        <p:spPr>
          <a:xfrm>
            <a:off x="1051560" y="914400"/>
            <a:ext cx="3931920" cy="2286000"/>
          </a:xfrm>
          <a:prstGeom prst="rect">
            <a:avLst/>
          </a:prstGeom>
          <a:solidFill>
            <a:srgbClr val="FDF3E3"/>
          </a:solidFill>
          <a:ln w="31750">
            <a:solidFill>
              <a:srgbClr val="FFFFFF"/>
            </a:solidFill>
            <a:prstDash val="solid"/>
          </a:ln>
        </p:spPr>
      </p:sp>
      <p:sp>
        <p:nvSpPr>
          <p:cNvPr id="8" name="Text 6"/>
          <p:cNvSpPr txBox="1"/>
          <p:nvPr/>
        </p:nvSpPr>
        <p:spPr>
          <a:xfrm>
            <a:off x="1234440" y="1060704"/>
            <a:ext cx="3566160" cy="237744"/>
          </a:xfrm>
          <a:prstGeom prst="rect">
            <a:avLst/>
          </a:prstGeom>
          <a:noFill/>
          <a:ln/>
        </p:spPr>
        <p:txBody>
          <a:bodyPr wrap="square" lIns="0" tIns="0" rIns="0" bIns="0" rtlCol="0" anchor="ctr"/>
          <a:lstStyle/>
          <a:p>
            <a:pPr indent="0" marL="0">
              <a:buNone/>
            </a:pPr>
            <a:r>
              <a:rPr lang="en-US" sz="1000" b="1" spc="80" kern="0" dirty="0">
                <a:solidFill>
                  <a:srgbClr val="D97706"/>
                </a:solidFill>
                <a:latin typeface="Arial" pitchFamily="34" charset="0"/>
                <a:ea typeface="Arial" pitchFamily="34" charset="-122"/>
                <a:cs typeface="Arial" pitchFamily="34" charset="-120"/>
              </a:rPr>
              <a:t>WAVE 1 — START HERE</a:t>
            </a:r>
            <a:endParaRPr lang="en-US" sz="1000" dirty="0"/>
          </a:p>
        </p:txBody>
      </p:sp>
      <p:sp>
        <p:nvSpPr>
          <p:cNvPr id="9" name="Text 7"/>
          <p:cNvSpPr txBox="1"/>
          <p:nvPr/>
        </p:nvSpPr>
        <p:spPr>
          <a:xfrm>
            <a:off x="1234440" y="1298448"/>
            <a:ext cx="3566160" cy="219456"/>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cheap to get wrong, happens constantly</a:t>
            </a:r>
            <a:endParaRPr lang="en-US" sz="800" dirty="0"/>
          </a:p>
        </p:txBody>
      </p:sp>
      <p:sp>
        <p:nvSpPr>
          <p:cNvPr id="10" name="Shape 8"/>
          <p:cNvSpPr/>
          <p:nvPr/>
        </p:nvSpPr>
        <p:spPr>
          <a:xfrm>
            <a:off x="1280160" y="1627632"/>
            <a:ext cx="3474720" cy="566928"/>
          </a:xfrm>
          <a:prstGeom prst="roundRect">
            <a:avLst>
              <a:gd name="adj" fmla="val 8065"/>
            </a:avLst>
          </a:prstGeom>
          <a:solidFill>
            <a:srgbClr val="FFFFFF"/>
          </a:solidFill>
          <a:ln w="15240">
            <a:solidFill>
              <a:srgbClr val="D97706"/>
            </a:solidFill>
            <a:prstDash val="solid"/>
          </a:ln>
        </p:spPr>
      </p:sp>
      <p:sp>
        <p:nvSpPr>
          <p:cNvPr id="11" name="Text 9"/>
          <p:cNvSpPr txBox="1"/>
          <p:nvPr/>
        </p:nvSpPr>
        <p:spPr>
          <a:xfrm>
            <a:off x="1417320" y="1627632"/>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Detect failed EASY → IDB imports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nobody is alerted today — a claim can go missing unseen</a:t>
            </a:r>
            <a:endParaRPr lang="en-US" sz="920" dirty="0"/>
          </a:p>
        </p:txBody>
      </p:sp>
      <p:sp>
        <p:nvSpPr>
          <p:cNvPr id="12" name="Shape 10"/>
          <p:cNvSpPr/>
          <p:nvPr/>
        </p:nvSpPr>
        <p:spPr>
          <a:xfrm>
            <a:off x="1280160" y="2322576"/>
            <a:ext cx="3474720" cy="566928"/>
          </a:xfrm>
          <a:prstGeom prst="roundRect">
            <a:avLst>
              <a:gd name="adj" fmla="val 8065"/>
            </a:avLst>
          </a:prstGeom>
          <a:solidFill>
            <a:srgbClr val="FFFFFF"/>
          </a:solidFill>
          <a:ln w="15240">
            <a:solidFill>
              <a:srgbClr val="D97706"/>
            </a:solidFill>
            <a:prstDash val="solid"/>
          </a:ln>
        </p:spPr>
      </p:sp>
      <p:sp>
        <p:nvSpPr>
          <p:cNvPr id="13" name="Text 11"/>
          <p:cNvSpPr txBox="1"/>
          <p:nvPr/>
        </p:nvSpPr>
        <p:spPr>
          <a:xfrm>
            <a:off x="1417320" y="2322576"/>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Read, classify, check CPR and policy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one agent plus plain rules — ends the teeth dependency</a:t>
            </a:r>
            <a:endParaRPr lang="en-US" sz="920" dirty="0"/>
          </a:p>
        </p:txBody>
      </p:sp>
      <p:sp>
        <p:nvSpPr>
          <p:cNvPr id="14" name="Shape 12"/>
          <p:cNvSpPr/>
          <p:nvPr/>
        </p:nvSpPr>
        <p:spPr>
          <a:xfrm>
            <a:off x="4983480" y="914400"/>
            <a:ext cx="3931920" cy="2286000"/>
          </a:xfrm>
          <a:prstGeom prst="rect">
            <a:avLst/>
          </a:prstGeom>
          <a:solidFill>
            <a:srgbClr val="E4F4F8"/>
          </a:solidFill>
          <a:ln w="31750">
            <a:solidFill>
              <a:srgbClr val="FFFFFF"/>
            </a:solidFill>
            <a:prstDash val="solid"/>
          </a:ln>
        </p:spPr>
      </p:sp>
      <p:sp>
        <p:nvSpPr>
          <p:cNvPr id="15" name="Text 13"/>
          <p:cNvSpPr txBox="1"/>
          <p:nvPr/>
        </p:nvSpPr>
        <p:spPr>
          <a:xfrm>
            <a:off x="5166360" y="1060704"/>
            <a:ext cx="3566160" cy="237744"/>
          </a:xfrm>
          <a:prstGeom prst="rect">
            <a:avLst/>
          </a:prstGeom>
          <a:noFill/>
          <a:ln/>
        </p:spPr>
        <p:txBody>
          <a:bodyPr wrap="square" lIns="0" tIns="0" rIns="0" bIns="0" rtlCol="0" anchor="ctr"/>
          <a:lstStyle/>
          <a:p>
            <a:pPr indent="0" marL="0">
              <a:buNone/>
            </a:pPr>
            <a:r>
              <a:rPr lang="en-US" sz="1000" b="1" spc="80" kern="0" dirty="0">
                <a:solidFill>
                  <a:srgbClr val="0891B2"/>
                </a:solidFill>
                <a:latin typeface="Arial" pitchFamily="34" charset="0"/>
                <a:ea typeface="Arial" pitchFamily="34" charset="-122"/>
                <a:cs typeface="Arial" pitchFamily="34" charset="-120"/>
              </a:rPr>
              <a:t>WAVE 2 — ONCE TRUSTED</a:t>
            </a:r>
            <a:endParaRPr lang="en-US" sz="1000" dirty="0"/>
          </a:p>
        </p:txBody>
      </p:sp>
      <p:sp>
        <p:nvSpPr>
          <p:cNvPr id="16" name="Text 14"/>
          <p:cNvSpPr txBox="1"/>
          <p:nvPr/>
        </p:nvSpPr>
        <p:spPr>
          <a:xfrm>
            <a:off x="5166360" y="1298448"/>
            <a:ext cx="3566160" cy="219456"/>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the real prize, but needs the audit trail live</a:t>
            </a:r>
            <a:endParaRPr lang="en-US" sz="800" dirty="0"/>
          </a:p>
        </p:txBody>
      </p:sp>
      <p:sp>
        <p:nvSpPr>
          <p:cNvPr id="17" name="Shape 15"/>
          <p:cNvSpPr/>
          <p:nvPr/>
        </p:nvSpPr>
        <p:spPr>
          <a:xfrm>
            <a:off x="5212080" y="1627632"/>
            <a:ext cx="3474720" cy="566928"/>
          </a:xfrm>
          <a:prstGeom prst="roundRect">
            <a:avLst>
              <a:gd name="adj" fmla="val 8065"/>
            </a:avLst>
          </a:prstGeom>
          <a:solidFill>
            <a:srgbClr val="FFFFFF"/>
          </a:solidFill>
          <a:ln w="15240">
            <a:solidFill>
              <a:srgbClr val="0891B2"/>
            </a:solidFill>
            <a:prstDash val="solid"/>
          </a:ln>
        </p:spPr>
      </p:sp>
      <p:sp>
        <p:nvSpPr>
          <p:cNvPr id="18" name="Text 16"/>
          <p:cNvSpPr txBox="1"/>
          <p:nvPr/>
        </p:nvSpPr>
        <p:spPr>
          <a:xfrm>
            <a:off x="5349240" y="1627632"/>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Draft the close-out letter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~65% of claims · a handler still approves</a:t>
            </a:r>
            <a:endParaRPr lang="en-US" sz="920" dirty="0"/>
          </a:p>
        </p:txBody>
      </p:sp>
      <p:sp>
        <p:nvSpPr>
          <p:cNvPr id="19" name="Shape 17"/>
          <p:cNvSpPr/>
          <p:nvPr/>
        </p:nvSpPr>
        <p:spPr>
          <a:xfrm>
            <a:off x="5212080" y="2322576"/>
            <a:ext cx="3474720" cy="566928"/>
          </a:xfrm>
          <a:prstGeom prst="roundRect">
            <a:avLst>
              <a:gd name="adj" fmla="val 8065"/>
            </a:avLst>
          </a:prstGeom>
          <a:solidFill>
            <a:srgbClr val="FFFFFF"/>
          </a:solidFill>
          <a:ln w="15240">
            <a:solidFill>
              <a:srgbClr val="0891B2"/>
            </a:solidFill>
            <a:prstDash val="solid"/>
          </a:ln>
        </p:spPr>
      </p:sp>
      <p:sp>
        <p:nvSpPr>
          <p:cNvPr id="20" name="Text 18"/>
          <p:cNvSpPr txBox="1"/>
          <p:nvPr/>
        </p:nvSpPr>
        <p:spPr>
          <a:xfrm>
            <a:off x="5349240" y="2322576"/>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Read AES secure mail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the only channel with no automation today</a:t>
            </a:r>
            <a:endParaRPr lang="en-US" sz="920" dirty="0"/>
          </a:p>
        </p:txBody>
      </p:sp>
      <p:sp>
        <p:nvSpPr>
          <p:cNvPr id="21" name="Shape 19"/>
          <p:cNvSpPr/>
          <p:nvPr/>
        </p:nvSpPr>
        <p:spPr>
          <a:xfrm>
            <a:off x="1051560" y="3200400"/>
            <a:ext cx="3931920" cy="2286000"/>
          </a:xfrm>
          <a:prstGeom prst="rect">
            <a:avLst/>
          </a:prstGeom>
          <a:solidFill>
            <a:srgbClr val="EDECFB"/>
          </a:solidFill>
          <a:ln w="31750">
            <a:solidFill>
              <a:srgbClr val="FFFFFF"/>
            </a:solidFill>
            <a:prstDash val="solid"/>
          </a:ln>
        </p:spPr>
      </p:sp>
      <p:sp>
        <p:nvSpPr>
          <p:cNvPr id="22" name="Text 20"/>
          <p:cNvSpPr txBox="1"/>
          <p:nvPr/>
        </p:nvSpPr>
        <p:spPr>
          <a:xfrm>
            <a:off x="1234440" y="3346704"/>
            <a:ext cx="3566160" cy="237744"/>
          </a:xfrm>
          <a:prstGeom prst="rect">
            <a:avLst/>
          </a:prstGeom>
          <a:noFill/>
          <a:ln/>
        </p:spPr>
        <p:txBody>
          <a:bodyPr wrap="square" lIns="0" tIns="0" rIns="0" bIns="0" rtlCol="0" anchor="ctr"/>
          <a:lstStyle/>
          <a:p>
            <a:pPr indent="0" marL="0">
              <a:buNone/>
            </a:pPr>
            <a:r>
              <a:rPr lang="en-US" sz="1000" b="1" spc="80" kern="0" dirty="0">
                <a:solidFill>
                  <a:srgbClr val="4338CA"/>
                </a:solidFill>
                <a:latin typeface="Arial" pitchFamily="34" charset="0"/>
                <a:ea typeface="Arial" pitchFamily="34" charset="-122"/>
                <a:cs typeface="Arial" pitchFamily="34" charset="-120"/>
              </a:rPr>
              <a:t>THEN FIX THE IMPORT ITSELF</a:t>
            </a:r>
            <a:endParaRPr lang="en-US" sz="1000" dirty="0"/>
          </a:p>
        </p:txBody>
      </p:sp>
      <p:sp>
        <p:nvSpPr>
          <p:cNvPr id="23" name="Text 21"/>
          <p:cNvSpPr txBox="1"/>
          <p:nvPr/>
        </p:nvSpPr>
        <p:spPr>
          <a:xfrm>
            <a:off x="1234440" y="3584448"/>
            <a:ext cx="3566160" cy="219456"/>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an IT defect, once you can see it</a:t>
            </a:r>
            <a:endParaRPr lang="en-US" sz="800" dirty="0"/>
          </a:p>
        </p:txBody>
      </p:sp>
      <p:sp>
        <p:nvSpPr>
          <p:cNvPr id="24" name="Shape 22"/>
          <p:cNvSpPr/>
          <p:nvPr/>
        </p:nvSpPr>
        <p:spPr>
          <a:xfrm>
            <a:off x="1280160" y="3913632"/>
            <a:ext cx="3474720" cy="566928"/>
          </a:xfrm>
          <a:prstGeom prst="roundRect">
            <a:avLst>
              <a:gd name="adj" fmla="val 8065"/>
            </a:avLst>
          </a:prstGeom>
          <a:solidFill>
            <a:srgbClr val="FFFFFF"/>
          </a:solidFill>
          <a:ln w="15240">
            <a:solidFill>
              <a:srgbClr val="4338CA"/>
            </a:solidFill>
            <a:prstDash val="solid"/>
          </a:ln>
        </p:spPr>
      </p:sp>
      <p:sp>
        <p:nvSpPr>
          <p:cNvPr id="25" name="Text 23"/>
          <p:cNvSpPr txBox="1"/>
          <p:nvPr/>
        </p:nvSpPr>
        <p:spPr>
          <a:xfrm>
            <a:off x="1417320" y="3913632"/>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Retry, park and replay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detection first — you cannot fix what nobody reports</a:t>
            </a:r>
            <a:endParaRPr lang="en-US" sz="920" dirty="0"/>
          </a:p>
        </p:txBody>
      </p:sp>
      <p:sp>
        <p:nvSpPr>
          <p:cNvPr id="26" name="Shape 24"/>
          <p:cNvSpPr/>
          <p:nvPr/>
        </p:nvSpPr>
        <p:spPr>
          <a:xfrm>
            <a:off x="4983480" y="3200400"/>
            <a:ext cx="3931920" cy="2286000"/>
          </a:xfrm>
          <a:prstGeom prst="rect">
            <a:avLst/>
          </a:prstGeom>
          <a:solidFill>
            <a:srgbClr val="FBE9F1"/>
          </a:solidFill>
          <a:ln w="31750">
            <a:solidFill>
              <a:srgbClr val="FFFFFF"/>
            </a:solidFill>
            <a:prstDash val="solid"/>
          </a:ln>
        </p:spPr>
      </p:sp>
      <p:sp>
        <p:nvSpPr>
          <p:cNvPr id="27" name="Text 25"/>
          <p:cNvSpPr txBox="1"/>
          <p:nvPr/>
        </p:nvSpPr>
        <p:spPr>
          <a:xfrm>
            <a:off x="5166360" y="3346704"/>
            <a:ext cx="3566160" cy="237744"/>
          </a:xfrm>
          <a:prstGeom prst="rect">
            <a:avLst/>
          </a:prstGeom>
          <a:noFill/>
          <a:ln/>
        </p:spPr>
        <p:txBody>
          <a:bodyPr wrap="square" lIns="0" tIns="0" rIns="0" bIns="0" rtlCol="0" anchor="ctr"/>
          <a:lstStyle/>
          <a:p>
            <a:pPr indent="0" marL="0">
              <a:buNone/>
            </a:pPr>
            <a:r>
              <a:rPr lang="en-US" sz="1000" b="1" spc="80" kern="0" dirty="0">
                <a:solidFill>
                  <a:srgbClr val="BE185D"/>
                </a:solidFill>
                <a:latin typeface="Arial" pitchFamily="34" charset="0"/>
                <a:ea typeface="Arial" pitchFamily="34" charset="-122"/>
                <a:cs typeface="Arial" pitchFamily="34" charset="-120"/>
              </a:rPr>
              <a:t>LEAVE MANUAL</a:t>
            </a:r>
            <a:endParaRPr lang="en-US" sz="1000" dirty="0"/>
          </a:p>
        </p:txBody>
      </p:sp>
      <p:sp>
        <p:nvSpPr>
          <p:cNvPr id="28" name="Text 26"/>
          <p:cNvSpPr txBox="1"/>
          <p:nvPr/>
        </p:nvSpPr>
        <p:spPr>
          <a:xfrm>
            <a:off x="5166360" y="3584448"/>
            <a:ext cx="3566160" cy="219456"/>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too rare to earn the effort</a:t>
            </a:r>
            <a:endParaRPr lang="en-US" sz="800" dirty="0"/>
          </a:p>
        </p:txBody>
      </p:sp>
      <p:sp>
        <p:nvSpPr>
          <p:cNvPr id="29" name="Shape 27"/>
          <p:cNvSpPr/>
          <p:nvPr/>
        </p:nvSpPr>
        <p:spPr>
          <a:xfrm>
            <a:off x="5212080" y="3913632"/>
            <a:ext cx="3474720" cy="566928"/>
          </a:xfrm>
          <a:prstGeom prst="roundRect">
            <a:avLst>
              <a:gd name="adj" fmla="val 8065"/>
            </a:avLst>
          </a:prstGeom>
          <a:solidFill>
            <a:srgbClr val="FFFFFF"/>
          </a:solidFill>
          <a:ln w="15240">
            <a:solidFill>
              <a:srgbClr val="BE185D"/>
            </a:solidFill>
            <a:prstDash val="solid"/>
          </a:ln>
        </p:spPr>
      </p:sp>
      <p:sp>
        <p:nvSpPr>
          <p:cNvPr id="30" name="Text 28"/>
          <p:cNvSpPr txBox="1"/>
          <p:nvPr/>
        </p:nvSpPr>
        <p:spPr>
          <a:xfrm>
            <a:off x="5349240" y="3913632"/>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"Violence cover" entitlement letter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~2 claims ever · a checklist beats a model</a:t>
            </a:r>
            <a:endParaRPr lang="en-US" sz="920" dirty="0"/>
          </a:p>
        </p:txBody>
      </p:sp>
      <p:sp>
        <p:nvSpPr>
          <p:cNvPr id="31" name="Shape 29"/>
          <p:cNvSpPr/>
          <p:nvPr/>
        </p:nvSpPr>
        <p:spPr>
          <a:xfrm>
            <a:off x="9189720" y="914400"/>
            <a:ext cx="2633472" cy="4572000"/>
          </a:xfrm>
          <a:prstGeom prst="roundRect">
            <a:avLst>
              <a:gd name="adj" fmla="val 2083"/>
            </a:avLst>
          </a:prstGeom>
          <a:solidFill>
            <a:srgbClr val="EDECFB"/>
          </a:solidFill>
          <a:ln w="16510">
            <a:solidFill>
              <a:srgbClr val="4338CA"/>
            </a:solidFill>
            <a:prstDash val="solid"/>
          </a:ln>
        </p:spPr>
      </p:sp>
      <p:sp>
        <p:nvSpPr>
          <p:cNvPr id="32" name="Text 30"/>
          <p:cNvSpPr txBox="1"/>
          <p:nvPr/>
        </p:nvSpPr>
        <p:spPr>
          <a:xfrm>
            <a:off x="9390888" y="1060704"/>
            <a:ext cx="2231136" cy="219456"/>
          </a:xfrm>
          <a:prstGeom prst="rect">
            <a:avLst/>
          </a:prstGeom>
          <a:noFill/>
          <a:ln/>
        </p:spPr>
        <p:txBody>
          <a:bodyPr wrap="square" lIns="0" tIns="0" rIns="0" bIns="0" rtlCol="0" anchor="ctr"/>
          <a:lstStyle/>
          <a:p>
            <a:pPr indent="0" marL="0">
              <a:buNone/>
            </a:pPr>
            <a:r>
              <a:rPr lang="en-US" sz="900" b="1" spc="70" kern="0" dirty="0">
                <a:solidFill>
                  <a:srgbClr val="4338CA"/>
                </a:solidFill>
                <a:latin typeface="Arial" pitchFamily="34" charset="0"/>
                <a:ea typeface="Arial" pitchFamily="34" charset="-122"/>
                <a:cs typeface="Arial" pitchFamily="34" charset="-120"/>
              </a:rPr>
              <a:t>THE IMPORT FAILURES</a:t>
            </a:r>
            <a:endParaRPr lang="en-US" sz="900" dirty="0"/>
          </a:p>
        </p:txBody>
      </p:sp>
      <p:sp>
        <p:nvSpPr>
          <p:cNvPr id="33" name="Text 31"/>
          <p:cNvSpPr txBox="1"/>
          <p:nvPr/>
        </p:nvSpPr>
        <p:spPr>
          <a:xfrm>
            <a:off x="9390888" y="1298448"/>
            <a:ext cx="2231136" cy="365760"/>
          </a:xfrm>
          <a:prstGeom prst="rect">
            <a:avLst/>
          </a:prstGeom>
          <a:noFill/>
          <a:ln/>
        </p:spPr>
        <p:txBody>
          <a:bodyPr wrap="square" lIns="0" tIns="0" rIns="0" bIns="0" rtlCol="0" anchor="ctr"/>
          <a:lstStyle/>
          <a:p>
            <a:pPr indent="0" marL="0">
              <a:lnSpc>
                <a:spcPct val="115000"/>
              </a:lnSpc>
              <a:buNone/>
            </a:pPr>
            <a:r>
              <a:rPr lang="en-US" sz="800" i="1" dirty="0">
                <a:solidFill>
                  <a:srgbClr val="4A4A5E"/>
                </a:solidFill>
                <a:latin typeface="Arial" pitchFamily="34" charset="0"/>
                <a:ea typeface="Arial" pitchFamily="34" charset="-122"/>
                <a:cs typeface="Arial" pitchFamily="34" charset="-120"/>
              </a:rPr>
              <a:t>GGW confirm these are not noticed today. That makes detection the first fix, not retries:</a:t>
            </a:r>
            <a:endParaRPr lang="en-US" sz="800" dirty="0"/>
          </a:p>
        </p:txBody>
      </p:sp>
      <p:sp>
        <p:nvSpPr>
          <p:cNvPr id="34" name="Text 32"/>
          <p:cNvSpPr txBox="1"/>
          <p:nvPr/>
        </p:nvSpPr>
        <p:spPr>
          <a:xfrm>
            <a:off x="9390888" y="1719072"/>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Count what should have arrived</a:t>
            </a:r>
            <a:endParaRPr lang="en-US" sz="840" dirty="0"/>
          </a:p>
        </p:txBody>
      </p:sp>
      <p:sp>
        <p:nvSpPr>
          <p:cNvPr id="35" name="Text 33"/>
          <p:cNvSpPr txBox="1"/>
          <p:nvPr/>
        </p:nvSpPr>
        <p:spPr>
          <a:xfrm>
            <a:off x="9390888" y="1883664"/>
            <a:ext cx="2231136" cy="42062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Reconcile EASY sends against IDB claims daily. A gap is a lost claim nobody sees.</a:t>
            </a:r>
            <a:endParaRPr lang="en-US" sz="760" dirty="0"/>
          </a:p>
        </p:txBody>
      </p:sp>
      <p:sp>
        <p:nvSpPr>
          <p:cNvPr id="36" name="Text 34"/>
          <p:cNvSpPr txBox="1"/>
          <p:nvPr/>
        </p:nvSpPr>
        <p:spPr>
          <a:xfrm>
            <a:off x="9390888" y="2322576"/>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Sort the failure</a:t>
            </a:r>
            <a:endParaRPr lang="en-US" sz="840" dirty="0"/>
          </a:p>
        </p:txBody>
      </p:sp>
      <p:sp>
        <p:nvSpPr>
          <p:cNvPr id="37" name="Text 35"/>
          <p:cNvSpPr txBox="1"/>
          <p:nvPr/>
        </p:nvSpPr>
        <p:spPr>
          <a:xfrm>
            <a:off x="9390888" y="2487168"/>
            <a:ext cx="2231136" cy="42062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A timeout is worth retrying. A missing field never is — it just fails again.</a:t>
            </a:r>
            <a:endParaRPr lang="en-US" sz="760" dirty="0"/>
          </a:p>
        </p:txBody>
      </p:sp>
      <p:sp>
        <p:nvSpPr>
          <p:cNvPr id="38" name="Text 36"/>
          <p:cNvSpPr txBox="1"/>
          <p:nvPr/>
        </p:nvSpPr>
        <p:spPr>
          <a:xfrm>
            <a:off x="9390888" y="2926080"/>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Retry with growing gaps</a:t>
            </a:r>
            <a:endParaRPr lang="en-US" sz="840" dirty="0"/>
          </a:p>
        </p:txBody>
      </p:sp>
      <p:sp>
        <p:nvSpPr>
          <p:cNvPr id="39" name="Text 37"/>
          <p:cNvSpPr txBox="1"/>
          <p:nvPr/>
        </p:nvSpPr>
        <p:spPr>
          <a:xfrm>
            <a:off x="9390888" y="3090672"/>
            <a:ext cx="2231136" cy="42062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1s, 2s, 4s, plus a random offset, so stuck claims do not all retry at once.</a:t>
            </a:r>
            <a:endParaRPr lang="en-US" sz="760" dirty="0"/>
          </a:p>
        </p:txBody>
      </p:sp>
      <p:sp>
        <p:nvSpPr>
          <p:cNvPr id="40" name="Text 38"/>
          <p:cNvSpPr txBox="1"/>
          <p:nvPr/>
        </p:nvSpPr>
        <p:spPr>
          <a:xfrm>
            <a:off x="9390888" y="3529584"/>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One reference per claim</a:t>
            </a:r>
            <a:endParaRPr lang="en-US" sz="840" dirty="0"/>
          </a:p>
        </p:txBody>
      </p:sp>
      <p:sp>
        <p:nvSpPr>
          <p:cNvPr id="41" name="Text 39"/>
          <p:cNvSpPr txBox="1"/>
          <p:nvPr/>
        </p:nvSpPr>
        <p:spPr>
          <a:xfrm>
            <a:off x="9390888" y="3694176"/>
            <a:ext cx="2231136" cy="42062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The same key every attempt, so a replay cannot create the claim twice.</a:t>
            </a:r>
            <a:endParaRPr lang="en-US" sz="760" dirty="0"/>
          </a:p>
        </p:txBody>
      </p:sp>
      <p:sp>
        <p:nvSpPr>
          <p:cNvPr id="42" name="Text 40"/>
          <p:cNvSpPr txBox="1"/>
          <p:nvPr/>
        </p:nvSpPr>
        <p:spPr>
          <a:xfrm>
            <a:off x="9390888" y="4133088"/>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Park failures, never drop them</a:t>
            </a:r>
            <a:endParaRPr lang="en-US" sz="840" dirty="0"/>
          </a:p>
        </p:txBody>
      </p:sp>
      <p:sp>
        <p:nvSpPr>
          <p:cNvPr id="43" name="Text 41"/>
          <p:cNvSpPr txBox="1"/>
          <p:nvPr/>
        </p:nvSpPr>
        <p:spPr>
          <a:xfrm>
            <a:off x="9390888" y="4297680"/>
            <a:ext cx="2231136" cy="42062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A holding queue with the error, so someone can fix and replay.</a:t>
            </a:r>
            <a:endParaRPr lang="en-US" sz="760" dirty="0"/>
          </a:p>
        </p:txBody>
      </p:sp>
      <p:sp>
        <p:nvSpPr>
          <p:cNvPr id="44" name="Text 42"/>
          <p:cNvSpPr txBox="1"/>
          <p:nvPr/>
        </p:nvSpPr>
        <p:spPr>
          <a:xfrm>
            <a:off x="9390888" y="4736592"/>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Alert on the rate, not the count</a:t>
            </a:r>
            <a:endParaRPr lang="en-US" sz="840" dirty="0"/>
          </a:p>
        </p:txBody>
      </p:sp>
      <p:sp>
        <p:nvSpPr>
          <p:cNvPr id="45" name="Text 43"/>
          <p:cNvSpPr txBox="1"/>
          <p:nvPr/>
        </p:nvSpPr>
        <p:spPr>
          <a:xfrm>
            <a:off x="9390888" y="4901184"/>
            <a:ext cx="2231136" cy="42062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One stuck claim is normal. Twenty in an hour is not.</a:t>
            </a:r>
            <a:endParaRPr lang="en-US" sz="760" dirty="0"/>
          </a:p>
        </p:txBody>
      </p:sp>
      <p:sp>
        <p:nvSpPr>
          <p:cNvPr id="46" name="Text 44"/>
          <p:cNvSpPr txBox="1"/>
          <p:nvPr/>
        </p:nvSpPr>
        <p:spPr>
          <a:xfrm>
            <a:off x="365760" y="6035040"/>
            <a:ext cx="11430000" cy="256032"/>
          </a:xfrm>
          <a:prstGeom prst="rect">
            <a:avLst/>
          </a:prstGeom>
          <a:noFill/>
          <a:ln/>
        </p:spPr>
        <p:txBody>
          <a:bodyPr wrap="square" lIns="0" tIns="0" rIns="0" bIns="0" rtlCol="0" anchor="ctr"/>
          <a:lstStyle/>
          <a:p>
            <a:pPr indent="0" marL="0">
              <a:buNone/>
            </a:pPr>
            <a:r>
              <a:rPr lang="en-US" sz="700" dirty="0">
                <a:solidFill>
                  <a:srgbClr val="5B6472"/>
                </a:solidFill>
                <a:latin typeface="Arial" pitchFamily="34" charset="0"/>
                <a:ea typeface="Arial" pitchFamily="34" charset="-122"/>
                <a:cs typeface="Arial" pitchFamily="34" charset="-120"/>
              </a:rPr>
              <a:t>AES rulings and underwriting authority are deliberately absent — those decisions are not ours to make · frequencies from the case study</a:t>
            </a:r>
            <a:endParaRPr lang="en-US" sz="700" dirty="0"/>
          </a:p>
        </p:txBody>
      </p:sp>
      <p:sp>
        <p:nvSpPr>
          <p:cNvPr id="47" name="Text 45"/>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48" name="Text 46"/>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6 / 10</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Nothing goes live decided — it goes live watched, then suggesting, then trusted</a:t>
            </a:r>
            <a:endParaRPr lang="en-US" sz="1400" dirty="0"/>
          </a:p>
        </p:txBody>
      </p:sp>
      <p:sp>
        <p:nvSpPr>
          <p:cNvPr id="3" name="Text 1"/>
          <p:cNvSpPr txBox="1"/>
          <p:nvPr/>
        </p:nvSpPr>
        <p:spPr>
          <a:xfrm>
            <a:off x="8229600" y="146304"/>
            <a:ext cx="359359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RUNNING IT IN PRODUCTION</a:t>
            </a:r>
            <a:endParaRPr lang="en-US" sz="950" dirty="0"/>
          </a:p>
        </p:txBody>
      </p:sp>
      <p:sp>
        <p:nvSpPr>
          <p:cNvPr id="4" name="Shape 2"/>
          <p:cNvSpPr/>
          <p:nvPr/>
        </p:nvSpPr>
        <p:spPr>
          <a:xfrm>
            <a:off x="365760" y="566928"/>
            <a:ext cx="2697023" cy="2139696"/>
          </a:xfrm>
          <a:prstGeom prst="roundRect">
            <a:avLst>
              <a:gd name="adj" fmla="val 2564"/>
            </a:avLst>
          </a:prstGeom>
          <a:solidFill>
            <a:srgbClr val="FDF3E3"/>
          </a:solidFill>
          <a:ln w="16510">
            <a:solidFill>
              <a:srgbClr val="D97706"/>
            </a:solidFill>
            <a:prstDash val="solid"/>
          </a:ln>
        </p:spPr>
      </p:sp>
      <p:sp>
        <p:nvSpPr>
          <p:cNvPr id="5" name="Text 3"/>
          <p:cNvSpPr txBox="1"/>
          <p:nvPr/>
        </p:nvSpPr>
        <p:spPr>
          <a:xfrm>
            <a:off x="530352" y="676656"/>
            <a:ext cx="2367839" cy="219456"/>
          </a:xfrm>
          <a:prstGeom prst="rect">
            <a:avLst/>
          </a:prstGeom>
          <a:noFill/>
          <a:ln/>
        </p:spPr>
        <p:txBody>
          <a:bodyPr wrap="square" lIns="0" tIns="0" rIns="0" bIns="0" rtlCol="0" anchor="ctr"/>
          <a:lstStyle/>
          <a:p>
            <a:pPr indent="0" marL="0">
              <a:buNone/>
            </a:pPr>
            <a:r>
              <a:rPr lang="en-US" sz="960" b="1" spc="80" kern="0" dirty="0">
                <a:solidFill>
                  <a:srgbClr val="D97706"/>
                </a:solidFill>
                <a:latin typeface="Arial" pitchFamily="34" charset="0"/>
                <a:ea typeface="Arial" pitchFamily="34" charset="-122"/>
                <a:cs typeface="Arial" pitchFamily="34" charset="-120"/>
              </a:rPr>
              <a:t>1 · SHADOW</a:t>
            </a:r>
            <a:endParaRPr lang="en-US" sz="960" dirty="0"/>
          </a:p>
        </p:txBody>
      </p:sp>
      <p:sp>
        <p:nvSpPr>
          <p:cNvPr id="6" name="Text 4"/>
          <p:cNvSpPr txBox="1"/>
          <p:nvPr/>
        </p:nvSpPr>
        <p:spPr>
          <a:xfrm>
            <a:off x="530352" y="896112"/>
            <a:ext cx="2367839" cy="182880"/>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wks 1–8</a:t>
            </a:r>
            <a:endParaRPr lang="en-US" sz="800" dirty="0"/>
          </a:p>
        </p:txBody>
      </p:sp>
      <p:sp>
        <p:nvSpPr>
          <p:cNvPr id="7" name="Text 5"/>
          <p:cNvSpPr txBox="1"/>
          <p:nvPr/>
        </p:nvSpPr>
        <p:spPr>
          <a:xfrm>
            <a:off x="530352" y="1133856"/>
            <a:ext cx="2367839" cy="786384"/>
          </a:xfrm>
          <a:prstGeom prst="rect">
            <a:avLst/>
          </a:prstGeom>
          <a:noFill/>
          <a:ln/>
        </p:spPr>
        <p:txBody>
          <a:bodyPr wrap="square" lIns="0" tIns="0" rIns="0" bIns="0" rtlCol="0" anchor="ctr"/>
          <a:lstStyle/>
          <a:p>
            <a:pPr indent="0" marL="0">
              <a:lnSpc>
                <a:spcPct val="118000"/>
              </a:lnSpc>
              <a:buNone/>
            </a:pPr>
            <a:r>
              <a:rPr lang="en-US" sz="840" dirty="0">
                <a:solidFill>
                  <a:srgbClr val="3A3A3A"/>
                </a:solidFill>
                <a:latin typeface="Arial" pitchFamily="34" charset="0"/>
                <a:ea typeface="Arial" pitchFamily="34" charset="-122"/>
                <a:cs typeface="Arial" pitchFamily="34" charset="-120"/>
              </a:rPr>
              <a:t>Agents run on live claims. Output is stored and compared with what the handler did. Nobody sees it.</a:t>
            </a:r>
            <a:endParaRPr lang="en-US" sz="840" dirty="0"/>
          </a:p>
        </p:txBody>
      </p:sp>
      <p:sp>
        <p:nvSpPr>
          <p:cNvPr id="8" name="Shape 6"/>
          <p:cNvSpPr/>
          <p:nvPr/>
        </p:nvSpPr>
        <p:spPr>
          <a:xfrm>
            <a:off x="530352" y="1956816"/>
            <a:ext cx="2367839" cy="10973"/>
          </a:xfrm>
          <a:prstGeom prst="rect">
            <a:avLst/>
          </a:prstGeom>
          <a:solidFill>
            <a:srgbClr val="D97706"/>
          </a:solidFill>
          <a:ln/>
        </p:spPr>
      </p:sp>
      <p:sp>
        <p:nvSpPr>
          <p:cNvPr id="9" name="Text 7"/>
          <p:cNvSpPr txBox="1"/>
          <p:nvPr/>
        </p:nvSpPr>
        <p:spPr>
          <a:xfrm>
            <a:off x="530352" y="2011680"/>
            <a:ext cx="2367839" cy="585216"/>
          </a:xfrm>
          <a:prstGeom prst="rect">
            <a:avLst/>
          </a:prstGeom>
          <a:noFill/>
          <a:ln/>
        </p:spPr>
        <p:txBody>
          <a:bodyPr wrap="square" lIns="0" tIns="0" rIns="0" bIns="0" rtlCol="0" anchor="ctr"/>
          <a:lstStyle/>
          <a:p>
            <a:pPr indent="0" marL="0">
              <a:lnSpc>
                <a:spcPct val="115000"/>
              </a:lnSpc>
              <a:buNone/>
            </a:pPr>
            <a:r>
              <a:rPr lang="en-US" sz="800" i="1" dirty="0">
                <a:solidFill>
                  <a:srgbClr val="4A4A4A"/>
                </a:solidFill>
                <a:latin typeface="Arial" pitchFamily="34" charset="0"/>
                <a:ea typeface="Arial" pitchFamily="34" charset="-122"/>
                <a:cs typeface="Arial" pitchFamily="34" charset="-120"/>
              </a:rPr>
              <a:t>Exit when extraction agrees with the handler on 95% of fields.</a:t>
            </a:r>
            <a:endParaRPr lang="en-US" sz="800" dirty="0"/>
          </a:p>
        </p:txBody>
      </p:sp>
      <p:sp>
        <p:nvSpPr>
          <p:cNvPr id="10" name="Shape 8"/>
          <p:cNvSpPr/>
          <p:nvPr/>
        </p:nvSpPr>
        <p:spPr>
          <a:xfrm>
            <a:off x="3286811" y="566928"/>
            <a:ext cx="2697023" cy="2139696"/>
          </a:xfrm>
          <a:prstGeom prst="roundRect">
            <a:avLst>
              <a:gd name="adj" fmla="val 2564"/>
            </a:avLst>
          </a:prstGeom>
          <a:solidFill>
            <a:srgbClr val="E4F4F8"/>
          </a:solidFill>
          <a:ln w="16510">
            <a:solidFill>
              <a:srgbClr val="0891B2"/>
            </a:solidFill>
            <a:prstDash val="solid"/>
          </a:ln>
        </p:spPr>
      </p:sp>
      <p:sp>
        <p:nvSpPr>
          <p:cNvPr id="11" name="Text 9"/>
          <p:cNvSpPr txBox="1"/>
          <p:nvPr/>
        </p:nvSpPr>
        <p:spPr>
          <a:xfrm>
            <a:off x="3451403" y="676656"/>
            <a:ext cx="2367839" cy="219456"/>
          </a:xfrm>
          <a:prstGeom prst="rect">
            <a:avLst/>
          </a:prstGeom>
          <a:noFill/>
          <a:ln/>
        </p:spPr>
        <p:txBody>
          <a:bodyPr wrap="square" lIns="0" tIns="0" rIns="0" bIns="0" rtlCol="0" anchor="ctr"/>
          <a:lstStyle/>
          <a:p>
            <a:pPr indent="0" marL="0">
              <a:buNone/>
            </a:pPr>
            <a:r>
              <a:rPr lang="en-US" sz="960" b="1" spc="80" kern="0" dirty="0">
                <a:solidFill>
                  <a:srgbClr val="0891B2"/>
                </a:solidFill>
                <a:latin typeface="Arial" pitchFamily="34" charset="0"/>
                <a:ea typeface="Arial" pitchFamily="34" charset="-122"/>
                <a:cs typeface="Arial" pitchFamily="34" charset="-120"/>
              </a:rPr>
              <a:t>2 · SUGGEST</a:t>
            </a:r>
            <a:endParaRPr lang="en-US" sz="960" dirty="0"/>
          </a:p>
        </p:txBody>
      </p:sp>
      <p:sp>
        <p:nvSpPr>
          <p:cNvPr id="12" name="Text 10"/>
          <p:cNvSpPr txBox="1"/>
          <p:nvPr/>
        </p:nvSpPr>
        <p:spPr>
          <a:xfrm>
            <a:off x="3451403" y="896112"/>
            <a:ext cx="2367839" cy="182880"/>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wks 9–16</a:t>
            </a:r>
            <a:endParaRPr lang="en-US" sz="800" dirty="0"/>
          </a:p>
        </p:txBody>
      </p:sp>
      <p:sp>
        <p:nvSpPr>
          <p:cNvPr id="13" name="Text 11"/>
          <p:cNvSpPr txBox="1"/>
          <p:nvPr/>
        </p:nvSpPr>
        <p:spPr>
          <a:xfrm>
            <a:off x="3451403" y="1133856"/>
            <a:ext cx="2367839" cy="786384"/>
          </a:xfrm>
          <a:prstGeom prst="rect">
            <a:avLst/>
          </a:prstGeom>
          <a:noFill/>
          <a:ln/>
        </p:spPr>
        <p:txBody>
          <a:bodyPr wrap="square" lIns="0" tIns="0" rIns="0" bIns="0" rtlCol="0" anchor="ctr"/>
          <a:lstStyle/>
          <a:p>
            <a:pPr indent="0" marL="0">
              <a:lnSpc>
                <a:spcPct val="118000"/>
              </a:lnSpc>
              <a:buNone/>
            </a:pPr>
            <a:r>
              <a:rPr lang="en-US" sz="840" dirty="0">
                <a:solidFill>
                  <a:srgbClr val="3A3A3A"/>
                </a:solidFill>
                <a:latin typeface="Arial" pitchFamily="34" charset="0"/>
                <a:ea typeface="Arial" pitchFamily="34" charset="-122"/>
                <a:cs typeface="Arial" pitchFamily="34" charset="-120"/>
              </a:rPr>
              <a:t>The handler sees the draft and must edit or approve it. Nothing sends itself.</a:t>
            </a:r>
            <a:endParaRPr lang="en-US" sz="840" dirty="0"/>
          </a:p>
        </p:txBody>
      </p:sp>
      <p:sp>
        <p:nvSpPr>
          <p:cNvPr id="14" name="Shape 12"/>
          <p:cNvSpPr/>
          <p:nvPr/>
        </p:nvSpPr>
        <p:spPr>
          <a:xfrm>
            <a:off x="3451403" y="1956816"/>
            <a:ext cx="2367839" cy="10973"/>
          </a:xfrm>
          <a:prstGeom prst="rect">
            <a:avLst/>
          </a:prstGeom>
          <a:solidFill>
            <a:srgbClr val="0891B2"/>
          </a:solidFill>
          <a:ln/>
        </p:spPr>
      </p:sp>
      <p:sp>
        <p:nvSpPr>
          <p:cNvPr id="15" name="Text 13"/>
          <p:cNvSpPr txBox="1"/>
          <p:nvPr/>
        </p:nvSpPr>
        <p:spPr>
          <a:xfrm>
            <a:off x="3451403" y="2011680"/>
            <a:ext cx="2367839" cy="585216"/>
          </a:xfrm>
          <a:prstGeom prst="rect">
            <a:avLst/>
          </a:prstGeom>
          <a:noFill/>
          <a:ln/>
        </p:spPr>
        <p:txBody>
          <a:bodyPr wrap="square" lIns="0" tIns="0" rIns="0" bIns="0" rtlCol="0" anchor="ctr"/>
          <a:lstStyle/>
          <a:p>
            <a:pPr indent="0" marL="0">
              <a:lnSpc>
                <a:spcPct val="115000"/>
              </a:lnSpc>
              <a:buNone/>
            </a:pPr>
            <a:r>
              <a:rPr lang="en-US" sz="800" i="1" dirty="0">
                <a:solidFill>
                  <a:srgbClr val="4A4A4A"/>
                </a:solidFill>
                <a:latin typeface="Arial" pitchFamily="34" charset="0"/>
                <a:ea typeface="Arial" pitchFamily="34" charset="-122"/>
                <a:cs typeface="Arial" pitchFamily="34" charset="-120"/>
              </a:rPr>
              <a:t>Exit when the edit rate on minor claims settles below 20%.</a:t>
            </a:r>
            <a:endParaRPr lang="en-US" sz="800" dirty="0"/>
          </a:p>
        </p:txBody>
      </p:sp>
      <p:sp>
        <p:nvSpPr>
          <p:cNvPr id="16" name="Shape 14"/>
          <p:cNvSpPr/>
          <p:nvPr/>
        </p:nvSpPr>
        <p:spPr>
          <a:xfrm>
            <a:off x="6207862" y="566928"/>
            <a:ext cx="2697023" cy="2139696"/>
          </a:xfrm>
          <a:prstGeom prst="roundRect">
            <a:avLst>
              <a:gd name="adj" fmla="val 2564"/>
            </a:avLst>
          </a:prstGeom>
          <a:solidFill>
            <a:srgbClr val="EDECFB"/>
          </a:solidFill>
          <a:ln w="16510">
            <a:solidFill>
              <a:srgbClr val="4338CA"/>
            </a:solidFill>
            <a:prstDash val="solid"/>
          </a:ln>
        </p:spPr>
      </p:sp>
      <p:sp>
        <p:nvSpPr>
          <p:cNvPr id="17" name="Text 15"/>
          <p:cNvSpPr txBox="1"/>
          <p:nvPr/>
        </p:nvSpPr>
        <p:spPr>
          <a:xfrm>
            <a:off x="6372454" y="676656"/>
            <a:ext cx="2367839" cy="219456"/>
          </a:xfrm>
          <a:prstGeom prst="rect">
            <a:avLst/>
          </a:prstGeom>
          <a:noFill/>
          <a:ln/>
        </p:spPr>
        <p:txBody>
          <a:bodyPr wrap="square" lIns="0" tIns="0" rIns="0" bIns="0" rtlCol="0" anchor="ctr"/>
          <a:lstStyle/>
          <a:p>
            <a:pPr indent="0" marL="0">
              <a:buNone/>
            </a:pPr>
            <a:r>
              <a:rPr lang="en-US" sz="960" b="1" spc="80" kern="0" dirty="0">
                <a:solidFill>
                  <a:srgbClr val="4338CA"/>
                </a:solidFill>
                <a:latin typeface="Arial" pitchFamily="34" charset="0"/>
                <a:ea typeface="Arial" pitchFamily="34" charset="-122"/>
                <a:cs typeface="Arial" pitchFamily="34" charset="-120"/>
              </a:rPr>
              <a:t>3 · APPROVE</a:t>
            </a:r>
            <a:endParaRPr lang="en-US" sz="960" dirty="0"/>
          </a:p>
        </p:txBody>
      </p:sp>
      <p:sp>
        <p:nvSpPr>
          <p:cNvPr id="18" name="Text 16"/>
          <p:cNvSpPr txBox="1"/>
          <p:nvPr/>
        </p:nvSpPr>
        <p:spPr>
          <a:xfrm>
            <a:off x="6372454" y="896112"/>
            <a:ext cx="2367839" cy="182880"/>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mths 5–6</a:t>
            </a:r>
            <a:endParaRPr lang="en-US" sz="800" dirty="0"/>
          </a:p>
        </p:txBody>
      </p:sp>
      <p:sp>
        <p:nvSpPr>
          <p:cNvPr id="19" name="Text 17"/>
          <p:cNvSpPr txBox="1"/>
          <p:nvPr/>
        </p:nvSpPr>
        <p:spPr>
          <a:xfrm>
            <a:off x="6372454" y="1133856"/>
            <a:ext cx="2367839" cy="786384"/>
          </a:xfrm>
          <a:prstGeom prst="rect">
            <a:avLst/>
          </a:prstGeom>
          <a:noFill/>
          <a:ln/>
        </p:spPr>
        <p:txBody>
          <a:bodyPr wrap="square" lIns="0" tIns="0" rIns="0" bIns="0" rtlCol="0" anchor="ctr"/>
          <a:lstStyle/>
          <a:p>
            <a:pPr indent="0" marL="0">
              <a:lnSpc>
                <a:spcPct val="118000"/>
              </a:lnSpc>
              <a:buNone/>
            </a:pPr>
            <a:r>
              <a:rPr lang="en-US" sz="840" dirty="0">
                <a:solidFill>
                  <a:srgbClr val="3A3A3A"/>
                </a:solidFill>
                <a:latin typeface="Arial" pitchFamily="34" charset="0"/>
                <a:ea typeface="Arial" pitchFamily="34" charset="-122"/>
                <a:cs typeface="Arial" pitchFamily="34" charset="-120"/>
              </a:rPr>
              <a:t>Minor claims arrive pre-filled. One click accepts. Everything else still drafted only.</a:t>
            </a:r>
            <a:endParaRPr lang="en-US" sz="840" dirty="0"/>
          </a:p>
        </p:txBody>
      </p:sp>
      <p:sp>
        <p:nvSpPr>
          <p:cNvPr id="20" name="Shape 18"/>
          <p:cNvSpPr/>
          <p:nvPr/>
        </p:nvSpPr>
        <p:spPr>
          <a:xfrm>
            <a:off x="6372454" y="1956816"/>
            <a:ext cx="2367839" cy="10973"/>
          </a:xfrm>
          <a:prstGeom prst="rect">
            <a:avLst/>
          </a:prstGeom>
          <a:solidFill>
            <a:srgbClr val="4338CA"/>
          </a:solidFill>
          <a:ln/>
        </p:spPr>
      </p:sp>
      <p:sp>
        <p:nvSpPr>
          <p:cNvPr id="21" name="Text 19"/>
          <p:cNvSpPr txBox="1"/>
          <p:nvPr/>
        </p:nvSpPr>
        <p:spPr>
          <a:xfrm>
            <a:off x="6372454" y="2011680"/>
            <a:ext cx="2367839" cy="585216"/>
          </a:xfrm>
          <a:prstGeom prst="rect">
            <a:avLst/>
          </a:prstGeom>
          <a:noFill/>
          <a:ln/>
        </p:spPr>
        <p:txBody>
          <a:bodyPr wrap="square" lIns="0" tIns="0" rIns="0" bIns="0" rtlCol="0" anchor="ctr"/>
          <a:lstStyle/>
          <a:p>
            <a:pPr indent="0" marL="0">
              <a:lnSpc>
                <a:spcPct val="115000"/>
              </a:lnSpc>
              <a:buNone/>
            </a:pPr>
            <a:r>
              <a:rPr lang="en-US" sz="800" i="1" dirty="0">
                <a:solidFill>
                  <a:srgbClr val="4A4A4A"/>
                </a:solidFill>
                <a:latin typeface="Arial" pitchFamily="34" charset="0"/>
                <a:ea typeface="Arial" pitchFamily="34" charset="-122"/>
                <a:cs typeface="Arial" pitchFamily="34" charset="-120"/>
              </a:rPr>
              <a:t>Exit criteria reviewed monthly with the claims lead.</a:t>
            </a:r>
            <a:endParaRPr lang="en-US" sz="800" dirty="0"/>
          </a:p>
        </p:txBody>
      </p:sp>
      <p:sp>
        <p:nvSpPr>
          <p:cNvPr id="22" name="Shape 20"/>
          <p:cNvSpPr/>
          <p:nvPr/>
        </p:nvSpPr>
        <p:spPr>
          <a:xfrm>
            <a:off x="9128912" y="566928"/>
            <a:ext cx="2697023" cy="2139696"/>
          </a:xfrm>
          <a:prstGeom prst="roundRect">
            <a:avLst>
              <a:gd name="adj" fmla="val 2564"/>
            </a:avLst>
          </a:prstGeom>
          <a:solidFill>
            <a:srgbClr val="FBE9F1"/>
          </a:solidFill>
          <a:ln w="16510">
            <a:solidFill>
              <a:srgbClr val="BE185D"/>
            </a:solidFill>
            <a:prstDash val="solid"/>
          </a:ln>
        </p:spPr>
      </p:sp>
      <p:sp>
        <p:nvSpPr>
          <p:cNvPr id="23" name="Text 21"/>
          <p:cNvSpPr txBox="1"/>
          <p:nvPr/>
        </p:nvSpPr>
        <p:spPr>
          <a:xfrm>
            <a:off x="9293504" y="676656"/>
            <a:ext cx="2367839" cy="219456"/>
          </a:xfrm>
          <a:prstGeom prst="rect">
            <a:avLst/>
          </a:prstGeom>
          <a:noFill/>
          <a:ln/>
        </p:spPr>
        <p:txBody>
          <a:bodyPr wrap="square" lIns="0" tIns="0" rIns="0" bIns="0" rtlCol="0" anchor="ctr"/>
          <a:lstStyle/>
          <a:p>
            <a:pPr indent="0" marL="0">
              <a:buNone/>
            </a:pPr>
            <a:r>
              <a:rPr lang="en-US" sz="960" b="1" spc="80" kern="0" dirty="0">
                <a:solidFill>
                  <a:srgbClr val="BE185D"/>
                </a:solidFill>
                <a:latin typeface="Arial" pitchFamily="34" charset="0"/>
                <a:ea typeface="Arial" pitchFamily="34" charset="-122"/>
                <a:cs typeface="Arial" pitchFamily="34" charset="-120"/>
              </a:rPr>
              <a:t>NEVER</a:t>
            </a:r>
            <a:endParaRPr lang="en-US" sz="960" dirty="0"/>
          </a:p>
        </p:txBody>
      </p:sp>
      <p:sp>
        <p:nvSpPr>
          <p:cNvPr id="24" name="Text 22"/>
          <p:cNvSpPr txBox="1"/>
          <p:nvPr/>
        </p:nvSpPr>
        <p:spPr>
          <a:xfrm>
            <a:off x="9293504" y="896112"/>
            <a:ext cx="2367839" cy="182880"/>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a:t>
            </a:r>
            <a:endParaRPr lang="en-US" sz="800" dirty="0"/>
          </a:p>
        </p:txBody>
      </p:sp>
      <p:sp>
        <p:nvSpPr>
          <p:cNvPr id="25" name="Text 23"/>
          <p:cNvSpPr txBox="1"/>
          <p:nvPr/>
        </p:nvSpPr>
        <p:spPr>
          <a:xfrm>
            <a:off x="9293504" y="1133856"/>
            <a:ext cx="2367839" cy="786384"/>
          </a:xfrm>
          <a:prstGeom prst="rect">
            <a:avLst/>
          </a:prstGeom>
          <a:noFill/>
          <a:ln/>
        </p:spPr>
        <p:txBody>
          <a:bodyPr wrap="square" lIns="0" tIns="0" rIns="0" bIns="0" rtlCol="0" anchor="ctr"/>
          <a:lstStyle/>
          <a:p>
            <a:pPr indent="0" marL="0">
              <a:lnSpc>
                <a:spcPct val="118000"/>
              </a:lnSpc>
              <a:buNone/>
            </a:pPr>
            <a:r>
              <a:rPr lang="en-US" sz="840" dirty="0">
                <a:solidFill>
                  <a:srgbClr val="3A3A3A"/>
                </a:solidFill>
                <a:latin typeface="Arial" pitchFamily="34" charset="0"/>
                <a:ea typeface="Arial" pitchFamily="34" charset="-122"/>
                <a:cs typeface="Arial" pitchFamily="34" charset="-120"/>
              </a:rPr>
              <a:t>No automatic decision on anything adverse to a claimant, on an AES ruling, or on underwriting authority.</a:t>
            </a:r>
            <a:endParaRPr lang="en-US" sz="840" dirty="0"/>
          </a:p>
        </p:txBody>
      </p:sp>
      <p:sp>
        <p:nvSpPr>
          <p:cNvPr id="26" name="Shape 24"/>
          <p:cNvSpPr/>
          <p:nvPr/>
        </p:nvSpPr>
        <p:spPr>
          <a:xfrm>
            <a:off x="9293504" y="1956816"/>
            <a:ext cx="2367839" cy="10973"/>
          </a:xfrm>
          <a:prstGeom prst="rect">
            <a:avLst/>
          </a:prstGeom>
          <a:solidFill>
            <a:srgbClr val="BE185D"/>
          </a:solidFill>
          <a:ln/>
        </p:spPr>
      </p:sp>
      <p:sp>
        <p:nvSpPr>
          <p:cNvPr id="27" name="Text 25"/>
          <p:cNvSpPr txBox="1"/>
          <p:nvPr/>
        </p:nvSpPr>
        <p:spPr>
          <a:xfrm>
            <a:off x="9293504" y="2011680"/>
            <a:ext cx="2367839" cy="585216"/>
          </a:xfrm>
          <a:prstGeom prst="rect">
            <a:avLst/>
          </a:prstGeom>
          <a:noFill/>
          <a:ln/>
        </p:spPr>
        <p:txBody>
          <a:bodyPr wrap="square" lIns="0" tIns="0" rIns="0" bIns="0" rtlCol="0" anchor="ctr"/>
          <a:lstStyle/>
          <a:p>
            <a:pPr indent="0" marL="0">
              <a:lnSpc>
                <a:spcPct val="115000"/>
              </a:lnSpc>
              <a:buNone/>
            </a:pPr>
            <a:r>
              <a:rPr lang="en-US" sz="800" i="1" dirty="0">
                <a:solidFill>
                  <a:srgbClr val="6A1F42"/>
                </a:solidFill>
                <a:latin typeface="Arial" pitchFamily="34" charset="0"/>
                <a:ea typeface="Arial" pitchFamily="34" charset="-122"/>
                <a:cs typeface="Arial" pitchFamily="34" charset="-120"/>
              </a:rPr>
              <a:t>This is a design boundary, not a phase.</a:t>
            </a:r>
            <a:endParaRPr lang="en-US" sz="800" dirty="0"/>
          </a:p>
        </p:txBody>
      </p:sp>
      <p:sp>
        <p:nvSpPr>
          <p:cNvPr id="28" name="Shape 26"/>
          <p:cNvSpPr/>
          <p:nvPr/>
        </p:nvSpPr>
        <p:spPr>
          <a:xfrm>
            <a:off x="365760" y="2889504"/>
            <a:ext cx="5751576" cy="2889504"/>
          </a:xfrm>
          <a:prstGeom prst="roundRect">
            <a:avLst>
              <a:gd name="adj" fmla="val 1899"/>
            </a:avLst>
          </a:prstGeom>
          <a:solidFill>
            <a:srgbClr val="FFFFFF"/>
          </a:solidFill>
          <a:ln w="12700">
            <a:solidFill>
              <a:srgbClr val="D7DCE2"/>
            </a:solidFill>
            <a:prstDash val="solid"/>
          </a:ln>
        </p:spPr>
      </p:sp>
      <p:sp>
        <p:nvSpPr>
          <p:cNvPr id="29" name="Text 27"/>
          <p:cNvSpPr txBox="1"/>
          <p:nvPr/>
        </p:nvSpPr>
        <p:spPr>
          <a:xfrm>
            <a:off x="548640" y="3017520"/>
            <a:ext cx="5385816" cy="219456"/>
          </a:xfrm>
          <a:prstGeom prst="rect">
            <a:avLst/>
          </a:prstGeom>
          <a:noFill/>
          <a:ln/>
        </p:spPr>
        <p:txBody>
          <a:bodyPr wrap="square" lIns="0" tIns="0" rIns="0" bIns="0" rtlCol="0" anchor="ctr"/>
          <a:lstStyle/>
          <a:p>
            <a:pPr indent="0" marL="0">
              <a:buNone/>
            </a:pPr>
            <a:r>
              <a:rPr lang="en-US" sz="900" b="1" spc="80" kern="0" dirty="0">
                <a:solidFill>
                  <a:srgbClr val="0891B2"/>
                </a:solidFill>
                <a:latin typeface="Arial" pitchFamily="34" charset="0"/>
                <a:ea typeface="Arial" pitchFamily="34" charset="-122"/>
                <a:cs typeface="Arial" pitchFamily="34" charset="-120"/>
              </a:rPr>
              <a:t>WHAT WE WATCH — AND WHY THAT METRIC</a:t>
            </a:r>
            <a:endParaRPr lang="en-US" sz="900" dirty="0"/>
          </a:p>
        </p:txBody>
      </p:sp>
      <p:sp>
        <p:nvSpPr>
          <p:cNvPr id="30" name="Text 28"/>
          <p:cNvSpPr txBox="1"/>
          <p:nvPr/>
        </p:nvSpPr>
        <p:spPr>
          <a:xfrm>
            <a:off x="548640" y="3273552"/>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Edit rate on drafts</a:t>
            </a:r>
            <a:endParaRPr lang="en-US" sz="840" dirty="0"/>
          </a:p>
        </p:txBody>
      </p:sp>
      <p:sp>
        <p:nvSpPr>
          <p:cNvPr id="31" name="Text 29"/>
          <p:cNvSpPr txBox="1"/>
          <p:nvPr/>
        </p:nvSpPr>
        <p:spPr>
          <a:xfrm>
            <a:off x="2907792" y="3273552"/>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The trust signal. A model can be accurate and still not be used.</a:t>
            </a:r>
            <a:endParaRPr lang="en-US" sz="800" dirty="0"/>
          </a:p>
        </p:txBody>
      </p:sp>
      <p:sp>
        <p:nvSpPr>
          <p:cNvPr id="32" name="Text 30"/>
          <p:cNvSpPr txBox="1"/>
          <p:nvPr/>
        </p:nvSpPr>
        <p:spPr>
          <a:xfrm>
            <a:off x="548640" y="3712464"/>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Field-level extraction precision</a:t>
            </a:r>
            <a:endParaRPr lang="en-US" sz="840" dirty="0"/>
          </a:p>
        </p:txBody>
      </p:sp>
      <p:sp>
        <p:nvSpPr>
          <p:cNvPr id="33" name="Text 31"/>
          <p:cNvSpPr txBox="1"/>
          <p:nvPr/>
        </p:nvSpPr>
        <p:spPr>
          <a:xfrm>
            <a:off x="2907792" y="3712464"/>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Checked against the source document, per field, not per claim.</a:t>
            </a:r>
            <a:endParaRPr lang="en-US" sz="800" dirty="0"/>
          </a:p>
        </p:txBody>
      </p:sp>
      <p:sp>
        <p:nvSpPr>
          <p:cNvPr id="34" name="Text 32"/>
          <p:cNvSpPr txBox="1"/>
          <p:nvPr/>
        </p:nvSpPr>
        <p:spPr>
          <a:xfrm>
            <a:off x="548640" y="4151376"/>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Exception rate, by node</a:t>
            </a:r>
            <a:endParaRPr lang="en-US" sz="840" dirty="0"/>
          </a:p>
        </p:txBody>
      </p:sp>
      <p:sp>
        <p:nvSpPr>
          <p:cNvPr id="35" name="Text 33"/>
          <p:cNvSpPr txBox="1"/>
          <p:nvPr/>
        </p:nvSpPr>
        <p:spPr>
          <a:xfrm>
            <a:off x="2907792" y="4151376"/>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Says which step is actually struggling, not that “the AI” is.</a:t>
            </a:r>
            <a:endParaRPr lang="en-US" sz="800" dirty="0"/>
          </a:p>
        </p:txBody>
      </p:sp>
      <p:sp>
        <p:nvSpPr>
          <p:cNvPr id="36" name="Text 34"/>
          <p:cNvSpPr txBox="1"/>
          <p:nvPr/>
        </p:nvSpPr>
        <p:spPr>
          <a:xfrm>
            <a:off x="548640" y="4590288"/>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Override rate by claim type</a:t>
            </a:r>
            <a:endParaRPr lang="en-US" sz="840" dirty="0"/>
          </a:p>
        </p:txBody>
      </p:sp>
      <p:sp>
        <p:nvSpPr>
          <p:cNvPr id="37" name="Text 35"/>
          <p:cNvSpPr txBox="1"/>
          <p:nvPr/>
        </p:nvSpPr>
        <p:spPr>
          <a:xfrm>
            <a:off x="2907792" y="4590288"/>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Feeds the confidence threshold. Teeth claims will differ from the rest.</a:t>
            </a:r>
            <a:endParaRPr lang="en-US" sz="800" dirty="0"/>
          </a:p>
        </p:txBody>
      </p:sp>
      <p:sp>
        <p:nvSpPr>
          <p:cNvPr id="38" name="Text 36"/>
          <p:cNvSpPr txBox="1"/>
          <p:nvPr/>
        </p:nvSpPr>
        <p:spPr>
          <a:xfrm>
            <a:off x="548640" y="5029200"/>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First report to linked claim</a:t>
            </a:r>
            <a:endParaRPr lang="en-US" sz="840" dirty="0"/>
          </a:p>
        </p:txBody>
      </p:sp>
      <p:sp>
        <p:nvSpPr>
          <p:cNvPr id="39" name="Text 37"/>
          <p:cNvSpPr txBox="1"/>
          <p:nvPr/>
        </p:nvSpPr>
        <p:spPr>
          <a:xfrm>
            <a:off x="2907792" y="5029200"/>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The only number the business asked for. Everything else is diagnostic.</a:t>
            </a:r>
            <a:endParaRPr lang="en-US" sz="800" dirty="0"/>
          </a:p>
        </p:txBody>
      </p:sp>
      <p:sp>
        <p:nvSpPr>
          <p:cNvPr id="40" name="Text 38"/>
          <p:cNvSpPr txBox="1"/>
          <p:nvPr/>
        </p:nvSpPr>
        <p:spPr>
          <a:xfrm>
            <a:off x="548640" y="5504688"/>
            <a:ext cx="5385816" cy="182880"/>
          </a:xfrm>
          <a:prstGeom prst="rect">
            <a:avLst/>
          </a:prstGeom>
          <a:noFill/>
          <a:ln/>
        </p:spPr>
        <p:txBody>
          <a:bodyPr wrap="square" lIns="0" tIns="0" rIns="0" bIns="0" rtlCol="0" anchor="ctr"/>
          <a:lstStyle/>
          <a:p>
            <a:pPr indent="0" marL="0">
              <a:buNone/>
            </a:pPr>
            <a:r>
              <a:rPr lang="en-US" sz="780" i="1" dirty="0">
                <a:solidFill>
                  <a:srgbClr val="0891B2"/>
                </a:solidFill>
                <a:latin typeface="Arial" pitchFamily="34" charset="0"/>
                <a:ea typeface="Arial" pitchFamily="34" charset="-122"/>
                <a:cs typeface="Arial" pitchFamily="34" charset="-120"/>
              </a:rPr>
              <a:t>Alert on the rate, not the count — one stuck claim is normal, twenty in an hour is not.</a:t>
            </a:r>
            <a:endParaRPr lang="en-US" sz="780" dirty="0"/>
          </a:p>
        </p:txBody>
      </p:sp>
      <p:sp>
        <p:nvSpPr>
          <p:cNvPr id="41" name="Shape 39"/>
          <p:cNvSpPr/>
          <p:nvPr/>
        </p:nvSpPr>
        <p:spPr>
          <a:xfrm>
            <a:off x="6300216" y="2889504"/>
            <a:ext cx="5522976" cy="2889504"/>
          </a:xfrm>
          <a:prstGeom prst="roundRect">
            <a:avLst>
              <a:gd name="adj" fmla="val 1899"/>
            </a:avLst>
          </a:prstGeom>
          <a:solidFill>
            <a:srgbClr val="FFFFFF"/>
          </a:solidFill>
          <a:ln w="15240">
            <a:solidFill>
              <a:srgbClr val="BE185D"/>
            </a:solidFill>
            <a:prstDash val="solid"/>
          </a:ln>
        </p:spPr>
      </p:sp>
      <p:sp>
        <p:nvSpPr>
          <p:cNvPr id="42" name="Text 40"/>
          <p:cNvSpPr txBox="1"/>
          <p:nvPr/>
        </p:nvSpPr>
        <p:spPr>
          <a:xfrm>
            <a:off x="6483096" y="3017520"/>
            <a:ext cx="5157216" cy="219456"/>
          </a:xfrm>
          <a:prstGeom prst="rect">
            <a:avLst/>
          </a:prstGeom>
          <a:noFill/>
          <a:ln/>
        </p:spPr>
        <p:txBody>
          <a:bodyPr wrap="square" lIns="0" tIns="0" rIns="0" bIns="0" rtlCol="0" anchor="ctr"/>
          <a:lstStyle/>
          <a:p>
            <a:pPr indent="0" marL="0">
              <a:buNone/>
            </a:pPr>
            <a:r>
              <a:rPr lang="en-US" sz="900" b="1" spc="80" kern="0" dirty="0">
                <a:solidFill>
                  <a:srgbClr val="BE185D"/>
                </a:solidFill>
                <a:latin typeface="Arial" pitchFamily="34" charset="0"/>
                <a:ea typeface="Arial" pitchFamily="34" charset="-122"/>
                <a:cs typeface="Arial" pitchFamily="34" charset="-120"/>
              </a:rPr>
              <a:t>WHEN IT BREAKS</a:t>
            </a:r>
            <a:endParaRPr lang="en-US" sz="900" dirty="0"/>
          </a:p>
        </p:txBody>
      </p:sp>
      <p:sp>
        <p:nvSpPr>
          <p:cNvPr id="43" name="Text 41"/>
          <p:cNvSpPr txBox="1"/>
          <p:nvPr/>
        </p:nvSpPr>
        <p:spPr>
          <a:xfrm>
            <a:off x="6483096" y="3273552"/>
            <a:ext cx="5157216" cy="182880"/>
          </a:xfrm>
          <a:prstGeom prst="rect">
            <a:avLst/>
          </a:prstGeom>
          <a:noFill/>
          <a:ln/>
        </p:spPr>
        <p:txBody>
          <a:bodyPr wrap="square" lIns="0" tIns="0" rIns="0" bIns="0" rtlCol="0" anchor="ctr"/>
          <a:lstStyle/>
          <a:p>
            <a:pPr indent="0" marL="0">
              <a:buNone/>
            </a:pPr>
            <a:r>
              <a:rPr lang="en-US" sz="840" b="1" dirty="0">
                <a:solidFill>
                  <a:srgbClr val="6A1F42"/>
                </a:solidFill>
                <a:latin typeface="Arial" pitchFamily="34" charset="0"/>
                <a:ea typeface="Arial" pitchFamily="34" charset="-122"/>
                <a:cs typeface="Arial" pitchFamily="34" charset="-120"/>
              </a:rPr>
              <a:t>An agent fails, or confidence is low</a:t>
            </a:r>
            <a:endParaRPr lang="en-US" sz="840" dirty="0"/>
          </a:p>
        </p:txBody>
      </p:sp>
      <p:sp>
        <p:nvSpPr>
          <p:cNvPr id="44" name="Text 42"/>
          <p:cNvSpPr txBox="1"/>
          <p:nvPr/>
        </p:nvSpPr>
        <p:spPr>
          <a:xfrm>
            <a:off x="6483096" y="3447288"/>
            <a:ext cx="5157216" cy="384048"/>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The claim drops into today's manual queue. The old path is never removed, so the failure mode is a slower claim, never a wrong one.</a:t>
            </a:r>
            <a:endParaRPr lang="en-US" sz="800" dirty="0"/>
          </a:p>
        </p:txBody>
      </p:sp>
      <p:sp>
        <p:nvSpPr>
          <p:cNvPr id="45" name="Text 43"/>
          <p:cNvSpPr txBox="1"/>
          <p:nvPr/>
        </p:nvSpPr>
        <p:spPr>
          <a:xfrm>
            <a:off x="6483096" y="3840480"/>
            <a:ext cx="5157216" cy="182880"/>
          </a:xfrm>
          <a:prstGeom prst="rect">
            <a:avLst/>
          </a:prstGeom>
          <a:noFill/>
          <a:ln/>
        </p:spPr>
        <p:txBody>
          <a:bodyPr wrap="square" lIns="0" tIns="0" rIns="0" bIns="0" rtlCol="0" anchor="ctr"/>
          <a:lstStyle/>
          <a:p>
            <a:pPr indent="0" marL="0">
              <a:buNone/>
            </a:pPr>
            <a:r>
              <a:rPr lang="en-US" sz="840" b="1" dirty="0">
                <a:solidFill>
                  <a:srgbClr val="6A1F42"/>
                </a:solidFill>
                <a:latin typeface="Arial" pitchFamily="34" charset="0"/>
                <a:ea typeface="Arial" pitchFamily="34" charset="-122"/>
                <a:cs typeface="Arial" pitchFamily="34" charset="-120"/>
              </a:rPr>
              <a:t>A prompt or model version changes</a:t>
            </a:r>
            <a:endParaRPr lang="en-US" sz="840" dirty="0"/>
          </a:p>
        </p:txBody>
      </p:sp>
      <p:sp>
        <p:nvSpPr>
          <p:cNvPr id="46" name="Text 44"/>
          <p:cNvSpPr txBox="1"/>
          <p:nvPr/>
        </p:nvSpPr>
        <p:spPr>
          <a:xfrm>
            <a:off x="6483096" y="4014216"/>
            <a:ext cx="5157216" cy="384048"/>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200 historical claims are replayed first. A regression against the recorded outcome blocks the deploy.</a:t>
            </a:r>
            <a:endParaRPr lang="en-US" sz="800" dirty="0"/>
          </a:p>
        </p:txBody>
      </p:sp>
      <p:sp>
        <p:nvSpPr>
          <p:cNvPr id="47" name="Text 45"/>
          <p:cNvSpPr txBox="1"/>
          <p:nvPr/>
        </p:nvSpPr>
        <p:spPr>
          <a:xfrm>
            <a:off x="6483096" y="4407408"/>
            <a:ext cx="5157216" cy="182880"/>
          </a:xfrm>
          <a:prstGeom prst="rect">
            <a:avLst/>
          </a:prstGeom>
          <a:noFill/>
          <a:ln/>
        </p:spPr>
        <p:txBody>
          <a:bodyPr wrap="square" lIns="0" tIns="0" rIns="0" bIns="0" rtlCol="0" anchor="ctr"/>
          <a:lstStyle/>
          <a:p>
            <a:pPr indent="0" marL="0">
              <a:buNone/>
            </a:pPr>
            <a:r>
              <a:rPr lang="en-US" sz="840" b="1" dirty="0">
                <a:solidFill>
                  <a:srgbClr val="6A1F42"/>
                </a:solidFill>
                <a:latin typeface="Arial" pitchFamily="34" charset="0"/>
                <a:ea typeface="Arial" pitchFamily="34" charset="-122"/>
                <a:cs typeface="Arial" pitchFamily="34" charset="-120"/>
              </a:rPr>
              <a:t>One agent misbehaves in the wild</a:t>
            </a:r>
            <a:endParaRPr lang="en-US" sz="840" dirty="0"/>
          </a:p>
        </p:txBody>
      </p:sp>
      <p:sp>
        <p:nvSpPr>
          <p:cNvPr id="48" name="Text 46"/>
          <p:cNvSpPr txBox="1"/>
          <p:nvPr/>
        </p:nvSpPr>
        <p:spPr>
          <a:xfrm>
            <a:off x="6483096" y="4581144"/>
            <a:ext cx="5157216" cy="384048"/>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Each is behind its own switch. Turn off drafting and extraction keeps running.</a:t>
            </a:r>
            <a:endParaRPr lang="en-US" sz="800" dirty="0"/>
          </a:p>
        </p:txBody>
      </p:sp>
      <p:sp>
        <p:nvSpPr>
          <p:cNvPr id="49" name="Text 47"/>
          <p:cNvSpPr txBox="1"/>
          <p:nvPr/>
        </p:nvSpPr>
        <p:spPr>
          <a:xfrm>
            <a:off x="6483096" y="4974336"/>
            <a:ext cx="5157216" cy="182880"/>
          </a:xfrm>
          <a:prstGeom prst="rect">
            <a:avLst/>
          </a:prstGeom>
          <a:noFill/>
          <a:ln/>
        </p:spPr>
        <p:txBody>
          <a:bodyPr wrap="square" lIns="0" tIns="0" rIns="0" bIns="0" rtlCol="0" anchor="ctr"/>
          <a:lstStyle/>
          <a:p>
            <a:pPr indent="0" marL="0">
              <a:buNone/>
            </a:pPr>
            <a:r>
              <a:rPr lang="en-US" sz="840" b="1" dirty="0">
                <a:solidFill>
                  <a:srgbClr val="6A1F42"/>
                </a:solidFill>
                <a:latin typeface="Arial" pitchFamily="34" charset="0"/>
                <a:ea typeface="Arial" pitchFamily="34" charset="-122"/>
                <a:cs typeface="Arial" pitchFamily="34" charset="-120"/>
              </a:rPr>
              <a:t>The run dies half way</a:t>
            </a:r>
            <a:endParaRPr lang="en-US" sz="840" dirty="0"/>
          </a:p>
        </p:txBody>
      </p:sp>
      <p:sp>
        <p:nvSpPr>
          <p:cNvPr id="50" name="Text 48"/>
          <p:cNvSpPr txBox="1"/>
          <p:nvPr/>
        </p:nvSpPr>
        <p:spPr>
          <a:xfrm>
            <a:off x="6483096" y="5148072"/>
            <a:ext cx="5157216" cy="384048"/>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Graph state is checkpointed, so the claim resumes at the last good node instead of starting again.</a:t>
            </a:r>
            <a:endParaRPr lang="en-US" sz="800" dirty="0"/>
          </a:p>
        </p:txBody>
      </p:sp>
      <p:sp>
        <p:nvSpPr>
          <p:cNvPr id="51" name="Text 49"/>
          <p:cNvSpPr txBox="1"/>
          <p:nvPr/>
        </p:nvSpPr>
        <p:spPr>
          <a:xfrm>
            <a:off x="6483096" y="5559552"/>
            <a:ext cx="5157216" cy="182880"/>
          </a:xfrm>
          <a:prstGeom prst="rect">
            <a:avLst/>
          </a:prstGeom>
          <a:noFill/>
          <a:ln/>
        </p:spPr>
        <p:txBody>
          <a:bodyPr wrap="square" lIns="0" tIns="0" rIns="0" bIns="0" rtlCol="0" anchor="ctr"/>
          <a:lstStyle/>
          <a:p>
            <a:pPr indent="0" marL="0">
              <a:buNone/>
            </a:pPr>
            <a:r>
              <a:rPr lang="en-US" sz="780" i="1" dirty="0">
                <a:solidFill>
                  <a:srgbClr val="BE185D"/>
                </a:solidFill>
                <a:latin typeface="Arial" pitchFamily="34" charset="0"/>
                <a:ea typeface="Arial" pitchFamily="34" charset="-122"/>
                <a:cs typeface="Arial" pitchFamily="34" charset="-120"/>
              </a:rPr>
              <a:t>Every decision, its inputs and its confidence are written to the audit log — that is what makes an adverse outcome defensible later.</a:t>
            </a:r>
            <a:endParaRPr lang="en-US" sz="780" dirty="0"/>
          </a:p>
        </p:txBody>
      </p:sp>
      <p:sp>
        <p:nvSpPr>
          <p:cNvPr id="52" name="Text 50"/>
          <p:cNvSpPr txBox="1"/>
          <p:nvPr/>
        </p:nvSpPr>
        <p:spPr>
          <a:xfrm>
            <a:off x="365760" y="6053328"/>
            <a:ext cx="11430000" cy="237744"/>
          </a:xfrm>
          <a:prstGeom prst="rect">
            <a:avLst/>
          </a:prstGeom>
          <a:noFill/>
          <a:ln/>
        </p:spPr>
        <p:txBody>
          <a:bodyPr wrap="square" lIns="0" tIns="0" rIns="0" bIns="0" rtlCol="0" anchor="ctr"/>
          <a:lstStyle/>
          <a:p>
            <a:pPr indent="0" marL="0">
              <a:buNone/>
            </a:pPr>
            <a:r>
              <a:rPr lang="en-US" sz="700" dirty="0">
                <a:solidFill>
                  <a:srgbClr val="5B6472"/>
                </a:solidFill>
                <a:latin typeface="Arial" pitchFamily="34" charset="0"/>
                <a:ea typeface="Arial" pitchFamily="34" charset="-122"/>
                <a:cs typeface="Arial" pitchFamily="34" charset="-120"/>
              </a:rPr>
              <a:t>Thresholds shown are the ones we would propose and then argue about with the claims lead — they are starting points, not findings</a:t>
            </a:r>
            <a:endParaRPr lang="en-US" sz="700" dirty="0"/>
          </a:p>
        </p:txBody>
      </p:sp>
      <p:sp>
        <p:nvSpPr>
          <p:cNvPr id="53" name="Text 51"/>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54" name="Text 52"/>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7 / 10</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One typed state object moves through the graph — every node reads it, writes to it, and signs its work</a:t>
            </a:r>
            <a:endParaRPr lang="en-US" sz="1400" dirty="0"/>
          </a:p>
        </p:txBody>
      </p:sp>
      <p:sp>
        <p:nvSpPr>
          <p:cNvPr id="3" name="Text 1"/>
          <p:cNvSpPr txBox="1"/>
          <p:nvPr/>
        </p:nvSpPr>
        <p:spPr>
          <a:xfrm>
            <a:off x="8229600" y="146304"/>
            <a:ext cx="359359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TECHNICAL IMPLEMENTATION</a:t>
            </a:r>
            <a:endParaRPr lang="en-US" sz="950" dirty="0"/>
          </a:p>
        </p:txBody>
      </p:sp>
      <p:sp>
        <p:nvSpPr>
          <p:cNvPr id="4" name="Text 2"/>
          <p:cNvSpPr txBox="1"/>
          <p:nvPr/>
        </p:nvSpPr>
        <p:spPr>
          <a:xfrm>
            <a:off x="365760" y="512064"/>
            <a:ext cx="3840480" cy="219456"/>
          </a:xfrm>
          <a:prstGeom prst="rect">
            <a:avLst/>
          </a:prstGeom>
          <a:noFill/>
          <a:ln/>
        </p:spPr>
        <p:txBody>
          <a:bodyPr wrap="square" lIns="0" tIns="0" rIns="0" bIns="0" rtlCol="0" anchor="ctr"/>
          <a:lstStyle/>
          <a:p>
            <a:pPr indent="0" marL="0">
              <a:buNone/>
            </a:pPr>
            <a:r>
              <a:rPr lang="en-US" sz="900" b="1" spc="80" kern="0" dirty="0">
                <a:solidFill>
                  <a:srgbClr val="D97706"/>
                </a:solidFill>
                <a:latin typeface="Arial" pitchFamily="34" charset="0"/>
                <a:ea typeface="Arial" pitchFamily="34" charset="-122"/>
                <a:cs typeface="Arial" pitchFamily="34" charset="-120"/>
              </a:rPr>
              <a:t>A · THE CLAIM STATE — WHAT EVERY NODE SHARES</a:t>
            </a:r>
            <a:endParaRPr lang="en-US" sz="900" dirty="0"/>
          </a:p>
        </p:txBody>
      </p:sp>
      <p:sp>
        <p:nvSpPr>
          <p:cNvPr id="5" name="Shape 3"/>
          <p:cNvSpPr/>
          <p:nvPr/>
        </p:nvSpPr>
        <p:spPr>
          <a:xfrm>
            <a:off x="365760" y="768096"/>
            <a:ext cx="3840480" cy="2395728"/>
          </a:xfrm>
          <a:prstGeom prst="roundRect">
            <a:avLst>
              <a:gd name="adj" fmla="val 1908"/>
            </a:avLst>
          </a:prstGeom>
          <a:solidFill>
            <a:srgbClr val="F2F1ED"/>
          </a:solidFill>
          <a:ln w="12700">
            <a:solidFill>
              <a:srgbClr val="D9D7D0"/>
            </a:solidFill>
            <a:prstDash val="solid"/>
          </a:ln>
        </p:spPr>
      </p:sp>
      <p:sp>
        <p:nvSpPr>
          <p:cNvPr id="6" name="Text 4"/>
          <p:cNvSpPr txBox="1"/>
          <p:nvPr/>
        </p:nvSpPr>
        <p:spPr>
          <a:xfrm>
            <a:off x="530352" y="859536"/>
            <a:ext cx="3511296" cy="2231136"/>
          </a:xfrm>
          <a:prstGeom prst="rect">
            <a:avLst/>
          </a:prstGeom>
          <a:noFill/>
          <a:ln/>
        </p:spPr>
        <p:txBody>
          <a:bodyPr wrap="square" lIns="0" tIns="0" rIns="0" bIns="0" rtlCol="0" anchor="ctr"/>
          <a:lstStyle/>
          <a:p>
            <a:pPr indent="0" marL="0">
              <a:lnSpc>
                <a:spcPct val="118000"/>
              </a:lnSpc>
              <a:buNone/>
            </a:pPr>
            <a:r>
              <a:rPr lang="en-US" sz="760" b="1" dirty="0">
                <a:solidFill>
                  <a:srgbClr val="1B2430"/>
                </a:solidFill>
                <a:latin typeface="Courier New" pitchFamily="34" charset="0"/>
                <a:ea typeface="Courier New" pitchFamily="34" charset="-122"/>
                <a:cs typeface="Courier New" pitchFamily="34" charset="-120"/>
              </a:rPr>
              <a:t>class ClaimState(BaseModel):
</a:t>
            </a:r>
            <a:pPr indent="0" marL="0">
              <a:lnSpc>
                <a:spcPct val="118000"/>
              </a:lnSpc>
              <a:buNone/>
            </a:pPr>
            <a:r>
              <a:rPr lang="en-US" sz="760" dirty="0">
                <a:solidFill>
                  <a:srgbClr val="3A4250"/>
                </a:solidFill>
                <a:latin typeface="Courier New" pitchFamily="34" charset="0"/>
                <a:ea typeface="Courier New" pitchFamily="34" charset="-122"/>
                <a:cs typeface="Courier New" pitchFamily="34" charset="-120"/>
              </a:rPr>
              <a:t>    claim_id: str
    source: Literal["easy","aes","email"]
    documents: list[BlobRef]
</a:t>
            </a:r>
            <a:pPr indent="0" marL="0">
              <a:lnSpc>
                <a:spcPct val="118000"/>
              </a:lnSpc>
              <a:buNone/>
            </a:pPr>
            <a:r>
              <a:rPr lang="en-US" sz="760" dirty="0">
                <a:solidFill>
                  <a:srgbClr val="3A4250"/>
                </a:solidFill>
                <a:latin typeface="Courier New" pitchFamily="34" charset="0"/>
                <a:ea typeface="Courier New" pitchFamily="34" charset="-122"/>
                <a:cs typeface="Courier New" pitchFamily="34" charset="-120"/>
              </a:rPr>
              <a:t>    fields: ExtractedFields          # typed, per-field
    confidence: dict[str, float]   # per field
</a:t>
            </a:r>
            <a:pPr indent="0" marL="0">
              <a:lnSpc>
                <a:spcPct val="118000"/>
              </a:lnSpc>
              <a:buNone/>
            </a:pPr>
            <a:r>
              <a:rPr lang="en-US" sz="760" dirty="0">
                <a:solidFill>
                  <a:srgbClr val="3A4250"/>
                </a:solidFill>
                <a:latin typeface="Courier New" pitchFamily="34" charset="0"/>
                <a:ea typeface="Courier New" pitchFamily="34" charset="-122"/>
                <a:cs typeface="Courier New" pitchFamily="34" charset="-120"/>
              </a:rPr>
              <a:t>    claim_type: Literal["standard","teeth",
                        "glasses","violence"]
</a:t>
            </a:r>
            <a:pPr indent="0" marL="0">
              <a:lnSpc>
                <a:spcPct val="118000"/>
              </a:lnSpc>
              <a:buNone/>
            </a:pPr>
            <a:r>
              <a:rPr lang="en-US" sz="760" dirty="0">
                <a:solidFill>
                  <a:srgbClr val="3A4250"/>
                </a:solidFill>
                <a:latin typeface="Courier New" pitchFamily="34" charset="0"/>
                <a:ea typeface="Courier New" pitchFamily="34" charset="-122"/>
                <a:cs typeface="Courier New" pitchFamily="34" charset="-120"/>
              </a:rPr>
              <a:t>    coverage: CoverageResult | None
    exceptions: list[Exception]
    drafts: list[Draft]
</a:t>
            </a:r>
            <a:pPr indent="0" marL="0">
              <a:lnSpc>
                <a:spcPct val="118000"/>
              </a:lnSpc>
              <a:buNone/>
            </a:pPr>
            <a:r>
              <a:rPr lang="en-US" sz="760" dirty="0">
                <a:solidFill>
                  <a:srgbClr val="6B4A10"/>
                </a:solidFill>
                <a:latin typeface="Courier New" pitchFamily="34" charset="0"/>
                <a:ea typeface="Courier New" pitchFamily="34" charset="-122"/>
                <a:cs typeface="Courier New" pitchFamily="34" charset="-120"/>
              </a:rPr>
              <a:t>    audit: list[NodeRun]             # who did what, when
</a:t>
            </a:r>
            <a:endParaRPr lang="en-US" sz="760" dirty="0"/>
          </a:p>
        </p:txBody>
      </p:sp>
      <p:sp>
        <p:nvSpPr>
          <p:cNvPr id="7" name="Text 5"/>
          <p:cNvSpPr txBox="1"/>
          <p:nvPr/>
        </p:nvSpPr>
        <p:spPr>
          <a:xfrm>
            <a:off x="365760" y="3218688"/>
            <a:ext cx="3840480" cy="365760"/>
          </a:xfrm>
          <a:prstGeom prst="rect">
            <a:avLst/>
          </a:prstGeom>
          <a:noFill/>
          <a:ln/>
        </p:spPr>
        <p:txBody>
          <a:bodyPr wrap="square" lIns="0" tIns="0" rIns="0" bIns="0" rtlCol="0" anchor="ctr"/>
          <a:lstStyle/>
          <a:p>
            <a:pPr indent="0" marL="0">
              <a:lnSpc>
                <a:spcPct val="115000"/>
              </a:lnSpc>
              <a:buNone/>
            </a:pPr>
            <a:r>
              <a:rPr lang="en-US" sz="760" i="1" dirty="0">
                <a:solidFill>
                  <a:srgbClr val="6A6A6A"/>
                </a:solidFill>
                <a:latin typeface="Arial" pitchFamily="34" charset="0"/>
                <a:ea typeface="Arial" pitchFamily="34" charset="-122"/>
                <a:cs typeface="Arial" pitchFamily="34" charset="-120"/>
              </a:rPr>
              <a:t>Pydantic types are the contract, and confidence is held per field rather than per claim. A node that cannot produce a valid field returns null plus a reason — it never guesses to satisfy a schema.</a:t>
            </a:r>
            <a:endParaRPr lang="en-US" sz="760" dirty="0"/>
          </a:p>
        </p:txBody>
      </p:sp>
      <p:sp>
        <p:nvSpPr>
          <p:cNvPr id="8" name="Text 6"/>
          <p:cNvSpPr txBox="1"/>
          <p:nvPr/>
        </p:nvSpPr>
        <p:spPr>
          <a:xfrm>
            <a:off x="4389120" y="512064"/>
            <a:ext cx="3657600" cy="219456"/>
          </a:xfrm>
          <a:prstGeom prst="rect">
            <a:avLst/>
          </a:prstGeom>
          <a:noFill/>
          <a:ln/>
        </p:spPr>
        <p:txBody>
          <a:bodyPr wrap="square" lIns="0" tIns="0" rIns="0" bIns="0" rtlCol="0" anchor="ctr"/>
          <a:lstStyle/>
          <a:p>
            <a:pPr indent="0" marL="0">
              <a:buNone/>
            </a:pPr>
            <a:r>
              <a:rPr lang="en-US" sz="900" b="1" spc="80" kern="0" dirty="0">
                <a:solidFill>
                  <a:srgbClr val="0891B2"/>
                </a:solidFill>
                <a:latin typeface="Arial" pitchFamily="34" charset="0"/>
                <a:ea typeface="Arial" pitchFamily="34" charset="-122"/>
                <a:cs typeface="Arial" pitchFamily="34" charset="-120"/>
              </a:rPr>
              <a:t>B · THE STACK, AND WHY EACH PIECE</a:t>
            </a:r>
            <a:endParaRPr lang="en-US" sz="900" dirty="0"/>
          </a:p>
        </p:txBody>
      </p:sp>
      <p:sp>
        <p:nvSpPr>
          <p:cNvPr id="9" name="Shape 7"/>
          <p:cNvSpPr/>
          <p:nvPr/>
        </p:nvSpPr>
        <p:spPr>
          <a:xfrm>
            <a:off x="4389120" y="804672"/>
            <a:ext cx="36576" cy="347472"/>
          </a:xfrm>
          <a:prstGeom prst="rect">
            <a:avLst/>
          </a:prstGeom>
          <a:solidFill>
            <a:srgbClr val="0891B2"/>
          </a:solidFill>
          <a:ln/>
        </p:spPr>
      </p:sp>
      <p:sp>
        <p:nvSpPr>
          <p:cNvPr id="10" name="Text 8"/>
          <p:cNvSpPr txBox="1"/>
          <p:nvPr/>
        </p:nvSpPr>
        <p:spPr>
          <a:xfrm>
            <a:off x="4517136" y="786384"/>
            <a:ext cx="3529584"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LangGraph  ·  Python</a:t>
            </a:r>
            <a:endParaRPr lang="en-US" sz="840" dirty="0"/>
          </a:p>
        </p:txBody>
      </p:sp>
      <p:sp>
        <p:nvSpPr>
          <p:cNvPr id="11" name="Text 9"/>
          <p:cNvSpPr txBox="1"/>
          <p:nvPr/>
        </p:nvSpPr>
        <p:spPr>
          <a:xfrm>
            <a:off x="4517136" y="941832"/>
            <a:ext cx="3529584" cy="310896"/>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Nodes are the agents, conditional edges are the decision diamonds on slides 2–4. The diagram is the code.</a:t>
            </a:r>
            <a:endParaRPr lang="en-US" sz="760" dirty="0"/>
          </a:p>
        </p:txBody>
      </p:sp>
      <p:sp>
        <p:nvSpPr>
          <p:cNvPr id="12" name="Shape 10"/>
          <p:cNvSpPr/>
          <p:nvPr/>
        </p:nvSpPr>
        <p:spPr>
          <a:xfrm>
            <a:off x="4389120" y="1293876"/>
            <a:ext cx="36576" cy="347472"/>
          </a:xfrm>
          <a:prstGeom prst="rect">
            <a:avLst/>
          </a:prstGeom>
          <a:solidFill>
            <a:srgbClr val="0891B2"/>
          </a:solidFill>
          <a:ln/>
        </p:spPr>
      </p:sp>
      <p:sp>
        <p:nvSpPr>
          <p:cNvPr id="13" name="Text 11"/>
          <p:cNvSpPr txBox="1"/>
          <p:nvPr/>
        </p:nvSpPr>
        <p:spPr>
          <a:xfrm>
            <a:off x="4517136" y="1275588"/>
            <a:ext cx="3529584"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Pydantic</a:t>
            </a:r>
            <a:endParaRPr lang="en-US" sz="840" dirty="0"/>
          </a:p>
        </p:txBody>
      </p:sp>
      <p:sp>
        <p:nvSpPr>
          <p:cNvPr id="14" name="Text 12"/>
          <p:cNvSpPr txBox="1"/>
          <p:nvPr/>
        </p:nvSpPr>
        <p:spPr>
          <a:xfrm>
            <a:off x="4517136" y="1431036"/>
            <a:ext cx="3529584" cy="310896"/>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Typed state. Schema violations fail loudly at the node, not silently downstream.</a:t>
            </a:r>
            <a:endParaRPr lang="en-US" sz="760" dirty="0"/>
          </a:p>
        </p:txBody>
      </p:sp>
      <p:sp>
        <p:nvSpPr>
          <p:cNvPr id="15" name="Shape 13"/>
          <p:cNvSpPr/>
          <p:nvPr/>
        </p:nvSpPr>
        <p:spPr>
          <a:xfrm>
            <a:off x="4389120" y="1783080"/>
            <a:ext cx="36576" cy="347472"/>
          </a:xfrm>
          <a:prstGeom prst="rect">
            <a:avLst/>
          </a:prstGeom>
          <a:solidFill>
            <a:srgbClr val="0891B2"/>
          </a:solidFill>
          <a:ln/>
        </p:spPr>
      </p:sp>
      <p:sp>
        <p:nvSpPr>
          <p:cNvPr id="16" name="Text 14"/>
          <p:cNvSpPr txBox="1"/>
          <p:nvPr/>
        </p:nvSpPr>
        <p:spPr>
          <a:xfrm>
            <a:off x="4517136" y="1764792"/>
            <a:ext cx="3529584"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PostgreSQL</a:t>
            </a:r>
            <a:endParaRPr lang="en-US" sz="840" dirty="0"/>
          </a:p>
        </p:txBody>
      </p:sp>
      <p:sp>
        <p:nvSpPr>
          <p:cNvPr id="17" name="Text 15"/>
          <p:cNvSpPr txBox="1"/>
          <p:nvPr/>
        </p:nvSpPr>
        <p:spPr>
          <a:xfrm>
            <a:off x="4517136" y="1920240"/>
            <a:ext cx="3529584" cy="310896"/>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LangGraph checkpointer plus the audit log. One store, so a claim's history and its state cannot drift apart.</a:t>
            </a:r>
            <a:endParaRPr lang="en-US" sz="760" dirty="0"/>
          </a:p>
        </p:txBody>
      </p:sp>
      <p:sp>
        <p:nvSpPr>
          <p:cNvPr id="18" name="Shape 16"/>
          <p:cNvSpPr/>
          <p:nvPr/>
        </p:nvSpPr>
        <p:spPr>
          <a:xfrm>
            <a:off x="4389120" y="2272284"/>
            <a:ext cx="36576" cy="347472"/>
          </a:xfrm>
          <a:prstGeom prst="rect">
            <a:avLst/>
          </a:prstGeom>
          <a:solidFill>
            <a:srgbClr val="0891B2"/>
          </a:solidFill>
          <a:ln/>
        </p:spPr>
      </p:sp>
      <p:sp>
        <p:nvSpPr>
          <p:cNvPr id="19" name="Text 17"/>
          <p:cNvSpPr txBox="1"/>
          <p:nvPr/>
        </p:nvSpPr>
        <p:spPr>
          <a:xfrm>
            <a:off x="4517136" y="2253996"/>
            <a:ext cx="3529584"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Azure Container Apps</a:t>
            </a:r>
            <a:endParaRPr lang="en-US" sz="840" dirty="0"/>
          </a:p>
        </p:txBody>
      </p:sp>
      <p:sp>
        <p:nvSpPr>
          <p:cNvPr id="20" name="Text 18"/>
          <p:cNvSpPr txBox="1"/>
          <p:nvPr/>
        </p:nvSpPr>
        <p:spPr>
          <a:xfrm>
            <a:off x="4517136" y="2409444"/>
            <a:ext cx="3529584" cy="310896"/>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Two always-on for the API and worker, two scale-to-zero for burst. Cloud, as GGW deploy today.</a:t>
            </a:r>
            <a:endParaRPr lang="en-US" sz="760" dirty="0"/>
          </a:p>
        </p:txBody>
      </p:sp>
      <p:sp>
        <p:nvSpPr>
          <p:cNvPr id="21" name="Shape 19"/>
          <p:cNvSpPr/>
          <p:nvPr/>
        </p:nvSpPr>
        <p:spPr>
          <a:xfrm>
            <a:off x="4389120" y="2761488"/>
            <a:ext cx="36576" cy="347472"/>
          </a:xfrm>
          <a:prstGeom prst="rect">
            <a:avLst/>
          </a:prstGeom>
          <a:solidFill>
            <a:srgbClr val="0891B2"/>
          </a:solidFill>
          <a:ln/>
        </p:spPr>
      </p:sp>
      <p:sp>
        <p:nvSpPr>
          <p:cNvPr id="22" name="Text 20"/>
          <p:cNvSpPr txBox="1"/>
          <p:nvPr/>
        </p:nvSpPr>
        <p:spPr>
          <a:xfrm>
            <a:off x="4517136" y="2743200"/>
            <a:ext cx="3529584"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Azure Blob  ·  Key Vault</a:t>
            </a:r>
            <a:endParaRPr lang="en-US" sz="840" dirty="0"/>
          </a:p>
        </p:txBody>
      </p:sp>
      <p:sp>
        <p:nvSpPr>
          <p:cNvPr id="23" name="Text 21"/>
          <p:cNvSpPr txBox="1"/>
          <p:nvPr/>
        </p:nvSpPr>
        <p:spPr>
          <a:xfrm>
            <a:off x="4517136" y="2898648"/>
            <a:ext cx="3529584" cy="310896"/>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Claim documents and secrets. Documents never enter a prompt as raw bytes — only extracted text.</a:t>
            </a:r>
            <a:endParaRPr lang="en-US" sz="760" dirty="0"/>
          </a:p>
        </p:txBody>
      </p:sp>
      <p:sp>
        <p:nvSpPr>
          <p:cNvPr id="24" name="Shape 22"/>
          <p:cNvSpPr/>
          <p:nvPr/>
        </p:nvSpPr>
        <p:spPr>
          <a:xfrm>
            <a:off x="4389120" y="3250692"/>
            <a:ext cx="36576" cy="347472"/>
          </a:xfrm>
          <a:prstGeom prst="rect">
            <a:avLst/>
          </a:prstGeom>
          <a:solidFill>
            <a:srgbClr val="0891B2"/>
          </a:solidFill>
          <a:ln/>
        </p:spPr>
      </p:sp>
      <p:sp>
        <p:nvSpPr>
          <p:cNvPr id="25" name="Text 23"/>
          <p:cNvSpPr txBox="1"/>
          <p:nvPr/>
        </p:nvSpPr>
        <p:spPr>
          <a:xfrm>
            <a:off x="4517136" y="3232404"/>
            <a:ext cx="3529584"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Azure OpenAI</a:t>
            </a:r>
            <a:endParaRPr lang="en-US" sz="840" dirty="0"/>
          </a:p>
        </p:txBody>
      </p:sp>
      <p:sp>
        <p:nvSpPr>
          <p:cNvPr id="26" name="Text 24"/>
          <p:cNvSpPr txBox="1"/>
          <p:nvPr/>
        </p:nvSpPr>
        <p:spPr>
          <a:xfrm>
            <a:off x="4517136" y="3387852"/>
            <a:ext cx="3529584" cy="310896"/>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Same model tier throughout, pinned by version. EU region keeps claim data in-region.</a:t>
            </a:r>
            <a:endParaRPr lang="en-US" sz="760" dirty="0"/>
          </a:p>
        </p:txBody>
      </p:sp>
      <p:sp>
        <p:nvSpPr>
          <p:cNvPr id="27" name="Text 25"/>
          <p:cNvSpPr txBox="1"/>
          <p:nvPr/>
        </p:nvSpPr>
        <p:spPr>
          <a:xfrm>
            <a:off x="8229600" y="512064"/>
            <a:ext cx="3593592" cy="219456"/>
          </a:xfrm>
          <a:prstGeom prst="rect">
            <a:avLst/>
          </a:prstGeom>
          <a:noFill/>
          <a:ln/>
        </p:spPr>
        <p:txBody>
          <a:bodyPr wrap="square" lIns="0" tIns="0" rIns="0" bIns="0" rtlCol="0" anchor="ctr"/>
          <a:lstStyle/>
          <a:p>
            <a:pPr indent="0" marL="0">
              <a:buNone/>
            </a:pPr>
            <a:r>
              <a:rPr lang="en-US" sz="840" b="1" spc="60" kern="0" dirty="0">
                <a:solidFill>
                  <a:srgbClr val="4338CA"/>
                </a:solidFill>
                <a:latin typeface="Arial" pitchFamily="34" charset="0"/>
                <a:ea typeface="Arial" pitchFamily="34" charset="-122"/>
                <a:cs typeface="Arial" pitchFamily="34" charset="-120"/>
              </a:rPr>
              <a:t>C · INTEGRATIONS — WHAT DECIDES THE TIMELINE</a:t>
            </a:r>
            <a:endParaRPr lang="en-US" sz="840" dirty="0"/>
          </a:p>
        </p:txBody>
      </p:sp>
      <p:sp>
        <p:nvSpPr>
          <p:cNvPr id="28" name="Text 26"/>
          <p:cNvSpPr txBox="1"/>
          <p:nvPr/>
        </p:nvSpPr>
        <p:spPr>
          <a:xfrm>
            <a:off x="8229600" y="786384"/>
            <a:ext cx="3593592"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EASY  </a:t>
            </a:r>
            <a:pPr indent="0" marL="0">
              <a:buNone/>
            </a:pPr>
            <a:r>
              <a:rPr lang="en-US" sz="700" b="1" dirty="0">
                <a:solidFill>
                  <a:srgbClr val="4338CA"/>
                </a:solidFill>
                <a:latin typeface="Arial" pitchFamily="34" charset="0"/>
                <a:ea typeface="Arial" pitchFamily="34" charset="-122"/>
                <a:cs typeface="Arial" pitchFamily="34" charset="-120"/>
              </a:rPr>
              <a:t>IN</a:t>
            </a:r>
            <a:endParaRPr lang="en-US" sz="840" dirty="0"/>
          </a:p>
        </p:txBody>
      </p:sp>
      <p:sp>
        <p:nvSpPr>
          <p:cNvPr id="29" name="Text 27"/>
          <p:cNvSpPr txBox="1"/>
          <p:nvPr/>
        </p:nvSpPr>
        <p:spPr>
          <a:xfrm>
            <a:off x="8229600" y="941832"/>
            <a:ext cx="3593592" cy="384048"/>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Reuse the existing auto-import. We add the reconciliation that tells you when it failed.</a:t>
            </a:r>
            <a:endParaRPr lang="en-US" sz="760" dirty="0"/>
          </a:p>
        </p:txBody>
      </p:sp>
      <p:sp>
        <p:nvSpPr>
          <p:cNvPr id="30" name="Text 28"/>
          <p:cNvSpPr txBox="1"/>
          <p:nvPr/>
        </p:nvSpPr>
        <p:spPr>
          <a:xfrm>
            <a:off x="8229600" y="1362456"/>
            <a:ext cx="3593592"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AES secure mail  </a:t>
            </a:r>
            <a:pPr indent="0" marL="0">
              <a:buNone/>
            </a:pPr>
            <a:r>
              <a:rPr lang="en-US" sz="700" b="1" dirty="0">
                <a:solidFill>
                  <a:srgbClr val="4338CA"/>
                </a:solidFill>
                <a:latin typeface="Arial" pitchFamily="34" charset="0"/>
                <a:ea typeface="Arial" pitchFamily="34" charset="-122"/>
                <a:cs typeface="Arial" pitchFamily="34" charset="-120"/>
              </a:rPr>
              <a:t>IN</a:t>
            </a:r>
            <a:endParaRPr lang="en-US" sz="840" dirty="0"/>
          </a:p>
        </p:txBody>
      </p:sp>
      <p:sp>
        <p:nvSpPr>
          <p:cNvPr id="31" name="Text 29"/>
          <p:cNvSpPr txBox="1"/>
          <p:nvPr/>
        </p:nvSpPr>
        <p:spPr>
          <a:xfrm>
            <a:off x="8229600" y="1517904"/>
            <a:ext cx="3593592" cy="384048"/>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Fully manual today. A mailbox reader is the single biggest unlock on the intake side.</a:t>
            </a:r>
            <a:endParaRPr lang="en-US" sz="760" dirty="0"/>
          </a:p>
        </p:txBody>
      </p:sp>
      <p:sp>
        <p:nvSpPr>
          <p:cNvPr id="32" name="Text 30"/>
          <p:cNvSpPr txBox="1"/>
          <p:nvPr/>
        </p:nvSpPr>
        <p:spPr>
          <a:xfrm>
            <a:off x="8229600" y="1938528"/>
            <a:ext cx="3593592"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E-mail  </a:t>
            </a:r>
            <a:pPr indent="0" marL="0">
              <a:buNone/>
            </a:pPr>
            <a:r>
              <a:rPr lang="en-US" sz="700" b="1" dirty="0">
                <a:solidFill>
                  <a:srgbClr val="4338CA"/>
                </a:solidFill>
                <a:latin typeface="Arial" pitchFamily="34" charset="0"/>
                <a:ea typeface="Arial" pitchFamily="34" charset="-122"/>
                <a:cs typeface="Arial" pitchFamily="34" charset="-120"/>
              </a:rPr>
              <a:t>IN</a:t>
            </a:r>
            <a:endParaRPr lang="en-US" sz="840" dirty="0"/>
          </a:p>
        </p:txBody>
      </p:sp>
      <p:sp>
        <p:nvSpPr>
          <p:cNvPr id="33" name="Text 31"/>
          <p:cNvSpPr txBox="1"/>
          <p:nvPr/>
        </p:nvSpPr>
        <p:spPr>
          <a:xfrm>
            <a:off x="8229600" y="2093976"/>
            <a:ext cx="3593592" cy="384048"/>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Same reader, different folder. Attachments to Blob, text to extraction.</a:t>
            </a:r>
            <a:endParaRPr lang="en-US" sz="760" dirty="0"/>
          </a:p>
        </p:txBody>
      </p:sp>
      <p:sp>
        <p:nvSpPr>
          <p:cNvPr id="34" name="Text 32"/>
          <p:cNvSpPr txBox="1"/>
          <p:nvPr/>
        </p:nvSpPr>
        <p:spPr>
          <a:xfrm>
            <a:off x="8229600" y="2514600"/>
            <a:ext cx="3593592"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IDB  </a:t>
            </a:r>
            <a:pPr indent="0" marL="0">
              <a:buNone/>
            </a:pPr>
            <a:r>
              <a:rPr lang="en-US" sz="700" b="1" dirty="0">
                <a:solidFill>
                  <a:srgbClr val="BE185D"/>
                </a:solidFill>
                <a:latin typeface="Arial" pitchFamily="34" charset="0"/>
                <a:ea typeface="Arial" pitchFamily="34" charset="-122"/>
                <a:cs typeface="Arial" pitchFamily="34" charset="-120"/>
              </a:rPr>
              <a:t>OUT</a:t>
            </a:r>
            <a:endParaRPr lang="en-US" sz="840" dirty="0"/>
          </a:p>
        </p:txBody>
      </p:sp>
      <p:sp>
        <p:nvSpPr>
          <p:cNvPr id="35" name="Text 33"/>
          <p:cNvSpPr txBox="1"/>
          <p:nvPr/>
        </p:nvSpPr>
        <p:spPr>
          <a:xfrm>
            <a:off x="8229600" y="2670048"/>
            <a:ext cx="3593592" cy="384048"/>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Write the claim, attach the policy, open the task. If there is no API, this is the long pole — not the AI.</a:t>
            </a:r>
            <a:endParaRPr lang="en-US" sz="760" dirty="0"/>
          </a:p>
        </p:txBody>
      </p:sp>
      <p:sp>
        <p:nvSpPr>
          <p:cNvPr id="36" name="Text 34"/>
          <p:cNvSpPr txBox="1"/>
          <p:nvPr/>
        </p:nvSpPr>
        <p:spPr>
          <a:xfrm>
            <a:off x="8229600" y="3090672"/>
            <a:ext cx="3593592" cy="164592"/>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CPR / CVR registers  </a:t>
            </a:r>
            <a:pPr indent="0" marL="0">
              <a:buNone/>
            </a:pPr>
            <a:r>
              <a:rPr lang="en-US" sz="700" b="1" dirty="0">
                <a:solidFill>
                  <a:srgbClr val="D97706"/>
                </a:solidFill>
                <a:latin typeface="Arial" pitchFamily="34" charset="0"/>
                <a:ea typeface="Arial" pitchFamily="34" charset="-122"/>
                <a:cs typeface="Arial" pitchFamily="34" charset="-120"/>
              </a:rPr>
              <a:t>BOTH</a:t>
            </a:r>
            <a:endParaRPr lang="en-US" sz="840" dirty="0"/>
          </a:p>
        </p:txBody>
      </p:sp>
      <p:sp>
        <p:nvSpPr>
          <p:cNvPr id="37" name="Text 35"/>
          <p:cNvSpPr txBox="1"/>
          <p:nvPr/>
        </p:nvSpPr>
        <p:spPr>
          <a:xfrm>
            <a:off x="8229600" y="3246120"/>
            <a:ext cx="3593592" cy="384048"/>
          </a:xfrm>
          <a:prstGeom prst="rect">
            <a:avLst/>
          </a:prstGeom>
          <a:noFill/>
          <a:ln/>
        </p:spPr>
        <p:txBody>
          <a:bodyPr wrap="square" lIns="0" tIns="0" rIns="0" bIns="0" rtlCol="0" anchor="ctr"/>
          <a:lstStyle/>
          <a:p>
            <a:pPr indent="0" marL="0">
              <a:lnSpc>
                <a:spcPct val="112000"/>
              </a:lnSpc>
              <a:buNone/>
            </a:pPr>
            <a:r>
              <a:rPr lang="en-US" sz="760" dirty="0">
                <a:solidFill>
                  <a:srgbClr val="5A5A5A"/>
                </a:solidFill>
                <a:latin typeface="Arial" pitchFamily="34" charset="0"/>
                <a:ea typeface="Arial" pitchFamily="34" charset="-122"/>
                <a:cs typeface="Arial" pitchFamily="34" charset="-120"/>
              </a:rPr>
              <a:t>Already queried by hand. Wrapped as tools the agents call, with results cached on the claim.</a:t>
            </a:r>
            <a:endParaRPr lang="en-US" sz="760" dirty="0"/>
          </a:p>
        </p:txBody>
      </p:sp>
      <p:sp>
        <p:nvSpPr>
          <p:cNvPr id="38" name="Shape 36"/>
          <p:cNvSpPr/>
          <p:nvPr/>
        </p:nvSpPr>
        <p:spPr>
          <a:xfrm>
            <a:off x="8229600" y="3712464"/>
            <a:ext cx="3593592" cy="566928"/>
          </a:xfrm>
          <a:prstGeom prst="roundRect">
            <a:avLst>
              <a:gd name="adj" fmla="val 8065"/>
            </a:avLst>
          </a:prstGeom>
          <a:solidFill>
            <a:srgbClr val="FBE9F1"/>
          </a:solidFill>
          <a:ln w="12700">
            <a:solidFill>
              <a:srgbClr val="BE185D"/>
            </a:solidFill>
            <a:prstDash val="solid"/>
          </a:ln>
        </p:spPr>
      </p:sp>
      <p:sp>
        <p:nvSpPr>
          <p:cNvPr id="39" name="Text 37"/>
          <p:cNvSpPr txBox="1"/>
          <p:nvPr/>
        </p:nvSpPr>
        <p:spPr>
          <a:xfrm>
            <a:off x="8357616" y="3712464"/>
            <a:ext cx="3337560" cy="566928"/>
          </a:xfrm>
          <a:prstGeom prst="rect">
            <a:avLst/>
          </a:prstGeom>
          <a:noFill/>
          <a:ln/>
        </p:spPr>
        <p:txBody>
          <a:bodyPr wrap="square" lIns="0" tIns="0" rIns="0" bIns="0" rtlCol="0" anchor="ctr"/>
          <a:lstStyle/>
          <a:p>
            <a:pPr indent="0" marL="0">
              <a:lnSpc>
                <a:spcPct val="115000"/>
              </a:lnSpc>
              <a:buNone/>
            </a:pPr>
            <a:r>
              <a:rPr lang="en-US" sz="780" b="1" dirty="0">
                <a:solidFill>
                  <a:srgbClr val="6A1F42"/>
                </a:solidFill>
                <a:latin typeface="Arial" pitchFamily="34" charset="0"/>
                <a:ea typeface="Arial" pitchFamily="34" charset="-122"/>
                <a:cs typeface="Arial" pitchFamily="34" charset="-120"/>
              </a:rPr>
              <a:t>The models are the easy part. Whether IDB can be written to programmatically is the question that moves the date.</a:t>
            </a:r>
            <a:endParaRPr lang="en-US" sz="780" dirty="0"/>
          </a:p>
        </p:txBody>
      </p:sp>
      <p:sp>
        <p:nvSpPr>
          <p:cNvPr id="40" name="Shape 38"/>
          <p:cNvSpPr/>
          <p:nvPr/>
        </p:nvSpPr>
        <p:spPr>
          <a:xfrm>
            <a:off x="365760" y="3712464"/>
            <a:ext cx="7680960" cy="2194560"/>
          </a:xfrm>
          <a:prstGeom prst="roundRect">
            <a:avLst>
              <a:gd name="adj" fmla="val 2500"/>
            </a:avLst>
          </a:prstGeom>
          <a:solidFill>
            <a:srgbClr val="FFFFFF"/>
          </a:solidFill>
          <a:ln w="12700">
            <a:solidFill>
              <a:srgbClr val="D7DCE2"/>
            </a:solidFill>
            <a:prstDash val="solid"/>
          </a:ln>
        </p:spPr>
      </p:sp>
      <p:sp>
        <p:nvSpPr>
          <p:cNvPr id="41" name="Text 39"/>
          <p:cNvSpPr txBox="1"/>
          <p:nvPr/>
        </p:nvSpPr>
        <p:spPr>
          <a:xfrm>
            <a:off x="548640" y="3822192"/>
            <a:ext cx="7315200" cy="219456"/>
          </a:xfrm>
          <a:prstGeom prst="rect">
            <a:avLst/>
          </a:prstGeom>
          <a:noFill/>
          <a:ln/>
        </p:spPr>
        <p:txBody>
          <a:bodyPr wrap="square" lIns="0" tIns="0" rIns="0" bIns="0" rtlCol="0" anchor="ctr"/>
          <a:lstStyle/>
          <a:p>
            <a:pPr indent="0" marL="0">
              <a:buNone/>
            </a:pPr>
            <a:r>
              <a:rPr lang="en-US" sz="900" b="1" spc="80" kern="0" dirty="0">
                <a:solidFill>
                  <a:srgbClr val="4338CA"/>
                </a:solidFill>
                <a:latin typeface="Arial" pitchFamily="34" charset="0"/>
                <a:ea typeface="Arial" pitchFamily="34" charset="-122"/>
                <a:cs typeface="Arial" pitchFamily="34" charset="-120"/>
              </a:rPr>
              <a:t>D · HOW IT SHIPS AND KEEPS RUNNING</a:t>
            </a:r>
            <a:endParaRPr lang="en-US" sz="900" dirty="0"/>
          </a:p>
        </p:txBody>
      </p:sp>
      <p:sp>
        <p:nvSpPr>
          <p:cNvPr id="42" name="Text 40"/>
          <p:cNvSpPr txBox="1"/>
          <p:nvPr/>
        </p:nvSpPr>
        <p:spPr>
          <a:xfrm>
            <a:off x="548640" y="4096512"/>
            <a:ext cx="2286000" cy="329184"/>
          </a:xfrm>
          <a:prstGeom prst="rect">
            <a:avLst/>
          </a:prstGeom>
          <a:noFill/>
          <a:ln/>
        </p:spPr>
        <p:txBody>
          <a:bodyPr wrap="square" lIns="0" tIns="0" rIns="0" bIns="0" rtlCol="0" anchor="ctr"/>
          <a:lstStyle/>
          <a:p>
            <a:pPr indent="0" marL="0">
              <a:lnSpc>
                <a:spcPct val="110000"/>
              </a:lnSpc>
              <a:buNone/>
            </a:pPr>
            <a:r>
              <a:rPr lang="en-US" sz="820" b="1" dirty="0">
                <a:solidFill>
                  <a:srgbClr val="1B2430"/>
                </a:solidFill>
                <a:latin typeface="Arial" pitchFamily="34" charset="0"/>
                <a:ea typeface="Arial" pitchFamily="34" charset="-122"/>
                <a:cs typeface="Arial" pitchFamily="34" charset="-120"/>
              </a:rPr>
              <a:t>Infrastructure as code</a:t>
            </a:r>
            <a:endParaRPr lang="en-US" sz="820" dirty="0"/>
          </a:p>
        </p:txBody>
      </p:sp>
      <p:sp>
        <p:nvSpPr>
          <p:cNvPr id="43" name="Text 41"/>
          <p:cNvSpPr txBox="1"/>
          <p:nvPr/>
        </p:nvSpPr>
        <p:spPr>
          <a:xfrm>
            <a:off x="2907792" y="4096512"/>
            <a:ext cx="4956048" cy="329184"/>
          </a:xfrm>
          <a:prstGeom prst="rect">
            <a:avLst/>
          </a:prstGeom>
          <a:noFill/>
          <a:ln/>
        </p:spPr>
        <p:txBody>
          <a:bodyPr wrap="square" lIns="0" tIns="0" rIns="0" bIns="0" rtlCol="0" anchor="ctr"/>
          <a:lstStyle/>
          <a:p>
            <a:pPr indent="0" marL="0">
              <a:lnSpc>
                <a:spcPct val="112000"/>
              </a:lnSpc>
              <a:buNone/>
            </a:pPr>
            <a:r>
              <a:rPr lang="en-US" sz="780" dirty="0">
                <a:solidFill>
                  <a:srgbClr val="5A5A5A"/>
                </a:solidFill>
                <a:latin typeface="Arial" pitchFamily="34" charset="0"/>
                <a:ea typeface="Arial" pitchFamily="34" charset="-122"/>
                <a:cs typeface="Arial" pitchFamily="34" charset="-120"/>
              </a:rPr>
              <a:t>Bicep or Terraform. Nothing clicked into the portal, so the test environment is the production one minus data.</a:t>
            </a:r>
            <a:endParaRPr lang="en-US" sz="780" dirty="0"/>
          </a:p>
        </p:txBody>
      </p:sp>
      <p:sp>
        <p:nvSpPr>
          <p:cNvPr id="44" name="Text 42"/>
          <p:cNvSpPr txBox="1"/>
          <p:nvPr/>
        </p:nvSpPr>
        <p:spPr>
          <a:xfrm>
            <a:off x="548640" y="4448556"/>
            <a:ext cx="2286000" cy="329184"/>
          </a:xfrm>
          <a:prstGeom prst="rect">
            <a:avLst/>
          </a:prstGeom>
          <a:noFill/>
          <a:ln/>
        </p:spPr>
        <p:txBody>
          <a:bodyPr wrap="square" lIns="0" tIns="0" rIns="0" bIns="0" rtlCol="0" anchor="ctr"/>
          <a:lstStyle/>
          <a:p>
            <a:pPr indent="0" marL="0">
              <a:lnSpc>
                <a:spcPct val="110000"/>
              </a:lnSpc>
              <a:buNone/>
            </a:pPr>
            <a:r>
              <a:rPr lang="en-US" sz="820" b="1" dirty="0">
                <a:solidFill>
                  <a:srgbClr val="1B2430"/>
                </a:solidFill>
                <a:latin typeface="Arial" pitchFamily="34" charset="0"/>
                <a:ea typeface="Arial" pitchFamily="34" charset="-122"/>
                <a:cs typeface="Arial" pitchFamily="34" charset="-120"/>
              </a:rPr>
              <a:t>Azure DevOps pipelines</a:t>
            </a:r>
            <a:endParaRPr lang="en-US" sz="820" dirty="0"/>
          </a:p>
        </p:txBody>
      </p:sp>
      <p:sp>
        <p:nvSpPr>
          <p:cNvPr id="45" name="Text 43"/>
          <p:cNvSpPr txBox="1"/>
          <p:nvPr/>
        </p:nvSpPr>
        <p:spPr>
          <a:xfrm>
            <a:off x="2907792" y="4448556"/>
            <a:ext cx="4956048" cy="329184"/>
          </a:xfrm>
          <a:prstGeom prst="rect">
            <a:avLst/>
          </a:prstGeom>
          <a:noFill/>
          <a:ln/>
        </p:spPr>
        <p:txBody>
          <a:bodyPr wrap="square" lIns="0" tIns="0" rIns="0" bIns="0" rtlCol="0" anchor="ctr"/>
          <a:lstStyle/>
          <a:p>
            <a:pPr indent="0" marL="0">
              <a:lnSpc>
                <a:spcPct val="112000"/>
              </a:lnSpc>
              <a:buNone/>
            </a:pPr>
            <a:r>
              <a:rPr lang="en-US" sz="780" dirty="0">
                <a:solidFill>
                  <a:srgbClr val="5A5A5A"/>
                </a:solidFill>
                <a:latin typeface="Arial" pitchFamily="34" charset="0"/>
                <a:ea typeface="Arial" pitchFamily="34" charset="-122"/>
                <a:cs typeface="Arial" pitchFamily="34" charset="-120"/>
              </a:rPr>
              <a:t>Already licensed. Lint, type-check, unit tests, then the replay set on every merge.</a:t>
            </a:r>
            <a:endParaRPr lang="en-US" sz="780" dirty="0"/>
          </a:p>
        </p:txBody>
      </p:sp>
      <p:sp>
        <p:nvSpPr>
          <p:cNvPr id="46" name="Text 44"/>
          <p:cNvSpPr txBox="1"/>
          <p:nvPr/>
        </p:nvSpPr>
        <p:spPr>
          <a:xfrm>
            <a:off x="548640" y="4800600"/>
            <a:ext cx="2286000" cy="329184"/>
          </a:xfrm>
          <a:prstGeom prst="rect">
            <a:avLst/>
          </a:prstGeom>
          <a:noFill/>
          <a:ln/>
        </p:spPr>
        <p:txBody>
          <a:bodyPr wrap="square" lIns="0" tIns="0" rIns="0" bIns="0" rtlCol="0" anchor="ctr"/>
          <a:lstStyle/>
          <a:p>
            <a:pPr indent="0" marL="0">
              <a:lnSpc>
                <a:spcPct val="110000"/>
              </a:lnSpc>
              <a:buNone/>
            </a:pPr>
            <a:r>
              <a:rPr lang="en-US" sz="820" b="1" dirty="0">
                <a:solidFill>
                  <a:srgbClr val="1B2430"/>
                </a:solidFill>
                <a:latin typeface="Arial" pitchFamily="34" charset="0"/>
                <a:ea typeface="Arial" pitchFamily="34" charset="-122"/>
                <a:cs typeface="Arial" pitchFamily="34" charset="-120"/>
              </a:rPr>
              <a:t>A flag per agent</a:t>
            </a:r>
            <a:endParaRPr lang="en-US" sz="820" dirty="0"/>
          </a:p>
        </p:txBody>
      </p:sp>
      <p:sp>
        <p:nvSpPr>
          <p:cNvPr id="47" name="Text 45"/>
          <p:cNvSpPr txBox="1"/>
          <p:nvPr/>
        </p:nvSpPr>
        <p:spPr>
          <a:xfrm>
            <a:off x="2907792" y="4800600"/>
            <a:ext cx="4956048" cy="329184"/>
          </a:xfrm>
          <a:prstGeom prst="rect">
            <a:avLst/>
          </a:prstGeom>
          <a:noFill/>
          <a:ln/>
        </p:spPr>
        <p:txBody>
          <a:bodyPr wrap="square" lIns="0" tIns="0" rIns="0" bIns="0" rtlCol="0" anchor="ctr"/>
          <a:lstStyle/>
          <a:p>
            <a:pPr indent="0" marL="0">
              <a:lnSpc>
                <a:spcPct val="112000"/>
              </a:lnSpc>
              <a:buNone/>
            </a:pPr>
            <a:r>
              <a:rPr lang="en-US" sz="780" dirty="0">
                <a:solidFill>
                  <a:srgbClr val="5A5A5A"/>
                </a:solidFill>
                <a:latin typeface="Arial" pitchFamily="34" charset="0"/>
                <a:ea typeface="Arial" pitchFamily="34" charset="-122"/>
                <a:cs typeface="Arial" pitchFamily="34" charset="-120"/>
              </a:rPr>
              <a:t>Extraction, classification, research and drafting each toggle independently, per claim type.</a:t>
            </a:r>
            <a:endParaRPr lang="en-US" sz="780" dirty="0"/>
          </a:p>
        </p:txBody>
      </p:sp>
      <p:sp>
        <p:nvSpPr>
          <p:cNvPr id="48" name="Text 46"/>
          <p:cNvSpPr txBox="1"/>
          <p:nvPr/>
        </p:nvSpPr>
        <p:spPr>
          <a:xfrm>
            <a:off x="548640" y="5152644"/>
            <a:ext cx="2286000" cy="329184"/>
          </a:xfrm>
          <a:prstGeom prst="rect">
            <a:avLst/>
          </a:prstGeom>
          <a:noFill/>
          <a:ln/>
        </p:spPr>
        <p:txBody>
          <a:bodyPr wrap="square" lIns="0" tIns="0" rIns="0" bIns="0" rtlCol="0" anchor="ctr"/>
          <a:lstStyle/>
          <a:p>
            <a:pPr indent="0" marL="0">
              <a:lnSpc>
                <a:spcPct val="110000"/>
              </a:lnSpc>
              <a:buNone/>
            </a:pPr>
            <a:r>
              <a:rPr lang="en-US" sz="820" b="1" dirty="0">
                <a:solidFill>
                  <a:srgbClr val="1B2430"/>
                </a:solidFill>
                <a:latin typeface="Arial" pitchFamily="34" charset="0"/>
                <a:ea typeface="Arial" pitchFamily="34" charset="-122"/>
                <a:cs typeface="Arial" pitchFamily="34" charset="-120"/>
              </a:rPr>
              <a:t>Blue/green on the workers</a:t>
            </a:r>
            <a:endParaRPr lang="en-US" sz="820" dirty="0"/>
          </a:p>
        </p:txBody>
      </p:sp>
      <p:sp>
        <p:nvSpPr>
          <p:cNvPr id="49" name="Text 47"/>
          <p:cNvSpPr txBox="1"/>
          <p:nvPr/>
        </p:nvSpPr>
        <p:spPr>
          <a:xfrm>
            <a:off x="2907792" y="5152644"/>
            <a:ext cx="4956048" cy="329184"/>
          </a:xfrm>
          <a:prstGeom prst="rect">
            <a:avLst/>
          </a:prstGeom>
          <a:noFill/>
          <a:ln/>
        </p:spPr>
        <p:txBody>
          <a:bodyPr wrap="square" lIns="0" tIns="0" rIns="0" bIns="0" rtlCol="0" anchor="ctr"/>
          <a:lstStyle/>
          <a:p>
            <a:pPr indent="0" marL="0">
              <a:lnSpc>
                <a:spcPct val="112000"/>
              </a:lnSpc>
              <a:buNone/>
            </a:pPr>
            <a:r>
              <a:rPr lang="en-US" sz="780" dirty="0">
                <a:solidFill>
                  <a:srgbClr val="5A5A5A"/>
                </a:solidFill>
                <a:latin typeface="Arial" pitchFamily="34" charset="0"/>
                <a:ea typeface="Arial" pitchFamily="34" charset="-122"/>
                <a:cs typeface="Arial" pitchFamily="34" charset="-120"/>
              </a:rPr>
              <a:t>A bad release drains rather than cuts. In-flight claims finish on the old version.</a:t>
            </a:r>
            <a:endParaRPr lang="en-US" sz="780" dirty="0"/>
          </a:p>
        </p:txBody>
      </p:sp>
      <p:sp>
        <p:nvSpPr>
          <p:cNvPr id="50" name="Text 48"/>
          <p:cNvSpPr txBox="1"/>
          <p:nvPr/>
        </p:nvSpPr>
        <p:spPr>
          <a:xfrm>
            <a:off x="548640" y="5504688"/>
            <a:ext cx="2286000" cy="329184"/>
          </a:xfrm>
          <a:prstGeom prst="rect">
            <a:avLst/>
          </a:prstGeom>
          <a:noFill/>
          <a:ln/>
        </p:spPr>
        <p:txBody>
          <a:bodyPr wrap="square" lIns="0" tIns="0" rIns="0" bIns="0" rtlCol="0" anchor="ctr"/>
          <a:lstStyle/>
          <a:p>
            <a:pPr indent="0" marL="0">
              <a:lnSpc>
                <a:spcPct val="110000"/>
              </a:lnSpc>
              <a:buNone/>
            </a:pPr>
            <a:r>
              <a:rPr lang="en-US" sz="820" b="1" dirty="0">
                <a:solidFill>
                  <a:srgbClr val="1B2430"/>
                </a:solidFill>
                <a:latin typeface="Arial" pitchFamily="34" charset="0"/>
                <a:ea typeface="Arial" pitchFamily="34" charset="-122"/>
                <a:cs typeface="Arial" pitchFamily="34" charset="-120"/>
              </a:rPr>
              <a:t>Model version pinned</a:t>
            </a:r>
            <a:endParaRPr lang="en-US" sz="820" dirty="0"/>
          </a:p>
        </p:txBody>
      </p:sp>
      <p:sp>
        <p:nvSpPr>
          <p:cNvPr id="51" name="Text 49"/>
          <p:cNvSpPr txBox="1"/>
          <p:nvPr/>
        </p:nvSpPr>
        <p:spPr>
          <a:xfrm>
            <a:off x="2907792" y="5504688"/>
            <a:ext cx="4956048" cy="329184"/>
          </a:xfrm>
          <a:prstGeom prst="rect">
            <a:avLst/>
          </a:prstGeom>
          <a:noFill/>
          <a:ln/>
        </p:spPr>
        <p:txBody>
          <a:bodyPr wrap="square" lIns="0" tIns="0" rIns="0" bIns="0" rtlCol="0" anchor="ctr"/>
          <a:lstStyle/>
          <a:p>
            <a:pPr indent="0" marL="0">
              <a:lnSpc>
                <a:spcPct val="112000"/>
              </a:lnSpc>
              <a:buNone/>
            </a:pPr>
            <a:r>
              <a:rPr lang="en-US" sz="780" dirty="0">
                <a:solidFill>
                  <a:srgbClr val="5A5A5A"/>
                </a:solidFill>
                <a:latin typeface="Arial" pitchFamily="34" charset="0"/>
                <a:ea typeface="Arial" pitchFamily="34" charset="-122"/>
                <a:cs typeface="Arial" pitchFamily="34" charset="-120"/>
              </a:rPr>
              <a:t>An upgrade is a deliberate change that re-runs the replay set — never a silent one.</a:t>
            </a:r>
            <a:endParaRPr lang="en-US" sz="780" dirty="0"/>
          </a:p>
        </p:txBody>
      </p:sp>
      <p:sp>
        <p:nvSpPr>
          <p:cNvPr id="52" name="Text 50"/>
          <p:cNvSpPr txBox="1"/>
          <p:nvPr/>
        </p:nvSpPr>
        <p:spPr>
          <a:xfrm>
            <a:off x="365760" y="6053328"/>
            <a:ext cx="11430000" cy="237744"/>
          </a:xfrm>
          <a:prstGeom prst="rect">
            <a:avLst/>
          </a:prstGeom>
          <a:noFill/>
          <a:ln/>
        </p:spPr>
        <p:txBody>
          <a:bodyPr wrap="square" lIns="0" tIns="0" rIns="0" bIns="0" rtlCol="0" anchor="ctr"/>
          <a:lstStyle/>
          <a:p>
            <a:pPr indent="0" marL="0">
              <a:buNone/>
            </a:pPr>
            <a:r>
              <a:rPr lang="en-US" sz="700" dirty="0">
                <a:solidFill>
                  <a:srgbClr val="5B6472"/>
                </a:solidFill>
                <a:latin typeface="Arial" pitchFamily="34" charset="0"/>
                <a:ea typeface="Arial" pitchFamily="34" charset="-122"/>
                <a:cs typeface="Arial" pitchFamily="34" charset="-120"/>
              </a:rPr>
              <a:t>Runs on the cloud GGW already deploy to · costs for exactly this shape are on slide 9 · the rollout that puts it in front of a handler is on slide 7</a:t>
            </a:r>
            <a:endParaRPr lang="en-US" sz="700" dirty="0"/>
          </a:p>
        </p:txBody>
      </p:sp>
      <p:sp>
        <p:nvSpPr>
          <p:cNvPr id="53" name="Text 51"/>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54" name="Text 52"/>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8 / 10</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Every figure is built from observed steps and list prices — none of it is a best case</a:t>
            </a:r>
            <a:endParaRPr lang="en-US" sz="1400" dirty="0"/>
          </a:p>
        </p:txBody>
      </p:sp>
      <p:sp>
        <p:nvSpPr>
          <p:cNvPr id="3" name="Text 1"/>
          <p:cNvSpPr txBox="1"/>
          <p:nvPr/>
        </p:nvSpPr>
        <p:spPr>
          <a:xfrm>
            <a:off x="7315200" y="146304"/>
            <a:ext cx="450799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APPENDIX · HOW THE NUMBERS ARE BUILT</a:t>
            </a:r>
            <a:endParaRPr lang="en-US" sz="950" dirty="0"/>
          </a:p>
        </p:txBody>
      </p:sp>
      <p:sp>
        <p:nvSpPr>
          <p:cNvPr id="4" name="Text 2"/>
          <p:cNvSpPr txBox="1"/>
          <p:nvPr/>
        </p:nvSpPr>
        <p:spPr>
          <a:xfrm>
            <a:off x="365760" y="530352"/>
            <a:ext cx="5486400" cy="219456"/>
          </a:xfrm>
          <a:prstGeom prst="rect">
            <a:avLst/>
          </a:prstGeom>
          <a:noFill/>
          <a:ln/>
        </p:spPr>
        <p:txBody>
          <a:bodyPr wrap="square" lIns="0" tIns="0" rIns="0" bIns="0" rtlCol="0" anchor="ctr"/>
          <a:lstStyle/>
          <a:p>
            <a:pPr indent="0" marL="0">
              <a:buNone/>
            </a:pPr>
            <a:r>
              <a:rPr lang="en-US" sz="900" b="1" spc="80" kern="0" dirty="0">
                <a:solidFill>
                  <a:srgbClr val="D97706"/>
                </a:solidFill>
                <a:latin typeface="Arial" pitchFamily="34" charset="0"/>
                <a:ea typeface="Arial" pitchFamily="34" charset="-122"/>
                <a:cs typeface="Arial" pitchFamily="34" charset="-120"/>
              </a:rPr>
              <a:t>A · INTAKE TIME — MINUTES PER CLAIM, PER PERSON</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786384"/>
          <a:ext cx="5486400" cy="914400"/>
        </p:xfrm>
        <a:graphic>
          <a:graphicData uri="http://schemas.openxmlformats.org/drawingml/2006/table">
            <a:tbl>
              <a:tblPr/>
              <a:tblGrid>
                <a:gridCol w="3566160"/>
                <a:gridCol w="960120"/>
                <a:gridCol w="960120"/>
              </a:tblGrid>
              <a:tr h="187452">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Step</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Today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Redesigned</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Read the report, re-read it, open attachments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0.7</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Take notes, check fields, chase a missing CPR</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6.1</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2.8</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Attach policy · duplicate check · coverage date</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Decide, draft and send / open the full claim</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5.5</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3.0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Work an escalation or an underwriting hold</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0.6</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Switch between EASY, IDB, e-mail and paper</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3.2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0.7</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Touch time</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30.8</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7.8</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Breaks, fatigue, interruptions, rework (+30%)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9.2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2.3</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Standard time — what the design allows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40.0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10.1</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What the business case actually banks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40.0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19.0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365760" y="3127248"/>
            <a:ext cx="5486400" cy="329184"/>
          </a:xfrm>
          <a:prstGeom prst="rect">
            <a:avLst/>
          </a:prstGeom>
          <a:noFill/>
          <a:ln/>
        </p:spPr>
        <p:txBody>
          <a:bodyPr wrap="square" lIns="0" tIns="0" rIns="0" bIns="0" rtlCol="0" anchor="ctr"/>
          <a:lstStyle/>
          <a:p>
            <a:pPr indent="0" marL="0">
              <a:lnSpc>
                <a:spcPct val="115000"/>
              </a:lnSpc>
              <a:buNone/>
            </a:pPr>
            <a:r>
              <a:rPr lang="en-US" sz="740" i="1" dirty="0">
                <a:solidFill>
                  <a:srgbClr val="6A6A6A"/>
                </a:solidFill>
                <a:latin typeface="Arial" pitchFamily="34" charset="0"/>
                <a:ea typeface="Arial" pitchFamily="34" charset="-122"/>
                <a:cs typeface="Arial" pitchFamily="34" charset="-120"/>
              </a:rPr>
              <a:t>The design allows 10.1 min a claim. We do not bank that. The case uses a three-point estimate — (best 30 + 4 × likely 21 + worst 12) ÷ 6 = 21.0 min saved a claim — which is the 19.0 min above, and the 19 minutes on slide 1. In plain terms: we assume handlers capture 70% of the saving the design allows.</a:t>
            </a:r>
            <a:endParaRPr lang="en-US" sz="740" dirty="0"/>
          </a:p>
        </p:txBody>
      </p:sp>
      <p:sp>
        <p:nvSpPr>
          <p:cNvPr id="7" name="Shape 4"/>
          <p:cNvSpPr/>
          <p:nvPr/>
        </p:nvSpPr>
        <p:spPr>
          <a:xfrm>
            <a:off x="365760" y="3493008"/>
            <a:ext cx="5486400" cy="548640"/>
          </a:xfrm>
          <a:prstGeom prst="roundRect">
            <a:avLst>
              <a:gd name="adj" fmla="val 8333"/>
            </a:avLst>
          </a:prstGeom>
          <a:solidFill>
            <a:srgbClr val="FDF3E3"/>
          </a:solidFill>
          <a:ln w="12700">
            <a:solidFill>
              <a:srgbClr val="D97706"/>
            </a:solidFill>
            <a:prstDash val="solid"/>
          </a:ln>
        </p:spPr>
      </p:sp>
      <p:sp>
        <p:nvSpPr>
          <p:cNvPr id="8" name="Text 5"/>
          <p:cNvSpPr txBox="1"/>
          <p:nvPr/>
        </p:nvSpPr>
        <p:spPr>
          <a:xfrm>
            <a:off x="530352" y="3493008"/>
            <a:ext cx="5157216" cy="548640"/>
          </a:xfrm>
          <a:prstGeom prst="rect">
            <a:avLst/>
          </a:prstGeom>
          <a:noFill/>
          <a:ln/>
        </p:spPr>
        <p:txBody>
          <a:bodyPr wrap="square" lIns="0" tIns="0" rIns="0" bIns="0" rtlCol="0" anchor="ctr"/>
          <a:lstStyle/>
          <a:p>
            <a:pPr indent="0" marL="0">
              <a:lnSpc>
                <a:spcPct val="115000"/>
              </a:lnSpc>
              <a:buNone/>
            </a:pPr>
            <a:r>
              <a:rPr lang="en-US" sz="820" b="1" dirty="0">
                <a:solidFill>
                  <a:srgbClr val="9A5A0A"/>
                </a:solidFill>
                <a:latin typeface="Arial" pitchFamily="34" charset="0"/>
                <a:ea typeface="Arial" pitchFamily="34" charset="-122"/>
                <a:cs typeface="Arial" pitchFamily="34" charset="-120"/>
              </a:rPr>
              <a:t>Cross-check:  </a:t>
            </a:r>
            <a:pPr indent="0" marL="0">
              <a:lnSpc>
                <a:spcPct val="115000"/>
              </a:lnSpc>
              <a:buNone/>
            </a:pPr>
            <a:r>
              <a:rPr lang="en-US" sz="820" dirty="0">
                <a:solidFill>
                  <a:srgbClr val="44403A"/>
                </a:solidFill>
                <a:latin typeface="Arial" pitchFamily="34" charset="0"/>
                <a:ea typeface="Arial" pitchFamily="34" charset="-122"/>
                <a:cs typeface="Arial" pitchFamily="34" charset="-120"/>
              </a:rPr>
              <a:t>40 min × 12,500 claims a year = 8,332 hours — 52% of the 10-person support team's year, 17% of all 30. Per person: 5 claims a day at 40 min is 3.3 of a 6.4-hour day. Intake is half of what the support team does.</a:t>
            </a:r>
            <a:endParaRPr lang="en-US" sz="820" dirty="0"/>
          </a:p>
        </p:txBody>
      </p:sp>
      <p:sp>
        <p:nvSpPr>
          <p:cNvPr id="9" name="Shape 6"/>
          <p:cNvSpPr/>
          <p:nvPr/>
        </p:nvSpPr>
        <p:spPr>
          <a:xfrm>
            <a:off x="365760" y="4114800"/>
            <a:ext cx="5486400" cy="2395728"/>
          </a:xfrm>
          <a:prstGeom prst="roundRect">
            <a:avLst>
              <a:gd name="adj" fmla="val 2290"/>
            </a:avLst>
          </a:prstGeom>
          <a:solidFill>
            <a:srgbClr val="FFFFFF"/>
          </a:solidFill>
          <a:ln w="15240">
            <a:solidFill>
              <a:srgbClr val="BE185D"/>
            </a:solidFill>
            <a:prstDash val="solid"/>
          </a:ln>
        </p:spPr>
      </p:sp>
      <p:sp>
        <p:nvSpPr>
          <p:cNvPr id="10" name="Text 7"/>
          <p:cNvSpPr txBox="1"/>
          <p:nvPr/>
        </p:nvSpPr>
        <p:spPr>
          <a:xfrm>
            <a:off x="548640" y="4206240"/>
            <a:ext cx="5120640" cy="219456"/>
          </a:xfrm>
          <a:prstGeom prst="rect">
            <a:avLst/>
          </a:prstGeom>
          <a:noFill/>
          <a:ln/>
        </p:spPr>
        <p:txBody>
          <a:bodyPr wrap="square" lIns="0" tIns="0" rIns="0" bIns="0" rtlCol="0" anchor="ctr"/>
          <a:lstStyle/>
          <a:p>
            <a:pPr indent="0" marL="0">
              <a:buNone/>
            </a:pPr>
            <a:r>
              <a:rPr lang="en-US" sz="900" b="1" spc="80" kern="0" dirty="0">
                <a:solidFill>
                  <a:srgbClr val="BE185D"/>
                </a:solidFill>
                <a:latin typeface="Arial" pitchFamily="34" charset="0"/>
                <a:ea typeface="Arial" pitchFamily="34" charset="-122"/>
                <a:cs typeface="Arial" pitchFamily="34" charset="-120"/>
              </a:rPr>
              <a:t>D · THE BUSINESS CASE</a:t>
            </a:r>
            <a:endParaRPr lang="en-US" sz="900" dirty="0"/>
          </a:p>
        </p:txBody>
      </p:sp>
      <p:sp>
        <p:nvSpPr>
          <p:cNvPr id="11" name="Text 8"/>
          <p:cNvSpPr txBox="1"/>
          <p:nvPr/>
        </p:nvSpPr>
        <p:spPr>
          <a:xfrm>
            <a:off x="548640" y="4425696"/>
            <a:ext cx="5120640" cy="182880"/>
          </a:xfrm>
          <a:prstGeom prst="rect">
            <a:avLst/>
          </a:prstGeom>
          <a:noFill/>
          <a:ln/>
        </p:spPr>
        <p:txBody>
          <a:bodyPr wrap="square" lIns="0" tIns="0" rIns="0" bIns="0" rtlCol="0" anchor="ctr"/>
          <a:lstStyle/>
          <a:p>
            <a:pPr indent="0" marL="0">
              <a:buNone/>
            </a:pPr>
            <a:r>
              <a:rPr lang="en-US" sz="760" b="1" spc="120" kern="0" dirty="0">
                <a:solidFill>
                  <a:srgbClr val="BE185D"/>
                </a:solidFill>
                <a:latin typeface="Arial" pitchFamily="34" charset="0"/>
                <a:ea typeface="Arial" pitchFamily="34" charset="-122"/>
                <a:cs typeface="Arial" pitchFamily="34" charset="-120"/>
              </a:rPr>
              <a:t>EVERY YEAR</a:t>
            </a:r>
            <a:endParaRPr lang="en-US" sz="760" dirty="0"/>
          </a:p>
        </p:txBody>
      </p:sp>
      <p:sp>
        <p:nvSpPr>
          <p:cNvPr id="12" name="Text 9"/>
          <p:cNvSpPr txBox="1"/>
          <p:nvPr/>
        </p:nvSpPr>
        <p:spPr>
          <a:xfrm>
            <a:off x="548640" y="4608576"/>
            <a:ext cx="3520440" cy="192024"/>
          </a:xfrm>
          <a:prstGeom prst="rect">
            <a:avLst/>
          </a:prstGeom>
          <a:noFill/>
          <a:ln/>
        </p:spPr>
        <p:txBody>
          <a:bodyPr wrap="square" lIns="0" tIns="0" rIns="0" bIns="0" rtlCol="0" anchor="ctr"/>
          <a:lstStyle/>
          <a:p>
            <a:pPr indent="0" marL="0">
              <a:buNone/>
            </a:pPr>
            <a:r>
              <a:rPr lang="en-US" sz="840" dirty="0">
                <a:solidFill>
                  <a:srgbClr val="3A3A3A"/>
                </a:solidFill>
                <a:latin typeface="Arial" pitchFamily="34" charset="0"/>
                <a:ea typeface="Arial" pitchFamily="34" charset="-122"/>
                <a:cs typeface="Arial" pitchFamily="34" charset="-120"/>
              </a:rPr>
              <a:t>Capacity released</a:t>
            </a:r>
            <a:endParaRPr lang="en-US" sz="840" dirty="0"/>
          </a:p>
        </p:txBody>
      </p:sp>
      <p:sp>
        <p:nvSpPr>
          <p:cNvPr id="13" name="Text 10"/>
          <p:cNvSpPr txBox="1"/>
          <p:nvPr/>
        </p:nvSpPr>
        <p:spPr>
          <a:xfrm>
            <a:off x="4069080" y="4608576"/>
            <a:ext cx="1600200" cy="192024"/>
          </a:xfrm>
          <a:prstGeom prst="rect">
            <a:avLst/>
          </a:prstGeom>
          <a:noFill/>
          <a:ln/>
        </p:spPr>
        <p:txBody>
          <a:bodyPr wrap="square" lIns="0" tIns="0" rIns="0" bIns="0" rtlCol="0" anchor="ctr"/>
          <a:lstStyle/>
          <a:p>
            <a:pPr algn="r" indent="0" marL="0">
              <a:buNone/>
            </a:pPr>
            <a:r>
              <a:rPr lang="en-US" sz="840" b="1" dirty="0">
                <a:solidFill>
                  <a:srgbClr val="1B2430"/>
                </a:solidFill>
                <a:latin typeface="Arial" pitchFamily="34" charset="0"/>
                <a:ea typeface="Arial" pitchFamily="34" charset="-122"/>
                <a:cs typeface="Arial" pitchFamily="34" charset="-120"/>
              </a:rPr>
              <a:t>4,370 support-h · 2.8 FTE</a:t>
            </a:r>
            <a:endParaRPr lang="en-US" sz="840" dirty="0"/>
          </a:p>
        </p:txBody>
      </p:sp>
      <p:sp>
        <p:nvSpPr>
          <p:cNvPr id="14" name="Text 11"/>
          <p:cNvSpPr txBox="1"/>
          <p:nvPr/>
        </p:nvSpPr>
        <p:spPr>
          <a:xfrm>
            <a:off x="548640" y="4805172"/>
            <a:ext cx="3520440" cy="192024"/>
          </a:xfrm>
          <a:prstGeom prst="rect">
            <a:avLst/>
          </a:prstGeom>
          <a:noFill/>
          <a:ln/>
        </p:spPr>
        <p:txBody>
          <a:bodyPr wrap="square" lIns="0" tIns="0" rIns="0" bIns="0" rtlCol="0" anchor="ctr"/>
          <a:lstStyle/>
          <a:p>
            <a:pPr indent="0" marL="0">
              <a:buNone/>
            </a:pPr>
            <a:r>
              <a:rPr lang="en-US" sz="840" dirty="0">
                <a:solidFill>
                  <a:srgbClr val="3A3A3A"/>
                </a:solidFill>
                <a:latin typeface="Arial" pitchFamily="34" charset="0"/>
                <a:ea typeface="Arial" pitchFamily="34" charset="-122"/>
                <a:cs typeface="Arial" pitchFamily="34" charset="-120"/>
              </a:rPr>
              <a:t>Worth, at €31.83 per support-team hour</a:t>
            </a:r>
            <a:endParaRPr lang="en-US" sz="840" dirty="0"/>
          </a:p>
        </p:txBody>
      </p:sp>
      <p:sp>
        <p:nvSpPr>
          <p:cNvPr id="15" name="Text 12"/>
          <p:cNvSpPr txBox="1"/>
          <p:nvPr/>
        </p:nvSpPr>
        <p:spPr>
          <a:xfrm>
            <a:off x="4069080" y="4805172"/>
            <a:ext cx="1600200" cy="192024"/>
          </a:xfrm>
          <a:prstGeom prst="rect">
            <a:avLst/>
          </a:prstGeom>
          <a:noFill/>
          <a:ln/>
        </p:spPr>
        <p:txBody>
          <a:bodyPr wrap="square" lIns="0" tIns="0" rIns="0" bIns="0" rtlCol="0" anchor="ctr"/>
          <a:lstStyle/>
          <a:p>
            <a:pPr algn="r" indent="0" marL="0">
              <a:buNone/>
            </a:pPr>
            <a:r>
              <a:rPr lang="en-US" sz="840" b="1" dirty="0">
                <a:solidFill>
                  <a:srgbClr val="1B2430"/>
                </a:solidFill>
                <a:latin typeface="Arial" pitchFamily="34" charset="0"/>
                <a:ea typeface="Arial" pitchFamily="34" charset="-122"/>
                <a:cs typeface="Arial" pitchFamily="34" charset="-120"/>
              </a:rPr>
              <a:t>€139,100 a year</a:t>
            </a:r>
            <a:endParaRPr lang="en-US" sz="840" dirty="0"/>
          </a:p>
        </p:txBody>
      </p:sp>
      <p:sp>
        <p:nvSpPr>
          <p:cNvPr id="16" name="Text 13"/>
          <p:cNvSpPr txBox="1"/>
          <p:nvPr/>
        </p:nvSpPr>
        <p:spPr>
          <a:xfrm>
            <a:off x="548640" y="5001768"/>
            <a:ext cx="3520440" cy="192024"/>
          </a:xfrm>
          <a:prstGeom prst="rect">
            <a:avLst/>
          </a:prstGeom>
          <a:noFill/>
          <a:ln/>
        </p:spPr>
        <p:txBody>
          <a:bodyPr wrap="square" lIns="0" tIns="0" rIns="0" bIns="0" rtlCol="0" anchor="ctr"/>
          <a:lstStyle/>
          <a:p>
            <a:pPr indent="0" marL="0">
              <a:buNone/>
            </a:pPr>
            <a:r>
              <a:rPr lang="en-US" sz="840" dirty="0">
                <a:solidFill>
                  <a:srgbClr val="3A3A3A"/>
                </a:solidFill>
                <a:latin typeface="Arial" pitchFamily="34" charset="0"/>
                <a:ea typeface="Arial" pitchFamily="34" charset="-122"/>
                <a:cs typeface="Arial" pitchFamily="34" charset="-120"/>
              </a:rPr>
              <a:t>Cost to run it — AI models and Azure</a:t>
            </a:r>
            <a:endParaRPr lang="en-US" sz="840" dirty="0"/>
          </a:p>
        </p:txBody>
      </p:sp>
      <p:sp>
        <p:nvSpPr>
          <p:cNvPr id="17" name="Text 14"/>
          <p:cNvSpPr txBox="1"/>
          <p:nvPr/>
        </p:nvSpPr>
        <p:spPr>
          <a:xfrm>
            <a:off x="4069080" y="5001768"/>
            <a:ext cx="1600200" cy="192024"/>
          </a:xfrm>
          <a:prstGeom prst="rect">
            <a:avLst/>
          </a:prstGeom>
          <a:noFill/>
          <a:ln/>
        </p:spPr>
        <p:txBody>
          <a:bodyPr wrap="square" lIns="0" tIns="0" rIns="0" bIns="0" rtlCol="0" anchor="ctr"/>
          <a:lstStyle/>
          <a:p>
            <a:pPr algn="r" indent="0" marL="0">
              <a:buNone/>
            </a:pPr>
            <a:r>
              <a:rPr lang="en-US" sz="840" b="1" dirty="0">
                <a:solidFill>
                  <a:srgbClr val="1B2430"/>
                </a:solidFill>
                <a:latin typeface="Arial" pitchFamily="34" charset="0"/>
                <a:ea typeface="Arial" pitchFamily="34" charset="-122"/>
                <a:cs typeface="Arial" pitchFamily="34" charset="-120"/>
              </a:rPr>
              <a:t>− €2,400</a:t>
            </a:r>
            <a:endParaRPr lang="en-US" sz="840" dirty="0"/>
          </a:p>
        </p:txBody>
      </p:sp>
      <p:sp>
        <p:nvSpPr>
          <p:cNvPr id="18" name="Text 15"/>
          <p:cNvSpPr txBox="1"/>
          <p:nvPr/>
        </p:nvSpPr>
        <p:spPr>
          <a:xfrm>
            <a:off x="548640" y="5198364"/>
            <a:ext cx="3520440" cy="192024"/>
          </a:xfrm>
          <a:prstGeom prst="rect">
            <a:avLst/>
          </a:prstGeom>
          <a:noFill/>
          <a:ln/>
        </p:spPr>
        <p:txBody>
          <a:bodyPr wrap="square" lIns="0" tIns="0" rIns="0" bIns="0" rtlCol="0" anchor="ctr"/>
          <a:lstStyle/>
          <a:p>
            <a:pPr indent="0" marL="0">
              <a:buNone/>
            </a:pPr>
            <a:r>
              <a:rPr lang="en-US" sz="840" dirty="0">
                <a:solidFill>
                  <a:srgbClr val="3A3A3A"/>
                </a:solidFill>
                <a:latin typeface="Arial" pitchFamily="34" charset="0"/>
                <a:ea typeface="Arial" pitchFamily="34" charset="-122"/>
                <a:cs typeface="Arial" pitchFamily="34" charset="-120"/>
              </a:rPr>
              <a:t>Ongoing support — 0.25 of an engineer</a:t>
            </a:r>
            <a:endParaRPr lang="en-US" sz="840" dirty="0"/>
          </a:p>
        </p:txBody>
      </p:sp>
      <p:sp>
        <p:nvSpPr>
          <p:cNvPr id="19" name="Text 16"/>
          <p:cNvSpPr txBox="1"/>
          <p:nvPr/>
        </p:nvSpPr>
        <p:spPr>
          <a:xfrm>
            <a:off x="4069080" y="5198364"/>
            <a:ext cx="1600200" cy="192024"/>
          </a:xfrm>
          <a:prstGeom prst="rect">
            <a:avLst/>
          </a:prstGeom>
          <a:noFill/>
          <a:ln/>
        </p:spPr>
        <p:txBody>
          <a:bodyPr wrap="square" lIns="0" tIns="0" rIns="0" bIns="0" rtlCol="0" anchor="ctr"/>
          <a:lstStyle/>
          <a:p>
            <a:pPr algn="r" indent="0" marL="0">
              <a:buNone/>
            </a:pPr>
            <a:r>
              <a:rPr lang="en-US" sz="840" b="1" dirty="0">
                <a:solidFill>
                  <a:srgbClr val="1B2430"/>
                </a:solidFill>
                <a:latin typeface="Arial" pitchFamily="34" charset="0"/>
                <a:ea typeface="Arial" pitchFamily="34" charset="-122"/>
                <a:cs typeface="Arial" pitchFamily="34" charset="-120"/>
              </a:rPr>
              <a:t>− €24,400</a:t>
            </a:r>
            <a:endParaRPr lang="en-US" sz="840" dirty="0"/>
          </a:p>
        </p:txBody>
      </p:sp>
      <p:sp>
        <p:nvSpPr>
          <p:cNvPr id="20" name="Text 17"/>
          <p:cNvSpPr txBox="1"/>
          <p:nvPr/>
        </p:nvSpPr>
        <p:spPr>
          <a:xfrm>
            <a:off x="548640" y="5394960"/>
            <a:ext cx="3520440" cy="192024"/>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Net value, every year</a:t>
            </a:r>
            <a:endParaRPr lang="en-US" sz="840" dirty="0"/>
          </a:p>
        </p:txBody>
      </p:sp>
      <p:sp>
        <p:nvSpPr>
          <p:cNvPr id="21" name="Text 18"/>
          <p:cNvSpPr txBox="1"/>
          <p:nvPr/>
        </p:nvSpPr>
        <p:spPr>
          <a:xfrm>
            <a:off x="4069080" y="5394960"/>
            <a:ext cx="1600200" cy="192024"/>
          </a:xfrm>
          <a:prstGeom prst="rect">
            <a:avLst/>
          </a:prstGeom>
          <a:noFill/>
          <a:ln/>
        </p:spPr>
        <p:txBody>
          <a:bodyPr wrap="square" lIns="0" tIns="0" rIns="0" bIns="0" rtlCol="0" anchor="ctr"/>
          <a:lstStyle/>
          <a:p>
            <a:pPr algn="r" indent="0" marL="0">
              <a:buNone/>
            </a:pPr>
            <a:r>
              <a:rPr lang="en-US" sz="840" b="1" dirty="0">
                <a:solidFill>
                  <a:srgbClr val="BE185D"/>
                </a:solidFill>
                <a:latin typeface="Arial" pitchFamily="34" charset="0"/>
                <a:ea typeface="Arial" pitchFamily="34" charset="-122"/>
                <a:cs typeface="Arial" pitchFamily="34" charset="-120"/>
              </a:rPr>
              <a:t>€112,200</a:t>
            </a:r>
            <a:endParaRPr lang="en-US" sz="840" dirty="0"/>
          </a:p>
        </p:txBody>
      </p:sp>
      <p:sp>
        <p:nvSpPr>
          <p:cNvPr id="22" name="Shape 19"/>
          <p:cNvSpPr/>
          <p:nvPr/>
        </p:nvSpPr>
        <p:spPr>
          <a:xfrm>
            <a:off x="548640" y="5614416"/>
            <a:ext cx="5120640" cy="10973"/>
          </a:xfrm>
          <a:prstGeom prst="rect">
            <a:avLst/>
          </a:prstGeom>
          <a:solidFill>
            <a:srgbClr val="E4E4E0"/>
          </a:solidFill>
          <a:ln/>
        </p:spPr>
      </p:sp>
      <p:sp>
        <p:nvSpPr>
          <p:cNvPr id="23" name="Text 20"/>
          <p:cNvSpPr txBox="1"/>
          <p:nvPr/>
        </p:nvSpPr>
        <p:spPr>
          <a:xfrm>
            <a:off x="548640" y="5669280"/>
            <a:ext cx="5120640" cy="182880"/>
          </a:xfrm>
          <a:prstGeom prst="rect">
            <a:avLst/>
          </a:prstGeom>
          <a:noFill/>
          <a:ln/>
        </p:spPr>
        <p:txBody>
          <a:bodyPr wrap="square" lIns="0" tIns="0" rIns="0" bIns="0" rtlCol="0" anchor="ctr"/>
          <a:lstStyle/>
          <a:p>
            <a:pPr indent="0" marL="0">
              <a:buNone/>
            </a:pPr>
            <a:r>
              <a:rPr lang="en-US" sz="760" b="1" spc="120" kern="0" dirty="0">
                <a:solidFill>
                  <a:srgbClr val="BE185D"/>
                </a:solidFill>
                <a:latin typeface="Arial" pitchFamily="34" charset="0"/>
                <a:ea typeface="Arial" pitchFamily="34" charset="-122"/>
                <a:cs typeface="Arial" pitchFamily="34" charset="-120"/>
              </a:rPr>
              <a:t>ONE-OFF</a:t>
            </a:r>
            <a:endParaRPr lang="en-US" sz="760" dirty="0"/>
          </a:p>
        </p:txBody>
      </p:sp>
      <p:sp>
        <p:nvSpPr>
          <p:cNvPr id="24" name="Text 21"/>
          <p:cNvSpPr txBox="1"/>
          <p:nvPr/>
        </p:nvSpPr>
        <p:spPr>
          <a:xfrm>
            <a:off x="548640" y="5870448"/>
            <a:ext cx="3520440" cy="192024"/>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Build — 3 people × 6 months, fully loaded</a:t>
            </a:r>
            <a:endParaRPr lang="en-US" sz="840" dirty="0"/>
          </a:p>
        </p:txBody>
      </p:sp>
      <p:sp>
        <p:nvSpPr>
          <p:cNvPr id="25" name="Text 22"/>
          <p:cNvSpPr txBox="1"/>
          <p:nvPr/>
        </p:nvSpPr>
        <p:spPr>
          <a:xfrm>
            <a:off x="4069080" y="5870448"/>
            <a:ext cx="1600200" cy="192024"/>
          </a:xfrm>
          <a:prstGeom prst="rect">
            <a:avLst/>
          </a:prstGeom>
          <a:noFill/>
          <a:ln/>
        </p:spPr>
        <p:txBody>
          <a:bodyPr wrap="square" lIns="0" tIns="0" rIns="0" bIns="0" rtlCol="0" anchor="ctr"/>
          <a:lstStyle/>
          <a:p>
            <a:pPr algn="r" indent="0" marL="0">
              <a:buNone/>
            </a:pPr>
            <a:r>
              <a:rPr lang="en-US" sz="840" b="1" dirty="0">
                <a:solidFill>
                  <a:srgbClr val="BE185D"/>
                </a:solidFill>
                <a:latin typeface="Arial" pitchFamily="34" charset="0"/>
                <a:ea typeface="Arial" pitchFamily="34" charset="-122"/>
                <a:cs typeface="Arial" pitchFamily="34" charset="-120"/>
              </a:rPr>
              <a:t>€146,400</a:t>
            </a:r>
            <a:endParaRPr lang="en-US" sz="840" dirty="0"/>
          </a:p>
        </p:txBody>
      </p:sp>
      <p:sp>
        <p:nvSpPr>
          <p:cNvPr id="26" name="Text 23"/>
          <p:cNvSpPr txBox="1"/>
          <p:nvPr/>
        </p:nvSpPr>
        <p:spPr>
          <a:xfrm>
            <a:off x="548640" y="6067044"/>
            <a:ext cx="3520440" cy="192024"/>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Payback</a:t>
            </a:r>
            <a:endParaRPr lang="en-US" sz="840" dirty="0"/>
          </a:p>
        </p:txBody>
      </p:sp>
      <p:sp>
        <p:nvSpPr>
          <p:cNvPr id="27" name="Text 24"/>
          <p:cNvSpPr txBox="1"/>
          <p:nvPr/>
        </p:nvSpPr>
        <p:spPr>
          <a:xfrm>
            <a:off x="4069080" y="6067044"/>
            <a:ext cx="1600200" cy="192024"/>
          </a:xfrm>
          <a:prstGeom prst="rect">
            <a:avLst/>
          </a:prstGeom>
          <a:noFill/>
          <a:ln/>
        </p:spPr>
        <p:txBody>
          <a:bodyPr wrap="square" lIns="0" tIns="0" rIns="0" bIns="0" rtlCol="0" anchor="ctr"/>
          <a:lstStyle/>
          <a:p>
            <a:pPr algn="r" indent="0" marL="0">
              <a:buNone/>
            </a:pPr>
            <a:r>
              <a:rPr lang="en-US" sz="840" b="1" dirty="0">
                <a:solidFill>
                  <a:srgbClr val="BE185D"/>
                </a:solidFill>
                <a:latin typeface="Arial" pitchFamily="34" charset="0"/>
                <a:ea typeface="Arial" pitchFamily="34" charset="-122"/>
                <a:cs typeface="Arial" pitchFamily="34" charset="-120"/>
              </a:rPr>
              <a:t>16 months</a:t>
            </a:r>
            <a:endParaRPr lang="en-US" sz="840" dirty="0"/>
          </a:p>
        </p:txBody>
      </p:sp>
      <p:sp>
        <p:nvSpPr>
          <p:cNvPr id="28" name="Text 25"/>
          <p:cNvSpPr txBox="1"/>
          <p:nvPr/>
        </p:nvSpPr>
        <p:spPr>
          <a:xfrm>
            <a:off x="548640" y="6272784"/>
            <a:ext cx="5120640" cy="219456"/>
          </a:xfrm>
          <a:prstGeom prst="rect">
            <a:avLst/>
          </a:prstGeom>
          <a:noFill/>
          <a:ln/>
        </p:spPr>
        <p:txBody>
          <a:bodyPr wrap="square" lIns="0" tIns="0" rIns="0" bIns="0" rtlCol="0" anchor="ctr"/>
          <a:lstStyle/>
          <a:p>
            <a:pPr indent="0" marL="0">
              <a:lnSpc>
                <a:spcPct val="115000"/>
              </a:lnSpc>
              <a:buNone/>
            </a:pPr>
            <a:r>
              <a:rPr lang="en-US" sz="720" i="1" dirty="0">
                <a:solidFill>
                  <a:srgbClr val="6A6A6A"/>
                </a:solidFill>
                <a:latin typeface="Arial" pitchFamily="34" charset="0"/>
                <a:ea typeface="Arial" pitchFamily="34" charset="-122"/>
                <a:cs typeface="Arial" pitchFamily="34" charset="-120"/>
              </a:rPr>
              <a:t>The build is loaded team capacity, not new cash — the AI team is already funded. New cash needed: €2,400 a year. A shorter build costs less: 4 months ≈ €98k.</a:t>
            </a:r>
            <a:endParaRPr lang="en-US" sz="720" dirty="0"/>
          </a:p>
        </p:txBody>
      </p:sp>
      <p:sp>
        <p:nvSpPr>
          <p:cNvPr id="29" name="Text 26"/>
          <p:cNvSpPr txBox="1"/>
          <p:nvPr/>
        </p:nvSpPr>
        <p:spPr>
          <a:xfrm>
            <a:off x="6263640" y="530352"/>
            <a:ext cx="5486400" cy="219456"/>
          </a:xfrm>
          <a:prstGeom prst="rect">
            <a:avLst/>
          </a:prstGeom>
          <a:noFill/>
          <a:ln/>
        </p:spPr>
        <p:txBody>
          <a:bodyPr wrap="square" lIns="0" tIns="0" rIns="0" bIns="0" rtlCol="0" anchor="ctr"/>
          <a:lstStyle/>
          <a:p>
            <a:pPr indent="0" marL="0">
              <a:buNone/>
            </a:pPr>
            <a:r>
              <a:rPr lang="en-US" sz="900" b="1" spc="80" kern="0" dirty="0">
                <a:solidFill>
                  <a:srgbClr val="0891B2"/>
                </a:solidFill>
                <a:latin typeface="Arial" pitchFamily="34" charset="0"/>
                <a:ea typeface="Arial" pitchFamily="34" charset="-122"/>
                <a:cs typeface="Arial" pitchFamily="34" charset="-120"/>
              </a:rPr>
              <a:t>B · AI COST TO PROCESS ONE CLAIM</a:t>
            </a:r>
            <a:endParaRPr lang="en-US" sz="9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63640" y="786384"/>
          <a:ext cx="5486400" cy="914400"/>
        </p:xfrm>
        <a:graphic>
          <a:graphicData uri="http://schemas.openxmlformats.org/drawingml/2006/table">
            <a:tbl>
              <a:tblPr/>
              <a:tblGrid>
                <a:gridCol w="2423160"/>
                <a:gridCol w="914400"/>
                <a:gridCol w="640080"/>
                <a:gridCol w="594360"/>
                <a:gridCol w="914400"/>
              </a:tblGrid>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Agent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Tokens in</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Out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Runs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US$ / claim</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Extraction</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11,500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700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0.0314</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Classification</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900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120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0.0032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Validation — rules only, no model</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0.0000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Exception research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2,500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400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0.0020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Outcome drafting</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2,200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550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0.0110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Subtotal</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0.0476</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 1.75 for retries, guardrails, evals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0.0833</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Per claim</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 €0.077</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31" name="Text 27"/>
          <p:cNvSpPr txBox="1"/>
          <p:nvPr/>
        </p:nvSpPr>
        <p:spPr>
          <a:xfrm>
            <a:off x="6263640" y="2743200"/>
            <a:ext cx="5486400" cy="237744"/>
          </a:xfrm>
          <a:prstGeom prst="rect">
            <a:avLst/>
          </a:prstGeom>
          <a:noFill/>
          <a:ln/>
        </p:spPr>
        <p:txBody>
          <a:bodyPr wrap="square" lIns="0" tIns="0" rIns="0" bIns="0" rtlCol="0" anchor="ctr"/>
          <a:lstStyle/>
          <a:p>
            <a:pPr indent="0" marL="0">
              <a:lnSpc>
                <a:spcPct val="115000"/>
              </a:lnSpc>
              <a:buNone/>
            </a:pPr>
            <a:r>
              <a:rPr lang="en-US" sz="740" i="1" dirty="0">
                <a:solidFill>
                  <a:srgbClr val="6A6A6A"/>
                </a:solidFill>
                <a:latin typeface="Arial" pitchFamily="34" charset="0"/>
                <a:ea typeface="Arial" pitchFamily="34" charset="-122"/>
                <a:cs typeface="Arial" pitchFamily="34" charset="-120"/>
              </a:rPr>
              <a:t>One claim ≈ a scanned form, an e-mail and 3–4 attachments. All four agents run on one model tier — gpt-5.6 terra, $2 in / $12 out per million tokens.</a:t>
            </a:r>
            <a:endParaRPr lang="en-US" sz="740" dirty="0"/>
          </a:p>
        </p:txBody>
      </p:sp>
      <p:sp>
        <p:nvSpPr>
          <p:cNvPr id="32" name="Text 28"/>
          <p:cNvSpPr txBox="1"/>
          <p:nvPr/>
        </p:nvSpPr>
        <p:spPr>
          <a:xfrm>
            <a:off x="6263640" y="3035808"/>
            <a:ext cx="5486400" cy="219456"/>
          </a:xfrm>
          <a:prstGeom prst="rect">
            <a:avLst/>
          </a:prstGeom>
          <a:noFill/>
          <a:ln/>
        </p:spPr>
        <p:txBody>
          <a:bodyPr wrap="square" lIns="0" tIns="0" rIns="0" bIns="0" rtlCol="0" anchor="ctr"/>
          <a:lstStyle/>
          <a:p>
            <a:pPr indent="0" marL="0">
              <a:buNone/>
            </a:pPr>
            <a:r>
              <a:rPr lang="en-US" sz="900" b="1" spc="80" kern="0" dirty="0">
                <a:solidFill>
                  <a:srgbClr val="0891B2"/>
                </a:solidFill>
                <a:latin typeface="Arial" pitchFamily="34" charset="0"/>
                <a:ea typeface="Arial" pitchFamily="34" charset="-122"/>
                <a:cs typeface="Arial" pitchFamily="34" charset="-120"/>
              </a:rPr>
              <a:t>C · AZURE, WEST EUROPE — MONTHLY</a:t>
            </a:r>
            <a:endParaRPr lang="en-US" sz="9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6263640" y="3291840"/>
          <a:ext cx="5486400" cy="914400"/>
        </p:xfrm>
        <a:graphic>
          <a:graphicData uri="http://schemas.openxmlformats.org/drawingml/2006/table">
            <a:tbl>
              <a:tblPr/>
              <a:tblGrid>
                <a:gridCol w="4434840"/>
                <a:gridCol w="1051560"/>
              </a:tblGrid>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Component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US$/mth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4 container apps — 2 always on, 2 burst only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55</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PostgreSQL B2s + 64 GiB storage and backup</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61</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Blob storage for documents + audit logs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8</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Net new, incl. ~8% West Europe premium</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134</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34" name="Text 29"/>
          <p:cNvSpPr txBox="1"/>
          <p:nvPr/>
        </p:nvSpPr>
        <p:spPr>
          <a:xfrm>
            <a:off x="6263640" y="4389120"/>
            <a:ext cx="5486400" cy="256032"/>
          </a:xfrm>
          <a:prstGeom prst="rect">
            <a:avLst/>
          </a:prstGeom>
          <a:noFill/>
          <a:ln/>
        </p:spPr>
        <p:txBody>
          <a:bodyPr wrap="square" lIns="0" tIns="0" rIns="0" bIns="0" rtlCol="0" anchor="ctr"/>
          <a:lstStyle/>
          <a:p>
            <a:pPr indent="0" marL="0">
              <a:lnSpc>
                <a:spcPct val="115000"/>
              </a:lnSpc>
              <a:buNone/>
            </a:pPr>
            <a:r>
              <a:rPr lang="en-US" sz="740" i="1" dirty="0">
                <a:solidFill>
                  <a:srgbClr val="6A6A6A"/>
                </a:solidFill>
                <a:latin typeface="Arial" pitchFamily="34" charset="0"/>
                <a:ea typeface="Arial" pitchFamily="34" charset="-122"/>
                <a:cs typeface="Arial" pitchFamily="34" charset="-120"/>
              </a:rPr>
              <a:t>Registry, networking, Key Vault and DevOps (≈ €670/yr) already exist, so they are not charged here. Azure DevOps gives repos and pipelines, not a database — PostgreSQL is genuinely new.</a:t>
            </a:r>
            <a:endParaRPr lang="en-US" sz="740" dirty="0"/>
          </a:p>
        </p:txBody>
      </p:sp>
      <p:sp>
        <p:nvSpPr>
          <p:cNvPr id="35" name="Text 30"/>
          <p:cNvSpPr txBox="1"/>
          <p:nvPr/>
        </p:nvSpPr>
        <p:spPr>
          <a:xfrm>
            <a:off x="6263640" y="4700016"/>
            <a:ext cx="5486400" cy="219456"/>
          </a:xfrm>
          <a:prstGeom prst="rect">
            <a:avLst/>
          </a:prstGeom>
          <a:noFill/>
          <a:ln/>
        </p:spPr>
        <p:txBody>
          <a:bodyPr wrap="square" lIns="0" tIns="0" rIns="0" bIns="0" rtlCol="0" anchor="ctr"/>
          <a:lstStyle/>
          <a:p>
            <a:pPr indent="0" marL="0">
              <a:buNone/>
            </a:pPr>
            <a:r>
              <a:rPr lang="en-US" sz="900" b="1" spc="80" kern="0" dirty="0">
                <a:solidFill>
                  <a:srgbClr val="BE185D"/>
                </a:solidFill>
                <a:latin typeface="Arial" pitchFamily="34" charset="0"/>
                <a:ea typeface="Arial" pitchFamily="34" charset="-122"/>
                <a:cs typeface="Arial" pitchFamily="34" charset="-120"/>
              </a:rPr>
              <a:t>E · WHO GETS THE TIME BACK — CONFIRMED BY GGW</a:t>
            </a:r>
            <a:endParaRPr lang="en-US" sz="900" dirty="0"/>
          </a:p>
        </p:txBody>
      </p:sp>
      <p:sp>
        <p:nvSpPr>
          <p:cNvPr id="36" name="Text 31"/>
          <p:cNvSpPr txBox="1"/>
          <p:nvPr/>
        </p:nvSpPr>
        <p:spPr>
          <a:xfrm>
            <a:off x="6263640" y="4901184"/>
            <a:ext cx="5486400" cy="201168"/>
          </a:xfrm>
          <a:prstGeom prst="rect">
            <a:avLst/>
          </a:prstGeom>
          <a:noFill/>
          <a:ln/>
        </p:spPr>
        <p:txBody>
          <a:bodyPr wrap="square" lIns="0" tIns="0" rIns="0" bIns="0" rtlCol="0" anchor="ctr"/>
          <a:lstStyle/>
          <a:p>
            <a:pPr indent="0" marL="0">
              <a:buNone/>
            </a:pPr>
            <a:r>
              <a:rPr lang="en-US" sz="780" i="1" dirty="0">
                <a:solidFill>
                  <a:srgbClr val="6A1F42"/>
                </a:solidFill>
                <a:latin typeface="Arial" pitchFamily="34" charset="0"/>
                <a:ea typeface="Arial" pitchFamily="34" charset="-122"/>
                <a:cs typeface="Arial" pitchFamily="34" charset="-120"/>
              </a:rPr>
              <a:t>20 claim handlers and 10 support staff (GGW, 8 Sep). The brief puts FNOL with the support team, so every freed hour is theirs.</a:t>
            </a:r>
            <a:endParaRPr lang="en-US" sz="780" dirty="0"/>
          </a:p>
        </p:txBody>
      </p:sp>
      <p:graphicFrame>
        <p:nvGraphicFramePr>
          <p:cNvPr id="37" name="Table 3"/>
          <p:cNvGraphicFramePr>
            <a:graphicFrameLocks noGrp="1"/>
          </p:cNvGraphicFramePr>
          <p:nvPr>
            <p:extLst>
              <p:ext uri="{D42A27DB-BD31-4B8C-83A1-F6EECF244321}">
                <p14:modId xmlns:p14="http://schemas.microsoft.com/office/powerpoint/2010/main" val="1579011935"/>
              </p:ext>
            </p:extLst>
          </p:nvPr>
        </p:nvGraphicFramePr>
        <p:xfrm>
          <a:off x="6263640" y="5138928"/>
          <a:ext cx="5486400" cy="914400"/>
        </p:xfrm>
        <a:graphic>
          <a:graphicData uri="http://schemas.openxmlformats.org/drawingml/2006/table">
            <a:tbl>
              <a:tblPr/>
              <a:tblGrid>
                <a:gridCol w="1920240"/>
                <a:gridCol w="1234440"/>
                <a:gridCol w="1188720"/>
                <a:gridCol w="1143000"/>
              </a:tblGrid>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Per support-team member</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Today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Redesigned</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Difference</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Claims taken in, per 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Time on intake, per 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3.3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1.6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− 1.75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Share of a productive 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25%</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− 27 pts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Hours back, each, per 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1.75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38" name="Text 32"/>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39" name="Text 33"/>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9 / 10</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What is sourced, what GGW confirmed, and what is still our assumption</a:t>
            </a:r>
            <a:endParaRPr lang="en-US" sz="1400" dirty="0"/>
          </a:p>
        </p:txBody>
      </p:sp>
      <p:sp>
        <p:nvSpPr>
          <p:cNvPr id="3" name="Text 1"/>
          <p:cNvSpPr txBox="1"/>
          <p:nvPr/>
        </p:nvSpPr>
        <p:spPr>
          <a:xfrm>
            <a:off x="7680960" y="146304"/>
            <a:ext cx="41422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APPENDIX · SOURCES &amp; ASSUMPTIONS</a:t>
            </a:r>
            <a:endParaRPr lang="en-US" sz="950" dirty="0"/>
          </a:p>
        </p:txBody>
      </p:sp>
      <p:sp>
        <p:nvSpPr>
          <p:cNvPr id="4" name="Shape 2"/>
          <p:cNvSpPr/>
          <p:nvPr/>
        </p:nvSpPr>
        <p:spPr>
          <a:xfrm>
            <a:off x="365760" y="566928"/>
            <a:ext cx="45720" cy="402336"/>
          </a:xfrm>
          <a:prstGeom prst="rect">
            <a:avLst/>
          </a:prstGeom>
          <a:solidFill>
            <a:srgbClr val="BE185D"/>
          </a:solidFill>
          <a:ln/>
        </p:spPr>
      </p:sp>
      <p:sp>
        <p:nvSpPr>
          <p:cNvPr id="5" name="Text 3"/>
          <p:cNvSpPr txBox="1"/>
          <p:nvPr/>
        </p:nvSpPr>
        <p:spPr>
          <a:xfrm>
            <a:off x="530352" y="548640"/>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Who does intake</a:t>
            </a:r>
            <a:endParaRPr lang="en-US" sz="860" dirty="0"/>
          </a:p>
        </p:txBody>
      </p:sp>
      <p:sp>
        <p:nvSpPr>
          <p:cNvPr id="6" name="Text 4"/>
          <p:cNvSpPr txBox="1"/>
          <p:nvPr/>
        </p:nvSpPr>
        <p:spPr>
          <a:xfrm>
            <a:off x="530352" y="704088"/>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20 claim handlers, 10 support staff — FNOL sits with support</a:t>
            </a:r>
            <a:endParaRPr lang="en-US" sz="780" dirty="0"/>
          </a:p>
        </p:txBody>
      </p:sp>
      <p:sp>
        <p:nvSpPr>
          <p:cNvPr id="7" name="Text 5"/>
          <p:cNvSpPr txBox="1"/>
          <p:nvPr/>
        </p:nvSpPr>
        <p:spPr>
          <a:xfrm>
            <a:off x="530352" y="850392"/>
            <a:ext cx="5486400" cy="173736"/>
          </a:xfrm>
          <a:prstGeom prst="rect">
            <a:avLst/>
          </a:prstGeom>
          <a:noFill/>
          <a:ln/>
        </p:spPr>
        <p:txBody>
          <a:bodyPr wrap="square" lIns="0" tIns="0" rIns="0" bIns="0" rtlCol="0" anchor="ctr"/>
          <a:lstStyle/>
          <a:p>
            <a:pPr indent="0" marL="0">
              <a:buNone/>
            </a:pPr>
            <a:r>
              <a:rPr lang="en-US" sz="780" i="1" dirty="0">
                <a:solidFill>
                  <a:srgbClr val="6A1F42"/>
                </a:solidFill>
                <a:latin typeface="Arial" pitchFamily="34" charset="0"/>
                <a:ea typeface="Arial" pitchFamily="34" charset="-122"/>
                <a:cs typeface="Arial" pitchFamily="34" charset="-120"/>
              </a:rPr>
              <a:t>GGW (P. Gossmann), 8 Sep 2026</a:t>
            </a:r>
            <a:endParaRPr lang="en-US" sz="780" dirty="0"/>
          </a:p>
        </p:txBody>
      </p:sp>
      <p:sp>
        <p:nvSpPr>
          <p:cNvPr id="8" name="Shape 6"/>
          <p:cNvSpPr/>
          <p:nvPr/>
        </p:nvSpPr>
        <p:spPr>
          <a:xfrm>
            <a:off x="365760" y="1042416"/>
            <a:ext cx="45720" cy="402336"/>
          </a:xfrm>
          <a:prstGeom prst="rect">
            <a:avLst/>
          </a:prstGeom>
          <a:solidFill>
            <a:srgbClr val="BE185D"/>
          </a:solidFill>
          <a:ln/>
        </p:spPr>
      </p:sp>
      <p:sp>
        <p:nvSpPr>
          <p:cNvPr id="9" name="Text 7"/>
          <p:cNvSpPr txBox="1"/>
          <p:nvPr/>
        </p:nvSpPr>
        <p:spPr>
          <a:xfrm>
            <a:off x="530352" y="1024128"/>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Failed EASY imports</a:t>
            </a:r>
            <a:endParaRPr lang="en-US" sz="860" dirty="0"/>
          </a:p>
        </p:txBody>
      </p:sp>
      <p:sp>
        <p:nvSpPr>
          <p:cNvPr id="10" name="Text 8"/>
          <p:cNvSpPr txBox="1"/>
          <p:nvPr/>
        </p:nvSpPr>
        <p:spPr>
          <a:xfrm>
            <a:off x="530352" y="1179576"/>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Not noticed today — so detection comes before retries</a:t>
            </a:r>
            <a:endParaRPr lang="en-US" sz="780" dirty="0"/>
          </a:p>
        </p:txBody>
      </p:sp>
      <p:sp>
        <p:nvSpPr>
          <p:cNvPr id="11" name="Text 9"/>
          <p:cNvSpPr txBox="1"/>
          <p:nvPr/>
        </p:nvSpPr>
        <p:spPr>
          <a:xfrm>
            <a:off x="530352" y="1325880"/>
            <a:ext cx="5486400" cy="173736"/>
          </a:xfrm>
          <a:prstGeom prst="rect">
            <a:avLst/>
          </a:prstGeom>
          <a:noFill/>
          <a:ln/>
        </p:spPr>
        <p:txBody>
          <a:bodyPr wrap="square" lIns="0" tIns="0" rIns="0" bIns="0" rtlCol="0" anchor="ctr"/>
          <a:lstStyle/>
          <a:p>
            <a:pPr indent="0" marL="0">
              <a:buNone/>
            </a:pPr>
            <a:r>
              <a:rPr lang="en-US" sz="780" i="1" dirty="0">
                <a:solidFill>
                  <a:srgbClr val="6A1F42"/>
                </a:solidFill>
                <a:latin typeface="Arial" pitchFamily="34" charset="0"/>
                <a:ea typeface="Arial" pitchFamily="34" charset="-122"/>
                <a:cs typeface="Arial" pitchFamily="34" charset="-120"/>
              </a:rPr>
              <a:t>GGW (P. Gossmann), 8 Sep 2026</a:t>
            </a:r>
            <a:endParaRPr lang="en-US" sz="780" dirty="0"/>
          </a:p>
        </p:txBody>
      </p:sp>
      <p:sp>
        <p:nvSpPr>
          <p:cNvPr id="12" name="Shape 10"/>
          <p:cNvSpPr/>
          <p:nvPr/>
        </p:nvSpPr>
        <p:spPr>
          <a:xfrm>
            <a:off x="365760" y="1517904"/>
            <a:ext cx="45720" cy="402336"/>
          </a:xfrm>
          <a:prstGeom prst="rect">
            <a:avLst/>
          </a:prstGeom>
          <a:solidFill>
            <a:srgbClr val="BE185D"/>
          </a:solidFill>
          <a:ln/>
        </p:spPr>
      </p:sp>
      <p:sp>
        <p:nvSpPr>
          <p:cNvPr id="13" name="Text 11"/>
          <p:cNvSpPr txBox="1"/>
          <p:nvPr/>
        </p:nvSpPr>
        <p:spPr>
          <a:xfrm>
            <a:off x="530352" y="1499616"/>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Volumes and shares</a:t>
            </a:r>
            <a:endParaRPr lang="en-US" sz="860" dirty="0"/>
          </a:p>
        </p:txBody>
      </p:sp>
      <p:sp>
        <p:nvSpPr>
          <p:cNvPr id="14" name="Text 12"/>
          <p:cNvSpPr txBox="1"/>
          <p:nvPr/>
        </p:nvSpPr>
        <p:spPr>
          <a:xfrm>
            <a:off x="530352" y="1655064"/>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~50 first reports a day · 65% minor · ~30 in the team</a:t>
            </a:r>
            <a:endParaRPr lang="en-US" sz="780" dirty="0"/>
          </a:p>
        </p:txBody>
      </p:sp>
      <p:sp>
        <p:nvSpPr>
          <p:cNvPr id="15" name="Text 13"/>
          <p:cNvSpPr txBox="1"/>
          <p:nvPr/>
        </p:nvSpPr>
        <p:spPr>
          <a:xfrm>
            <a:off x="530352" y="1801368"/>
            <a:ext cx="5486400" cy="173736"/>
          </a:xfrm>
          <a:prstGeom prst="rect">
            <a:avLst/>
          </a:prstGeom>
          <a:noFill/>
          <a:ln/>
        </p:spPr>
        <p:txBody>
          <a:bodyPr wrap="square" lIns="0" tIns="0" rIns="0" bIns="0" rtlCol="0" anchor="ctr"/>
          <a:lstStyle/>
          <a:p>
            <a:pPr indent="0" marL="0">
              <a:buNone/>
            </a:pPr>
            <a:r>
              <a:rPr lang="en-US" sz="780" i="1" dirty="0">
                <a:solidFill>
                  <a:srgbClr val="6A1F42"/>
                </a:solidFill>
                <a:latin typeface="Arial" pitchFamily="34" charset="0"/>
                <a:ea typeface="Arial" pitchFamily="34" charset="-122"/>
                <a:cs typeface="Arial" pitchFamily="34" charset="-120"/>
              </a:rPr>
              <a:t>GGW case study brief</a:t>
            </a:r>
            <a:endParaRPr lang="en-US" sz="780" dirty="0"/>
          </a:p>
        </p:txBody>
      </p:sp>
      <p:sp>
        <p:nvSpPr>
          <p:cNvPr id="16" name="Shape 14"/>
          <p:cNvSpPr/>
          <p:nvPr/>
        </p:nvSpPr>
        <p:spPr>
          <a:xfrm>
            <a:off x="365760" y="1993392"/>
            <a:ext cx="45720" cy="402336"/>
          </a:xfrm>
          <a:prstGeom prst="rect">
            <a:avLst/>
          </a:prstGeom>
          <a:solidFill>
            <a:srgbClr val="0891B2"/>
          </a:solidFill>
          <a:ln/>
        </p:spPr>
      </p:sp>
      <p:sp>
        <p:nvSpPr>
          <p:cNvPr id="17" name="Text 15"/>
          <p:cNvSpPr txBox="1"/>
          <p:nvPr/>
        </p:nvSpPr>
        <p:spPr>
          <a:xfrm>
            <a:off x="530352" y="1975104"/>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Wage base — intake</a:t>
            </a:r>
            <a:endParaRPr lang="en-US" sz="860" dirty="0"/>
          </a:p>
        </p:txBody>
      </p:sp>
      <p:sp>
        <p:nvSpPr>
          <p:cNvPr id="18" name="Text 16"/>
          <p:cNvSpPr txBox="1"/>
          <p:nvPr/>
        </p:nvSpPr>
        <p:spPr>
          <a:xfrm>
            <a:off x="530352" y="2130552"/>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Sachbearbeiter/in Versicherung, €41,100 gross</a:t>
            </a:r>
            <a:endParaRPr lang="en-US" sz="780" dirty="0"/>
          </a:p>
        </p:txBody>
      </p:sp>
      <p:sp>
        <p:nvSpPr>
          <p:cNvPr id="19" name="Text 17">
            <a:hlinkClick r:id="rId1" tooltip="StepStone Gehaltsreport"/>
          </p:cNvPr>
          <p:cNvSpPr txBox="1"/>
          <p:nvPr/>
        </p:nvSpPr>
        <p:spPr>
          <a:xfrm>
            <a:off x="530352" y="2276856"/>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1" invalidUrl="" action="" tgtFrame="" tooltip="StepStone Gehaltsreport" history="1" highlightClick="0" endSnd="0">
                  <a:extLst>
                    <a:ext uri="{A12FA001-AC4F-418D-AE19-62706E023703}">
                      <ahyp:hlinkClr xmlns:ahyp="http://schemas.microsoft.com/office/drawing/2018/hyperlinkcolor" val="tx"/>
                    </a:ext>
                  </a:extLst>
                </a:hlinkClick>
              </a:rPr>
              <a:t>StepStone Gehaltsreport</a:t>
            </a:r>
            <a:endParaRPr lang="en-US" sz="780" dirty="0"/>
          </a:p>
        </p:txBody>
      </p:sp>
      <p:sp>
        <p:nvSpPr>
          <p:cNvPr id="20" name="Shape 18"/>
          <p:cNvSpPr/>
          <p:nvPr/>
        </p:nvSpPr>
        <p:spPr>
          <a:xfrm>
            <a:off x="365760" y="2468880"/>
            <a:ext cx="45720" cy="402336"/>
          </a:xfrm>
          <a:prstGeom prst="rect">
            <a:avLst/>
          </a:prstGeom>
          <a:solidFill>
            <a:srgbClr val="0891B2"/>
          </a:solidFill>
          <a:ln/>
        </p:spPr>
      </p:sp>
      <p:sp>
        <p:nvSpPr>
          <p:cNvPr id="21" name="Text 19"/>
          <p:cNvSpPr txBox="1"/>
          <p:nvPr/>
        </p:nvSpPr>
        <p:spPr>
          <a:xfrm>
            <a:off x="530352" y="2450592"/>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Employer on-cost</a:t>
            </a:r>
            <a:endParaRPr lang="en-US" sz="860" dirty="0"/>
          </a:p>
        </p:txBody>
      </p:sp>
      <p:sp>
        <p:nvSpPr>
          <p:cNvPr id="22" name="Text 20"/>
          <p:cNvSpPr txBox="1"/>
          <p:nvPr/>
        </p:nvSpPr>
        <p:spPr>
          <a:xfrm>
            <a:off x="530352" y="2606040"/>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 €23 per €100 gross — health, pension, care</a:t>
            </a:r>
            <a:endParaRPr lang="en-US" sz="780" dirty="0"/>
          </a:p>
        </p:txBody>
      </p:sp>
      <p:sp>
        <p:nvSpPr>
          <p:cNvPr id="23" name="Text 21">
            <a:hlinkClick r:id="rId2" tooltip="Lohnnebenkosten 2026, sevdesk"/>
          </p:cNvPr>
          <p:cNvSpPr txBox="1"/>
          <p:nvPr/>
        </p:nvSpPr>
        <p:spPr>
          <a:xfrm>
            <a:off x="530352" y="2752344"/>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2" invalidUrl="" action="" tgtFrame="" tooltip="Lohnnebenkosten 2026, sevdesk" history="1" highlightClick="0" endSnd="0">
                  <a:extLst>
                    <a:ext uri="{A12FA001-AC4F-418D-AE19-62706E023703}">
                      <ahyp:hlinkClr xmlns:ahyp="http://schemas.microsoft.com/office/drawing/2018/hyperlinkcolor" val="tx"/>
                    </a:ext>
                  </a:extLst>
                </a:hlinkClick>
              </a:rPr>
              <a:t>Lohnnebenkosten 2026, sevdesk</a:t>
            </a:r>
            <a:endParaRPr lang="en-US" sz="780" dirty="0"/>
          </a:p>
        </p:txBody>
      </p:sp>
      <p:sp>
        <p:nvSpPr>
          <p:cNvPr id="24" name="Shape 22"/>
          <p:cNvSpPr/>
          <p:nvPr/>
        </p:nvSpPr>
        <p:spPr>
          <a:xfrm>
            <a:off x="365760" y="2944368"/>
            <a:ext cx="45720" cy="402336"/>
          </a:xfrm>
          <a:prstGeom prst="rect">
            <a:avLst/>
          </a:prstGeom>
          <a:solidFill>
            <a:srgbClr val="0891B2"/>
          </a:solidFill>
          <a:ln/>
        </p:spPr>
      </p:sp>
      <p:sp>
        <p:nvSpPr>
          <p:cNvPr id="25" name="Text 23"/>
          <p:cNvSpPr txBox="1"/>
          <p:nvPr/>
        </p:nvSpPr>
        <p:spPr>
          <a:xfrm>
            <a:off x="530352" y="2926080"/>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Working time, breaks</a:t>
            </a:r>
            <a:endParaRPr lang="en-US" sz="860" dirty="0"/>
          </a:p>
        </p:txBody>
      </p:sp>
      <p:sp>
        <p:nvSpPr>
          <p:cNvPr id="26" name="Text 24"/>
          <p:cNvSpPr txBox="1"/>
          <p:nvPr/>
        </p:nvSpPr>
        <p:spPr>
          <a:xfrm>
            <a:off x="530352" y="3081528"/>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38 h tariff week; statutory break rules</a:t>
            </a:r>
            <a:endParaRPr lang="en-US" sz="780" dirty="0"/>
          </a:p>
        </p:txBody>
      </p:sp>
      <p:sp>
        <p:nvSpPr>
          <p:cNvPr id="27" name="Text 25">
            <a:hlinkClick r:id="rId3" tooltip="Arbeitszeitgesetz §4"/>
          </p:cNvPr>
          <p:cNvSpPr txBox="1"/>
          <p:nvPr/>
        </p:nvSpPr>
        <p:spPr>
          <a:xfrm>
            <a:off x="530352" y="3227832"/>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3" invalidUrl="" action="" tgtFrame="" tooltip="Arbeitszeitgesetz §4" history="1" highlightClick="0" endSnd="0">
                  <a:extLst>
                    <a:ext uri="{A12FA001-AC4F-418D-AE19-62706E023703}">
                      <ahyp:hlinkClr xmlns:ahyp="http://schemas.microsoft.com/office/drawing/2018/hyperlinkcolor" val="tx"/>
                    </a:ext>
                  </a:extLst>
                </a:hlinkClick>
              </a:rPr>
              <a:t>Arbeitszeitgesetz §4</a:t>
            </a:r>
            <a:endParaRPr lang="en-US" sz="780" dirty="0"/>
          </a:p>
        </p:txBody>
      </p:sp>
      <p:sp>
        <p:nvSpPr>
          <p:cNvPr id="28" name="Shape 26"/>
          <p:cNvSpPr/>
          <p:nvPr/>
        </p:nvSpPr>
        <p:spPr>
          <a:xfrm>
            <a:off x="365760" y="3419856"/>
            <a:ext cx="45720" cy="402336"/>
          </a:xfrm>
          <a:prstGeom prst="rect">
            <a:avLst/>
          </a:prstGeom>
          <a:solidFill>
            <a:srgbClr val="0891B2"/>
          </a:solidFill>
          <a:ln/>
        </p:spPr>
      </p:sp>
      <p:sp>
        <p:nvSpPr>
          <p:cNvPr id="29" name="Text 27"/>
          <p:cNvSpPr txBox="1"/>
          <p:nvPr/>
        </p:nvSpPr>
        <p:spPr>
          <a:xfrm>
            <a:off x="530352" y="3401568"/>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Build &amp; upkeep pay</a:t>
            </a:r>
            <a:endParaRPr lang="en-US" sz="860" dirty="0"/>
          </a:p>
        </p:txBody>
      </p:sp>
      <p:sp>
        <p:nvSpPr>
          <p:cNvPr id="30" name="Text 28"/>
          <p:cNvSpPr txBox="1"/>
          <p:nvPr/>
        </p:nvSpPr>
        <p:spPr>
          <a:xfrm>
            <a:off x="530352" y="3557016"/>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Senior ML engineer ≈ €98k; juniors at €70k as briefed</a:t>
            </a:r>
            <a:endParaRPr lang="en-US" sz="780" dirty="0"/>
          </a:p>
        </p:txBody>
      </p:sp>
      <p:sp>
        <p:nvSpPr>
          <p:cNvPr id="31" name="Text 29">
            <a:hlinkClick r:id="rId4" tooltip="Glassdoor, ML Engineer Germany"/>
          </p:cNvPr>
          <p:cNvSpPr txBox="1"/>
          <p:nvPr/>
        </p:nvSpPr>
        <p:spPr>
          <a:xfrm>
            <a:off x="530352" y="3703320"/>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4" invalidUrl="" action="" tgtFrame="" tooltip="Glassdoor, ML Engineer Germany" history="1" highlightClick="0" endSnd="0">
                  <a:extLst>
                    <a:ext uri="{A12FA001-AC4F-418D-AE19-62706E023703}">
                      <ahyp:hlinkClr xmlns:ahyp="http://schemas.microsoft.com/office/drawing/2018/hyperlinkcolor" val="tx"/>
                    </a:ext>
                  </a:extLst>
                </a:hlinkClick>
              </a:rPr>
              <a:t>Glassdoor, ML Engineer Germany</a:t>
            </a:r>
            <a:endParaRPr lang="en-US" sz="780" dirty="0"/>
          </a:p>
        </p:txBody>
      </p:sp>
      <p:sp>
        <p:nvSpPr>
          <p:cNvPr id="32" name="Shape 30"/>
          <p:cNvSpPr/>
          <p:nvPr/>
        </p:nvSpPr>
        <p:spPr>
          <a:xfrm>
            <a:off x="6172200" y="566928"/>
            <a:ext cx="45720" cy="402336"/>
          </a:xfrm>
          <a:prstGeom prst="rect">
            <a:avLst/>
          </a:prstGeom>
          <a:solidFill>
            <a:srgbClr val="0891B2"/>
          </a:solidFill>
          <a:ln/>
        </p:spPr>
      </p:sp>
      <p:sp>
        <p:nvSpPr>
          <p:cNvPr id="33" name="Text 31"/>
          <p:cNvSpPr txBox="1"/>
          <p:nvPr/>
        </p:nvSpPr>
        <p:spPr>
          <a:xfrm>
            <a:off x="6336792" y="548640"/>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Model prices</a:t>
            </a:r>
            <a:endParaRPr lang="en-US" sz="860" dirty="0"/>
          </a:p>
        </p:txBody>
      </p:sp>
      <p:sp>
        <p:nvSpPr>
          <p:cNvPr id="34" name="Text 32"/>
          <p:cNvSpPr txBox="1"/>
          <p:nvPr/>
        </p:nvSpPr>
        <p:spPr>
          <a:xfrm>
            <a:off x="6336792" y="704088"/>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gpt-5.6 terra — $2 in / $12 out per million tokens</a:t>
            </a:r>
            <a:endParaRPr lang="en-US" sz="780" dirty="0"/>
          </a:p>
        </p:txBody>
      </p:sp>
      <p:sp>
        <p:nvSpPr>
          <p:cNvPr id="35" name="Text 33">
            <a:hlinkClick r:id="rId5" tooltip="OpenAI API pricing"/>
          </p:cNvPr>
          <p:cNvSpPr txBox="1"/>
          <p:nvPr/>
        </p:nvSpPr>
        <p:spPr>
          <a:xfrm>
            <a:off x="6336792" y="850392"/>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5" invalidUrl="" action="" tgtFrame="" tooltip="OpenAI API pricing" history="1" highlightClick="0" endSnd="0">
                  <a:extLst>
                    <a:ext uri="{A12FA001-AC4F-418D-AE19-62706E023703}">
                      <ahyp:hlinkClr xmlns:ahyp="http://schemas.microsoft.com/office/drawing/2018/hyperlinkcolor" val="tx"/>
                    </a:ext>
                  </a:extLst>
                </a:hlinkClick>
              </a:rPr>
              <a:t>OpenAI API pricing</a:t>
            </a:r>
            <a:endParaRPr lang="en-US" sz="780" dirty="0"/>
          </a:p>
        </p:txBody>
      </p:sp>
      <p:sp>
        <p:nvSpPr>
          <p:cNvPr id="36" name="Shape 34"/>
          <p:cNvSpPr/>
          <p:nvPr/>
        </p:nvSpPr>
        <p:spPr>
          <a:xfrm>
            <a:off x="6172200" y="1042416"/>
            <a:ext cx="45720" cy="402336"/>
          </a:xfrm>
          <a:prstGeom prst="rect">
            <a:avLst/>
          </a:prstGeom>
          <a:solidFill>
            <a:srgbClr val="0891B2"/>
          </a:solidFill>
          <a:ln/>
        </p:spPr>
      </p:sp>
      <p:sp>
        <p:nvSpPr>
          <p:cNvPr id="37" name="Text 35"/>
          <p:cNvSpPr txBox="1"/>
          <p:nvPr/>
        </p:nvSpPr>
        <p:spPr>
          <a:xfrm>
            <a:off x="6336792" y="1024128"/>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Container hosting</a:t>
            </a:r>
            <a:endParaRPr lang="en-US" sz="860" dirty="0"/>
          </a:p>
        </p:txBody>
      </p:sp>
      <p:sp>
        <p:nvSpPr>
          <p:cNvPr id="38" name="Text 36"/>
          <p:cNvSpPr txBox="1"/>
          <p:nvPr/>
        </p:nvSpPr>
        <p:spPr>
          <a:xfrm>
            <a:off x="6336792" y="1179576"/>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Consumption plan rates and the monthly free grant</a:t>
            </a:r>
            <a:endParaRPr lang="en-US" sz="780" dirty="0"/>
          </a:p>
        </p:txBody>
      </p:sp>
      <p:sp>
        <p:nvSpPr>
          <p:cNvPr id="39" name="Text 37">
            <a:hlinkClick r:id="rId6" tooltip="Azure Container Apps pricing"/>
          </p:cNvPr>
          <p:cNvSpPr txBox="1"/>
          <p:nvPr/>
        </p:nvSpPr>
        <p:spPr>
          <a:xfrm>
            <a:off x="6336792" y="1325880"/>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6" invalidUrl="" action="" tgtFrame="" tooltip="Azure Container Apps pricing" history="1" highlightClick="0" endSnd="0">
                  <a:extLst>
                    <a:ext uri="{A12FA001-AC4F-418D-AE19-62706E023703}">
                      <ahyp:hlinkClr xmlns:ahyp="http://schemas.microsoft.com/office/drawing/2018/hyperlinkcolor" val="tx"/>
                    </a:ext>
                  </a:extLst>
                </a:hlinkClick>
              </a:rPr>
              <a:t>Azure Container Apps pricing</a:t>
            </a:r>
            <a:endParaRPr lang="en-US" sz="780" dirty="0"/>
          </a:p>
        </p:txBody>
      </p:sp>
      <p:sp>
        <p:nvSpPr>
          <p:cNvPr id="40" name="Shape 38"/>
          <p:cNvSpPr/>
          <p:nvPr/>
        </p:nvSpPr>
        <p:spPr>
          <a:xfrm>
            <a:off x="6172200" y="1517904"/>
            <a:ext cx="45720" cy="402336"/>
          </a:xfrm>
          <a:prstGeom prst="rect">
            <a:avLst/>
          </a:prstGeom>
          <a:solidFill>
            <a:srgbClr val="0891B2"/>
          </a:solidFill>
          <a:ln/>
        </p:spPr>
      </p:sp>
      <p:sp>
        <p:nvSpPr>
          <p:cNvPr id="41" name="Text 39"/>
          <p:cNvSpPr txBox="1"/>
          <p:nvPr/>
        </p:nvSpPr>
        <p:spPr>
          <a:xfrm>
            <a:off x="6336792" y="1499616"/>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Database</a:t>
            </a:r>
            <a:endParaRPr lang="en-US" sz="860" dirty="0"/>
          </a:p>
        </p:txBody>
      </p:sp>
      <p:sp>
        <p:nvSpPr>
          <p:cNvPr id="42" name="Text 40"/>
          <p:cNvSpPr txBox="1"/>
          <p:nvPr/>
        </p:nvSpPr>
        <p:spPr>
          <a:xfrm>
            <a:off x="6336792" y="1655064"/>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PostgreSQL Flexible Server B2s — 2 vCore / 4 GiB</a:t>
            </a:r>
            <a:endParaRPr lang="en-US" sz="780" dirty="0"/>
          </a:p>
        </p:txBody>
      </p:sp>
      <p:sp>
        <p:nvSpPr>
          <p:cNvPr id="43" name="Text 41">
            <a:hlinkClick r:id="rId7" tooltip="Azure Database for PostgreSQL"/>
          </p:cNvPr>
          <p:cNvSpPr txBox="1"/>
          <p:nvPr/>
        </p:nvSpPr>
        <p:spPr>
          <a:xfrm>
            <a:off x="6336792" y="1801368"/>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7" invalidUrl="" action="" tgtFrame="" tooltip="Azure Database for PostgreSQL" history="1" highlightClick="0" endSnd="0">
                  <a:extLst>
                    <a:ext uri="{A12FA001-AC4F-418D-AE19-62706E023703}">
                      <ahyp:hlinkClr xmlns:ahyp="http://schemas.microsoft.com/office/drawing/2018/hyperlinkcolor" val="tx"/>
                    </a:ext>
                  </a:extLst>
                </a:hlinkClick>
              </a:rPr>
              <a:t>Azure Database for PostgreSQL</a:t>
            </a:r>
            <a:endParaRPr lang="en-US" sz="780" dirty="0"/>
          </a:p>
        </p:txBody>
      </p:sp>
      <p:sp>
        <p:nvSpPr>
          <p:cNvPr id="44" name="Shape 42"/>
          <p:cNvSpPr/>
          <p:nvPr/>
        </p:nvSpPr>
        <p:spPr>
          <a:xfrm>
            <a:off x="6172200" y="1993392"/>
            <a:ext cx="45720" cy="402336"/>
          </a:xfrm>
          <a:prstGeom prst="rect">
            <a:avLst/>
          </a:prstGeom>
          <a:solidFill>
            <a:srgbClr val="0891B2"/>
          </a:solidFill>
          <a:ln/>
        </p:spPr>
      </p:sp>
      <p:sp>
        <p:nvSpPr>
          <p:cNvPr id="45" name="Text 43"/>
          <p:cNvSpPr txBox="1"/>
          <p:nvPr/>
        </p:nvSpPr>
        <p:spPr>
          <a:xfrm>
            <a:off x="6336792" y="1975104"/>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Upkeep after go-live</a:t>
            </a:r>
            <a:endParaRPr lang="en-US" sz="860" dirty="0"/>
          </a:p>
        </p:txBody>
      </p:sp>
      <p:sp>
        <p:nvSpPr>
          <p:cNvPr id="46" name="Text 44"/>
          <p:cNvSpPr txBox="1"/>
          <p:nvPr/>
        </p:nvSpPr>
        <p:spPr>
          <a:xfrm>
            <a:off x="6336792" y="2130552"/>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15–20% of build effort a year — our 0.25 FTE is 17%</a:t>
            </a:r>
            <a:endParaRPr lang="en-US" sz="780" dirty="0"/>
          </a:p>
        </p:txBody>
      </p:sp>
      <p:sp>
        <p:nvSpPr>
          <p:cNvPr id="47" name="Text 45"/>
          <p:cNvSpPr txBox="1"/>
          <p:nvPr/>
        </p:nvSpPr>
        <p:spPr>
          <a:xfrm>
            <a:off x="6336792" y="2276856"/>
            <a:ext cx="5486400" cy="173736"/>
          </a:xfrm>
          <a:prstGeom prst="rect">
            <a:avLst/>
          </a:prstGeom>
          <a:noFill/>
          <a:ln/>
        </p:spPr>
        <p:txBody>
          <a:bodyPr wrap="square" lIns="0" tIns="0" rIns="0" bIns="0" rtlCol="0" anchor="ctr"/>
          <a:lstStyle/>
          <a:p>
            <a:pPr indent="0" marL="0">
              <a:buNone/>
            </a:pPr>
            <a:r>
              <a:rPr lang="en-US" sz="780" i="1" dirty="0">
                <a:solidFill>
                  <a:srgbClr val="5A5A5A"/>
                </a:solidFill>
                <a:latin typeface="Arial" pitchFamily="34" charset="0"/>
                <a:ea typeface="Arial" pitchFamily="34" charset="-122"/>
                <a:cs typeface="Arial" pitchFamily="34" charset="-120"/>
              </a:rPr>
              <a:t>Software maintenance rule of thumb</a:t>
            </a:r>
            <a:endParaRPr lang="en-US" sz="780" dirty="0"/>
          </a:p>
        </p:txBody>
      </p:sp>
      <p:sp>
        <p:nvSpPr>
          <p:cNvPr id="48" name="Shape 46"/>
          <p:cNvSpPr/>
          <p:nvPr/>
        </p:nvSpPr>
        <p:spPr>
          <a:xfrm>
            <a:off x="6172200" y="2468880"/>
            <a:ext cx="45720" cy="402336"/>
          </a:xfrm>
          <a:prstGeom prst="rect">
            <a:avLst/>
          </a:prstGeom>
          <a:solidFill>
            <a:srgbClr val="0891B2"/>
          </a:solidFill>
          <a:ln/>
        </p:spPr>
      </p:sp>
      <p:sp>
        <p:nvSpPr>
          <p:cNvPr id="49" name="Text 47"/>
          <p:cNvSpPr txBox="1"/>
          <p:nvPr/>
        </p:nvSpPr>
        <p:spPr>
          <a:xfrm>
            <a:off x="6336792" y="2450592"/>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Industry baseline</a:t>
            </a:r>
            <a:endParaRPr lang="en-US" sz="860" dirty="0"/>
          </a:p>
        </p:txBody>
      </p:sp>
      <p:sp>
        <p:nvSpPr>
          <p:cNvPr id="50" name="Text 48"/>
          <p:cNvSpPr txBox="1"/>
          <p:nvPr/>
        </p:nvSpPr>
        <p:spPr>
          <a:xfrm>
            <a:off x="6336792" y="2606040"/>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17 of 20 carriers still manual; none let AI decide alone</a:t>
            </a:r>
            <a:endParaRPr lang="en-US" sz="780" dirty="0"/>
          </a:p>
        </p:txBody>
      </p:sp>
      <p:sp>
        <p:nvSpPr>
          <p:cNvPr id="51" name="Text 49">
            <a:hlinkClick r:id="rId8" tooltip="Decerto, 2026 Claims Decisioning Pulse"/>
          </p:cNvPr>
          <p:cNvSpPr txBox="1"/>
          <p:nvPr/>
        </p:nvSpPr>
        <p:spPr>
          <a:xfrm>
            <a:off x="6336792" y="2752344"/>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8" invalidUrl="" action="" tgtFrame="" tooltip="Decerto, 2026 Claims Decisioning Pulse" history="1" highlightClick="0" endSnd="0">
                  <a:extLst>
                    <a:ext uri="{A12FA001-AC4F-418D-AE19-62706E023703}">
                      <ahyp:hlinkClr xmlns:ahyp="http://schemas.microsoft.com/office/drawing/2018/hyperlinkcolor" val="tx"/>
                    </a:ext>
                  </a:extLst>
                </a:hlinkClick>
              </a:rPr>
              <a:t>Decerto, 2026 Claims Decisioning Pulse</a:t>
            </a:r>
            <a:endParaRPr lang="en-US" sz="780" dirty="0"/>
          </a:p>
        </p:txBody>
      </p:sp>
      <p:sp>
        <p:nvSpPr>
          <p:cNvPr id="52" name="Shape 50"/>
          <p:cNvSpPr/>
          <p:nvPr/>
        </p:nvSpPr>
        <p:spPr>
          <a:xfrm>
            <a:off x="6172200" y="2944368"/>
            <a:ext cx="45720" cy="402336"/>
          </a:xfrm>
          <a:prstGeom prst="rect">
            <a:avLst/>
          </a:prstGeom>
          <a:solidFill>
            <a:srgbClr val="0891B2"/>
          </a:solidFill>
          <a:ln/>
        </p:spPr>
      </p:sp>
      <p:sp>
        <p:nvSpPr>
          <p:cNvPr id="53" name="Text 51"/>
          <p:cNvSpPr txBox="1"/>
          <p:nvPr/>
        </p:nvSpPr>
        <p:spPr>
          <a:xfrm>
            <a:off x="6336792" y="2926080"/>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Where value comes from</a:t>
            </a:r>
            <a:endParaRPr lang="en-US" sz="860" dirty="0"/>
          </a:p>
        </p:txBody>
      </p:sp>
      <p:sp>
        <p:nvSpPr>
          <p:cNvPr id="54" name="Text 52"/>
          <p:cNvSpPr txBox="1"/>
          <p:nvPr/>
        </p:nvSpPr>
        <p:spPr>
          <a:xfrm>
            <a:off x="6336792" y="3081528"/>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The 10-20-70 split — algorithms, technology, people</a:t>
            </a:r>
            <a:endParaRPr lang="en-US" sz="780" dirty="0"/>
          </a:p>
        </p:txBody>
      </p:sp>
      <p:sp>
        <p:nvSpPr>
          <p:cNvPr id="55" name="Text 53">
            <a:hlinkClick r:id="rId9" tooltip="BCG, AI in customer service operations"/>
          </p:cNvPr>
          <p:cNvSpPr txBox="1"/>
          <p:nvPr/>
        </p:nvSpPr>
        <p:spPr>
          <a:xfrm>
            <a:off x="6336792" y="3227832"/>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9" invalidUrl="" action="" tgtFrame="" tooltip="BCG, AI in customer service operations" history="1" highlightClick="0" endSnd="0">
                  <a:extLst>
                    <a:ext uri="{A12FA001-AC4F-418D-AE19-62706E023703}">
                      <ahyp:hlinkClr xmlns:ahyp="http://schemas.microsoft.com/office/drawing/2018/hyperlinkcolor" val="tx"/>
                    </a:ext>
                  </a:extLst>
                </a:hlinkClick>
              </a:rPr>
              <a:t>BCG, AI in customer service operations</a:t>
            </a:r>
            <a:endParaRPr lang="en-US" sz="780" dirty="0"/>
          </a:p>
        </p:txBody>
      </p:sp>
      <p:sp>
        <p:nvSpPr>
          <p:cNvPr id="56" name="Shape 54"/>
          <p:cNvSpPr/>
          <p:nvPr/>
        </p:nvSpPr>
        <p:spPr>
          <a:xfrm>
            <a:off x="6172200" y="3419856"/>
            <a:ext cx="45720" cy="402336"/>
          </a:xfrm>
          <a:prstGeom prst="rect">
            <a:avLst/>
          </a:prstGeom>
          <a:solidFill>
            <a:srgbClr val="0891B2"/>
          </a:solidFill>
          <a:ln/>
        </p:spPr>
      </p:sp>
      <p:sp>
        <p:nvSpPr>
          <p:cNvPr id="57" name="Text 55"/>
          <p:cNvSpPr txBox="1"/>
          <p:nvPr/>
        </p:nvSpPr>
        <p:spPr>
          <a:xfrm>
            <a:off x="6336792" y="3401568"/>
            <a:ext cx="5486400" cy="173736"/>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Fixing import failures</a:t>
            </a:r>
            <a:endParaRPr lang="en-US" sz="860" dirty="0"/>
          </a:p>
        </p:txBody>
      </p:sp>
      <p:sp>
        <p:nvSpPr>
          <p:cNvPr id="58" name="Text 56"/>
          <p:cNvSpPr txBox="1"/>
          <p:nvPr/>
        </p:nvSpPr>
        <p:spPr>
          <a:xfrm>
            <a:off x="6336792" y="3557016"/>
            <a:ext cx="5486400" cy="173736"/>
          </a:xfrm>
          <a:prstGeom prst="rect">
            <a:avLst/>
          </a:prstGeom>
          <a:noFill/>
          <a:ln/>
        </p:spPr>
        <p:txBody>
          <a:bodyPr wrap="square" lIns="0" tIns="0" rIns="0" bIns="0" rtlCol="0" anchor="ctr"/>
          <a:lstStyle/>
          <a:p>
            <a:pPr indent="0" marL="0">
              <a:buNone/>
            </a:pPr>
            <a:r>
              <a:rPr lang="en-US" sz="780" dirty="0">
                <a:solidFill>
                  <a:srgbClr val="5A5A5A"/>
                </a:solidFill>
                <a:latin typeface="Arial" pitchFamily="34" charset="0"/>
                <a:ea typeface="Arial" pitchFamily="34" charset="-122"/>
                <a:cs typeface="Arial" pitchFamily="34" charset="-120"/>
              </a:rPr>
              <a:t>Retry vs. dead-letter, idempotency keys, alert on rate</a:t>
            </a:r>
            <a:endParaRPr lang="en-US" sz="780" dirty="0"/>
          </a:p>
        </p:txBody>
      </p:sp>
      <p:sp>
        <p:nvSpPr>
          <p:cNvPr id="59" name="Text 57">
            <a:hlinkClick r:id="rId10" tooltip="Dead-letter queues and poison messages"/>
          </p:cNvPr>
          <p:cNvSpPr txBox="1"/>
          <p:nvPr/>
        </p:nvSpPr>
        <p:spPr>
          <a:xfrm>
            <a:off x="6336792" y="3703320"/>
            <a:ext cx="5486400" cy="173736"/>
          </a:xfrm>
          <a:prstGeom prst="rect">
            <a:avLst/>
          </a:prstGeom>
          <a:noFill/>
          <a:ln/>
        </p:spPr>
        <p:txBody>
          <a:bodyPr wrap="square" lIns="0" tIns="0" rIns="0" bIns="0" rtlCol="0" anchor="ctr"/>
          <a:lstStyle/>
          <a:p>
            <a:pPr indent="0" marL="0">
              <a:buNone/>
            </a:pPr>
            <a:r>
              <a:rPr lang="en-US" sz="780" u="sng" dirty="0">
                <a:solidFill>
                  <a:srgbClr val="0B5F8A"/>
                </a:solidFill>
                <a:latin typeface="Arial" pitchFamily="34" charset="0"/>
                <a:ea typeface="Arial" pitchFamily="34" charset="-122"/>
                <a:cs typeface="Arial" pitchFamily="34" charset="-120"/>
                <a:hlinkClick r:id="rId10" invalidUrl="" action="" tgtFrame="" tooltip="Dead-letter queues and poison messages" history="1" highlightClick="0" endSnd="0">
                  <a:extLst>
                    <a:ext uri="{A12FA001-AC4F-418D-AE19-62706E023703}">
                      <ahyp:hlinkClr xmlns:ahyp="http://schemas.microsoft.com/office/drawing/2018/hyperlinkcolor" val="tx"/>
                    </a:ext>
                  </a:extLst>
                </a:hlinkClick>
              </a:rPr>
              <a:t>Dead-letter queues and poison messages</a:t>
            </a:r>
            <a:endParaRPr lang="en-US" sz="780" dirty="0"/>
          </a:p>
        </p:txBody>
      </p:sp>
      <p:sp>
        <p:nvSpPr>
          <p:cNvPr id="60" name="Shape 58"/>
          <p:cNvSpPr/>
          <p:nvPr/>
        </p:nvSpPr>
        <p:spPr>
          <a:xfrm>
            <a:off x="365760" y="3986784"/>
            <a:ext cx="11457432" cy="1152144"/>
          </a:xfrm>
          <a:prstGeom prst="roundRect">
            <a:avLst>
              <a:gd name="adj" fmla="val 4762"/>
            </a:avLst>
          </a:prstGeom>
          <a:solidFill>
            <a:srgbClr val="FDF3E3"/>
          </a:solidFill>
          <a:ln w="15240">
            <a:solidFill>
              <a:srgbClr val="D97706"/>
            </a:solidFill>
            <a:prstDash val="solid"/>
          </a:ln>
        </p:spPr>
      </p:sp>
      <p:sp>
        <p:nvSpPr>
          <p:cNvPr id="61" name="Text 59"/>
          <p:cNvSpPr txBox="1"/>
          <p:nvPr/>
        </p:nvSpPr>
        <p:spPr>
          <a:xfrm>
            <a:off x="548640" y="4087368"/>
            <a:ext cx="11064240" cy="219456"/>
          </a:xfrm>
          <a:prstGeom prst="rect">
            <a:avLst/>
          </a:prstGeom>
          <a:noFill/>
          <a:ln/>
        </p:spPr>
        <p:txBody>
          <a:bodyPr wrap="square" lIns="0" tIns="0" rIns="0" bIns="0" rtlCol="0" anchor="ctr"/>
          <a:lstStyle/>
          <a:p>
            <a:pPr indent="0" marL="0">
              <a:buNone/>
            </a:pPr>
            <a:r>
              <a:rPr lang="en-US" sz="860" b="1" spc="60" kern="0" dirty="0">
                <a:solidFill>
                  <a:srgbClr val="9A5A0A"/>
                </a:solidFill>
                <a:latin typeface="Arial" pitchFamily="34" charset="0"/>
                <a:ea typeface="Arial" pitchFamily="34" charset="-122"/>
                <a:cs typeface="Arial" pitchFamily="34" charset="-120"/>
              </a:rPr>
              <a:t>STILL OUR ASSUMPTIONS — AND THE FIRST THING WE WOULD TEST</a:t>
            </a:r>
            <a:endParaRPr lang="en-US" sz="860" dirty="0"/>
          </a:p>
        </p:txBody>
      </p:sp>
      <p:sp>
        <p:nvSpPr>
          <p:cNvPr id="62" name="Text 60"/>
          <p:cNvSpPr txBox="1"/>
          <p:nvPr/>
        </p:nvSpPr>
        <p:spPr>
          <a:xfrm>
            <a:off x="548640" y="4315968"/>
            <a:ext cx="11064240" cy="749808"/>
          </a:xfrm>
          <a:prstGeom prst="rect">
            <a:avLst/>
          </a:prstGeom>
          <a:noFill/>
          <a:ln/>
        </p:spPr>
        <p:txBody>
          <a:bodyPr wrap="square" lIns="0" tIns="0" rIns="0" bIns="0" rtlCol="0" anchor="ctr"/>
          <a:lstStyle/>
          <a:p>
            <a:pPr indent="0" marL="0">
              <a:lnSpc>
                <a:spcPct val="120000"/>
              </a:lnSpc>
              <a:buNone/>
            </a:pPr>
            <a:r>
              <a:rPr lang="en-US" sz="840" dirty="0">
                <a:solidFill>
                  <a:srgbClr val="44403A"/>
                </a:solidFill>
                <a:latin typeface="Arial" pitchFamily="34" charset="0"/>
                <a:ea typeface="Arial" pitchFamily="34" charset="-122"/>
                <a:cs typeface="Arial" pitchFamily="34" charset="-120"/>
              </a:rPr>
              <a:t>Every per-step minute on slide 9 · the 30% allowance for breaks and interruptions · how often a CPR is missing (30%) or underwriting is asked (25%) · how often the redesign raises an exception (20%) · the tokens a typical claim needs · the €146k build · the 0.25 FTE upkeep.</a:t>
            </a:r>
            <a:endParaRPr lang="en-US" sz="840" dirty="0"/>
          </a:p>
          <a:p>
            <a:pPr indent="0" marL="0">
              <a:lnSpc>
                <a:spcPct val="120000"/>
              </a:lnSpc>
              <a:buNone/>
            </a:pPr>
            <a:endParaRPr lang="en-US" sz="840" dirty="0"/>
          </a:p>
          <a:p>
            <a:pPr indent="0" marL="0">
              <a:lnSpc>
                <a:spcPct val="120000"/>
              </a:lnSpc>
              <a:buNone/>
            </a:pPr>
            <a:r>
              <a:rPr lang="en-US" sz="840" dirty="0">
                <a:solidFill>
                  <a:srgbClr val="44403A"/>
                </a:solidFill>
                <a:latin typeface="Arial" pitchFamily="34" charset="0"/>
                <a:ea typeface="Arial" pitchFamily="34" charset="-122"/>
                <a:cs typeface="Arial" pitchFamily="34" charset="-120"/>
              </a:rPr>
              <a:t>Who does intake is no longer among them — GGW answered it, and every per-person figure in this deck is rebuilt on that answer. Two weeks of watching live intake would replace the rest with measurements.</a:t>
            </a:r>
            <a:endParaRPr lang="en-US" sz="840" dirty="0"/>
          </a:p>
        </p:txBody>
      </p:sp>
      <p:sp>
        <p:nvSpPr>
          <p:cNvPr id="63" name="Shape 61"/>
          <p:cNvSpPr/>
          <p:nvPr/>
        </p:nvSpPr>
        <p:spPr>
          <a:xfrm>
            <a:off x="365760" y="5303520"/>
            <a:ext cx="45720" cy="182880"/>
          </a:xfrm>
          <a:prstGeom prst="rect">
            <a:avLst/>
          </a:prstGeom>
          <a:solidFill>
            <a:srgbClr val="BE185D"/>
          </a:solidFill>
          <a:ln/>
        </p:spPr>
      </p:sp>
      <p:sp>
        <p:nvSpPr>
          <p:cNvPr id="64" name="Text 62"/>
          <p:cNvSpPr txBox="1"/>
          <p:nvPr/>
        </p:nvSpPr>
        <p:spPr>
          <a:xfrm>
            <a:off x="530352" y="5285232"/>
            <a:ext cx="2926080" cy="219456"/>
          </a:xfrm>
          <a:prstGeom prst="rect">
            <a:avLst/>
          </a:prstGeom>
          <a:noFill/>
          <a:ln/>
        </p:spPr>
        <p:txBody>
          <a:bodyPr wrap="square" lIns="0" tIns="0" rIns="0" bIns="0" rtlCol="0" anchor="ctr"/>
          <a:lstStyle/>
          <a:p>
            <a:pPr indent="0" marL="0">
              <a:buNone/>
            </a:pPr>
            <a:r>
              <a:rPr lang="en-US" sz="760" dirty="0">
                <a:solidFill>
                  <a:srgbClr val="BE185D"/>
                </a:solidFill>
                <a:latin typeface="Arial" pitchFamily="34" charset="0"/>
                <a:ea typeface="Arial" pitchFamily="34" charset="-122"/>
                <a:cs typeface="Arial" pitchFamily="34" charset="-120"/>
              </a:rPr>
              <a:t>confirmed by GGW or stated in the brief</a:t>
            </a:r>
            <a:endParaRPr lang="en-US" sz="760" dirty="0"/>
          </a:p>
        </p:txBody>
      </p:sp>
      <p:sp>
        <p:nvSpPr>
          <p:cNvPr id="65" name="Shape 63"/>
          <p:cNvSpPr/>
          <p:nvPr/>
        </p:nvSpPr>
        <p:spPr>
          <a:xfrm>
            <a:off x="3657600" y="5303520"/>
            <a:ext cx="45720" cy="182880"/>
          </a:xfrm>
          <a:prstGeom prst="rect">
            <a:avLst/>
          </a:prstGeom>
          <a:solidFill>
            <a:srgbClr val="0891B2"/>
          </a:solidFill>
          <a:ln/>
        </p:spPr>
      </p:sp>
      <p:sp>
        <p:nvSpPr>
          <p:cNvPr id="66" name="Text 64"/>
          <p:cNvSpPr txBox="1"/>
          <p:nvPr/>
        </p:nvSpPr>
        <p:spPr>
          <a:xfrm>
            <a:off x="3822192" y="5285232"/>
            <a:ext cx="2926080" cy="219456"/>
          </a:xfrm>
          <a:prstGeom prst="rect">
            <a:avLst/>
          </a:prstGeom>
          <a:noFill/>
          <a:ln/>
        </p:spPr>
        <p:txBody>
          <a:bodyPr wrap="square" lIns="0" tIns="0" rIns="0" bIns="0" rtlCol="0" anchor="ctr"/>
          <a:lstStyle/>
          <a:p>
            <a:pPr indent="0" marL="0">
              <a:buNone/>
            </a:pPr>
            <a:r>
              <a:rPr lang="en-US" sz="760" dirty="0">
                <a:solidFill>
                  <a:srgbClr val="0891B2"/>
                </a:solidFill>
                <a:latin typeface="Arial" pitchFamily="34" charset="0"/>
                <a:ea typeface="Arial" pitchFamily="34" charset="-122"/>
                <a:cs typeface="Arial" pitchFamily="34" charset="-120"/>
              </a:rPr>
              <a:t>published source, linked</a:t>
            </a:r>
            <a:endParaRPr lang="en-US" sz="760" dirty="0"/>
          </a:p>
        </p:txBody>
      </p:sp>
      <p:sp>
        <p:nvSpPr>
          <p:cNvPr id="67" name="Text 65"/>
          <p:cNvSpPr txBox="1"/>
          <p:nvPr/>
        </p:nvSpPr>
        <p:spPr>
          <a:xfrm>
            <a:off x="365760" y="5650992"/>
            <a:ext cx="11430000" cy="237744"/>
          </a:xfrm>
          <a:prstGeom prst="rect">
            <a:avLst/>
          </a:prstGeom>
          <a:noFill/>
          <a:ln/>
        </p:spPr>
        <p:txBody>
          <a:bodyPr wrap="square" lIns="0" tIns="0" rIns="0" bIns="0" rtlCol="0" anchor="ctr"/>
          <a:lstStyle/>
          <a:p>
            <a:pPr indent="0" marL="0">
              <a:buNone/>
            </a:pPr>
            <a:r>
              <a:rPr lang="en-US" sz="700" dirty="0">
                <a:solidFill>
                  <a:srgbClr val="5B6472"/>
                </a:solidFill>
                <a:latin typeface="Arial" pitchFamily="34" charset="0"/>
                <a:ea typeface="Arial" pitchFamily="34" charset="-122"/>
                <a:cs typeface="Arial" pitchFamily="34" charset="-120"/>
              </a:rPr>
              <a:t>Prices checked September 2026 · US$ converted at €0.92 · every euro figure is fully loaded — gross pay plus employer contributions</a:t>
            </a:r>
            <a:endParaRPr lang="en-US" sz="700" dirty="0"/>
          </a:p>
        </p:txBody>
      </p:sp>
      <p:sp>
        <p:nvSpPr>
          <p:cNvPr id="68" name="Text 66"/>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69" name="Text 67"/>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10 / 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FNOL — Today vs. AI-Native, in three parts</dc:title>
  <dc:subject>PptxGenJS Presentation</dc:subject>
  <dc:creator>GGW Case Study</dc:creator>
  <cp:lastModifiedBy>GGW Case Study</cp:lastModifiedBy>
  <cp:revision>1</cp:revision>
  <dcterms:created xsi:type="dcterms:W3CDTF">2026-09-09T14:57:23Z</dcterms:created>
  <dcterms:modified xsi:type="dcterms:W3CDTF">2026-09-09T14:57:23Z</dcterms:modified>
</cp:coreProperties>
</file>