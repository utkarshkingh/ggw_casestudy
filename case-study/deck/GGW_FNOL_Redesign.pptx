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stepstone.de/gehalt/Schadenregulierer-in.html" TargetMode="External"/><Relationship Id="rId2" Type="http://schemas.openxmlformats.org/officeDocument/2006/relationships/hyperlink" Target="https://sevdesk.de/ratgeber/buchhaltung-finanzen/lohnbuchhaltung/lohnnebenkosten/" TargetMode="External"/><Relationship Id="rId3" Type="http://schemas.openxmlformats.org/officeDocument/2006/relationships/hyperlink" Target="https://www.gesetze-im-internet.de/arbzg/__4.html" TargetMode="External"/><Relationship Id="rId4" Type="http://schemas.openxmlformats.org/officeDocument/2006/relationships/hyperlink" Target="https://openai.com/api/pricing/" TargetMode="External"/><Relationship Id="rId5" Type="http://schemas.openxmlformats.org/officeDocument/2006/relationships/hyperlink" Target="https://azure.microsoft.com/en-us/pricing/details/container-apps/" TargetMode="External"/><Relationship Id="rId6" Type="http://schemas.openxmlformats.org/officeDocument/2006/relationships/hyperlink" Target="https://azure.microsoft.com/en-us/pricing/details/postgresql/flexible-server/" TargetMode="External"/><Relationship Id="rId7" Type="http://schemas.openxmlformats.org/officeDocument/2006/relationships/hyperlink" Target="https://www.glassdoor.com/Salaries/germany-machine-learning-engineer-salary-SRCH_IL.0,7_IN96_KO8,33.htm" TargetMode="External"/><Relationship Id="rId8" Type="http://schemas.openxmlformats.org/officeDocument/2006/relationships/hyperlink" Target="https://www.decerto.com/us/post/ai-claims-decisioning-framework-2026-what-us-claims-leaders-told-us-about-how-decisions-actually-get-made" TargetMode="External"/><Relationship Id="rId9" Type="http://schemas.openxmlformats.org/officeDocument/2006/relationships/hyperlink" Target="https://www.bcg.com/publications/2024/transforming-customer-service-operations-with-genai" TargetMode="External"/><Relationship Id="rId10" Type="http://schemas.openxmlformats.org/officeDocument/2006/relationships/hyperlink" Target="https://www.glukhov.org/app-architecture/integration-patterns/dead-letter-queues/" TargetMode="Externa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0B3B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60704"/>
            <a:ext cx="12191695" cy="457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778240" y="155448"/>
            <a:ext cx="2953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60" kern="0" dirty="0">
                <a:solidFill>
                  <a:srgbClr val="7FB3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7160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Redesigning intake releases 17.5 handler-hours a day — the capacity of 2.8 full-time people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576072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C9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thirds of that work goes to claims that were always going to close quietly · a person still decides anything that can go against a claimant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3429000" cy="2487168"/>
          </a:xfrm>
          <a:prstGeom prst="roundRect">
            <a:avLst>
              <a:gd name="adj" fmla="val 2206"/>
            </a:avLst>
          </a:prstGeom>
          <a:solidFill>
            <a:srgbClr val="FDF3E3"/>
          </a:solidFill>
          <a:ln w="13970">
            <a:solidFill>
              <a:srgbClr val="D9770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1463040"/>
            <a:ext cx="3026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88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1728216"/>
            <a:ext cx="3026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one claim costs one handler today, start to finish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2112264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pPr indent="0" marL="0">
              <a:buNone/>
            </a:pPr>
            <a:r>
              <a:rPr lang="en-US" sz="1200" dirty="0">
                <a:solidFill>
                  <a:srgbClr val="6B62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minutes per claim</a:t>
            </a:r>
            <a:endParaRPr lang="en-US" sz="42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697480"/>
            <a:ext cx="302666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840" dirty="0">
                <a:solidFill>
                  <a:srgbClr val="44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Reading and re-reading the report, opening attachments, chasing a missing CPR, switching between EASY, IDB, e-mail and paper. Plus 30% for breaks and interruptions.</a:t>
            </a:r>
            <a:endParaRPr lang="en-US" sz="840" dirty="0"/>
          </a:p>
        </p:txBody>
      </p:sp>
      <p:sp>
        <p:nvSpPr>
          <p:cNvPr id="12" name="Shape 10"/>
          <p:cNvSpPr/>
          <p:nvPr/>
        </p:nvSpPr>
        <p:spPr>
          <a:xfrm>
            <a:off x="4160520" y="1325880"/>
            <a:ext cx="3429000" cy="2487168"/>
          </a:xfrm>
          <a:prstGeom prst="roundRect">
            <a:avLst>
              <a:gd name="adj" fmla="val 2206"/>
            </a:avLst>
          </a:prstGeom>
          <a:solidFill>
            <a:srgbClr val="E4F4F8"/>
          </a:solidFill>
          <a:ln w="13970">
            <a:solidFill>
              <a:srgbClr val="0891B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61688" y="1463040"/>
            <a:ext cx="3026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REDESIGNED</a:t>
            </a:r>
            <a:endParaRPr lang="en-US" sz="880" dirty="0"/>
          </a:p>
        </p:txBody>
      </p:sp>
      <p:sp>
        <p:nvSpPr>
          <p:cNvPr id="14" name="Text 12"/>
          <p:cNvSpPr txBox="1"/>
          <p:nvPr/>
        </p:nvSpPr>
        <p:spPr>
          <a:xfrm>
            <a:off x="4361688" y="1728216"/>
            <a:ext cx="3026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344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checks and the same exits — reordered, some reassigned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4361688" y="2112264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89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pPr indent="0" marL="0">
              <a:buNone/>
            </a:pPr>
            <a:r>
              <a:rPr lang="en-US" sz="1200" dirty="0">
                <a:solidFill>
                  <a:srgbClr val="5A6E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minutes per claim</a:t>
            </a:r>
            <a:endParaRPr lang="en-US" sz="4200" dirty="0"/>
          </a:p>
        </p:txBody>
      </p:sp>
      <p:sp>
        <p:nvSpPr>
          <p:cNvPr id="16" name="Text 14"/>
          <p:cNvSpPr txBox="1"/>
          <p:nvPr/>
        </p:nvSpPr>
        <p:spPr>
          <a:xfrm>
            <a:off x="4361688" y="2697480"/>
            <a:ext cx="302666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840" dirty="0">
                <a:solidFill>
                  <a:srgbClr val="344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52% cut, not the 75% the design allows: handlers will re-check drafts before they trust them. Four AI agents, one rules-only step, two human checkpoints.</a:t>
            </a:r>
            <a:endParaRPr lang="en-US" sz="840" dirty="0"/>
          </a:p>
        </p:txBody>
      </p:sp>
      <p:sp>
        <p:nvSpPr>
          <p:cNvPr id="17" name="Shape 15"/>
          <p:cNvSpPr/>
          <p:nvPr/>
        </p:nvSpPr>
        <p:spPr>
          <a:xfrm>
            <a:off x="7863840" y="1325880"/>
            <a:ext cx="3867912" cy="2487168"/>
          </a:xfrm>
          <a:prstGeom prst="roundRect">
            <a:avLst>
              <a:gd name="adj" fmla="val 2206"/>
            </a:avLst>
          </a:prstGeom>
          <a:solidFill>
            <a:srgbClr val="EDECFB"/>
          </a:solidFill>
          <a:ln w="13970">
            <a:solidFill>
              <a:srgbClr val="4338C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065008" y="1463040"/>
            <a:ext cx="3465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EFFORT ACTUALLY GOES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8065008" y="1746504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193024" y="170992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5%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8887968" y="1700784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and machines</a:t>
            </a:r>
            <a:endParaRPr lang="en-US" sz="930" dirty="0"/>
          </a:p>
        </p:txBody>
      </p:sp>
      <p:sp>
        <p:nvSpPr>
          <p:cNvPr id="22" name="Text 20"/>
          <p:cNvSpPr txBox="1"/>
          <p:nvPr/>
        </p:nvSpPr>
        <p:spPr>
          <a:xfrm>
            <a:off x="8887968" y="1911096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€0.08 a claim · €2,400 a year</a:t>
            </a:r>
            <a:endParaRPr lang="en-US" sz="820" dirty="0"/>
          </a:p>
        </p:txBody>
      </p:sp>
      <p:sp>
        <p:nvSpPr>
          <p:cNvPr id="23" name="Shape 21"/>
          <p:cNvSpPr/>
          <p:nvPr/>
        </p:nvSpPr>
        <p:spPr>
          <a:xfrm>
            <a:off x="8065008" y="2350008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193024" y="231343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25%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8887968" y="2304288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Plumbing and audit trail</a:t>
            </a:r>
            <a:endParaRPr lang="en-US" sz="930" dirty="0"/>
          </a:p>
        </p:txBody>
      </p:sp>
      <p:sp>
        <p:nvSpPr>
          <p:cNvPr id="26" name="Text 24"/>
          <p:cNvSpPr txBox="1"/>
          <p:nvPr/>
        </p:nvSpPr>
        <p:spPr>
          <a:xfrm>
            <a:off x="8887968" y="2514600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EASY/IDB wiring, logging every decision</a:t>
            </a:r>
            <a:endParaRPr lang="en-US" sz="820" dirty="0"/>
          </a:p>
        </p:txBody>
      </p:sp>
      <p:sp>
        <p:nvSpPr>
          <p:cNvPr id="27" name="Shape 25"/>
          <p:cNvSpPr/>
          <p:nvPr/>
        </p:nvSpPr>
        <p:spPr>
          <a:xfrm>
            <a:off x="8065008" y="2953512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193024" y="291693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70%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8887968" y="2907792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Process, training, trust</a:t>
            </a:r>
            <a:endParaRPr lang="en-US" sz="930" dirty="0"/>
          </a:p>
        </p:txBody>
      </p:sp>
      <p:sp>
        <p:nvSpPr>
          <p:cNvPr id="30" name="Text 28"/>
          <p:cNvSpPr txBox="1"/>
          <p:nvPr/>
        </p:nvSpPr>
        <p:spPr>
          <a:xfrm>
            <a:off x="8887968" y="3118104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adoption is the real schedule risk</a:t>
            </a:r>
            <a:endParaRPr lang="en-US" sz="820" dirty="0"/>
          </a:p>
        </p:txBody>
      </p:sp>
      <p:sp>
        <p:nvSpPr>
          <p:cNvPr id="31" name="Text 29"/>
          <p:cNvSpPr txBox="1"/>
          <p:nvPr/>
        </p:nvSpPr>
        <p:spPr>
          <a:xfrm>
            <a:off x="8065008" y="3557016"/>
            <a:ext cx="3465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i="1" dirty="0">
                <a:solidFill>
                  <a:srgbClr val="5A5A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Follows BCG's 10-20-70 rule, adjusted for this process</a:t>
            </a:r>
            <a:endParaRPr lang="en-US" sz="740" dirty="0"/>
          </a:p>
        </p:txBody>
      </p:sp>
      <p:sp>
        <p:nvSpPr>
          <p:cNvPr id="32" name="Shape 30"/>
          <p:cNvSpPr/>
          <p:nvPr/>
        </p:nvSpPr>
        <p:spPr>
          <a:xfrm>
            <a:off x="457200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D9770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21792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17.5 h</a:t>
            </a:r>
            <a:endParaRPr lang="en-US" sz="2000" dirty="0"/>
          </a:p>
        </p:txBody>
      </p:sp>
      <p:sp>
        <p:nvSpPr>
          <p:cNvPr id="34" name="Text 32"/>
          <p:cNvSpPr txBox="1"/>
          <p:nvPr/>
        </p:nvSpPr>
        <p:spPr>
          <a:xfrm>
            <a:off x="621792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handler-hours freed every working day, across the claims team</a:t>
            </a:r>
            <a:endParaRPr lang="en-US" sz="840" dirty="0"/>
          </a:p>
        </p:txBody>
      </p:sp>
      <p:sp>
        <p:nvSpPr>
          <p:cNvPr id="35" name="Shape 33"/>
          <p:cNvSpPr/>
          <p:nvPr/>
        </p:nvSpPr>
        <p:spPr>
          <a:xfrm>
            <a:off x="3340303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0891B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504895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89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2.8 FTE</a:t>
            </a:r>
            <a:endParaRPr lang="en-US" sz="2000" dirty="0"/>
          </a:p>
        </p:txBody>
      </p:sp>
      <p:sp>
        <p:nvSpPr>
          <p:cNvPr id="37" name="Text 35"/>
          <p:cNvSpPr txBox="1"/>
          <p:nvPr/>
        </p:nvSpPr>
        <p:spPr>
          <a:xfrm>
            <a:off x="3504895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capacity, expressed as full-time people</a:t>
            </a:r>
            <a:endParaRPr lang="en-US" sz="840" dirty="0"/>
          </a:p>
        </p:txBody>
      </p:sp>
      <p:sp>
        <p:nvSpPr>
          <p:cNvPr id="38" name="Shape 36"/>
          <p:cNvSpPr/>
          <p:nvPr/>
        </p:nvSpPr>
        <p:spPr>
          <a:xfrm>
            <a:off x="6223406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BE185D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387998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E18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€153k</a:t>
            </a:r>
            <a:endParaRPr lang="en-US" sz="2000" dirty="0"/>
          </a:p>
        </p:txBody>
      </p:sp>
      <p:sp>
        <p:nvSpPr>
          <p:cNvPr id="40" name="Text 38"/>
          <p:cNvSpPr txBox="1"/>
          <p:nvPr/>
        </p:nvSpPr>
        <p:spPr>
          <a:xfrm>
            <a:off x="6387998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of that capacity, per year</a:t>
            </a:r>
            <a:endParaRPr lang="en-US" sz="840" dirty="0"/>
          </a:p>
        </p:txBody>
      </p:sp>
      <p:sp>
        <p:nvSpPr>
          <p:cNvPr id="41" name="Shape 39"/>
          <p:cNvSpPr/>
          <p:nvPr/>
        </p:nvSpPr>
        <p:spPr>
          <a:xfrm>
            <a:off x="9106510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4338C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271102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 mths</a:t>
            </a:r>
            <a:endParaRPr lang="en-US" sz="2000" dirty="0"/>
          </a:p>
        </p:txBody>
      </p:sp>
      <p:sp>
        <p:nvSpPr>
          <p:cNvPr id="43" name="Text 41"/>
          <p:cNvSpPr txBox="1"/>
          <p:nvPr/>
        </p:nvSpPr>
        <p:spPr>
          <a:xfrm>
            <a:off x="9271102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pay back the one-off build of €146k</a:t>
            </a:r>
            <a:endParaRPr lang="en-US" sz="840" dirty="0"/>
          </a:p>
        </p:txBody>
      </p:sp>
      <p:sp>
        <p:nvSpPr>
          <p:cNvPr id="44" name="Shape 42"/>
          <p:cNvSpPr/>
          <p:nvPr/>
        </p:nvSpPr>
        <p:spPr>
          <a:xfrm>
            <a:off x="457200" y="5047488"/>
            <a:ext cx="56235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21792" y="5047488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“€153k” means:  </a:t>
            </a:r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4,370 handler-hours a year × €34.92, the real cost of one handler-hour. This is capacity, not cash. It becomes money only if the hours go to the backlog or are absorbed by turnover — and only if intake sits with a small team, not spread thinly across all 30 (slide 6).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6263640" y="5047488"/>
            <a:ext cx="5468112" cy="914400"/>
          </a:xfrm>
          <a:prstGeom prst="roundRect">
            <a:avLst>
              <a:gd name="adj" fmla="val 6000"/>
            </a:avLst>
          </a:prstGeom>
          <a:solidFill>
            <a:srgbClr val="FBE9F1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428232" y="5047488"/>
            <a:ext cx="51389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what:  </a:t>
            </a:r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3A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is not what decides this. The AI costs €2,400 a year to run; keeping it healthy takes a quarter of an engineer, €24,400 — so €26,800 a year all in, against €152,600 of capacity released. What decides it is governance: proving a person reviewed anything that can go against a claimant, and whether handlers trust the drafts.</a:t>
            </a:r>
            <a:endParaRPr lang="en-US" sz="850" dirty="0"/>
          </a:p>
        </p:txBody>
      </p:sp>
      <p:sp>
        <p:nvSpPr>
          <p:cNvPr id="48" name="Text 46"/>
          <p:cNvSpPr txBox="1"/>
          <p:nvPr/>
        </p:nvSpPr>
        <p:spPr>
          <a:xfrm>
            <a:off x="457200" y="6053328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Conservative throughout: the 21-minute-per-claim saving is a three-point estimate (best 30 / likely 21 / worst 12), not the design maximum. Build-up on slide 6, sources on slide 7.</a:t>
            </a:r>
            <a:endParaRPr lang="en-US" sz="760" dirty="0"/>
          </a:p>
        </p:txBody>
      </p:sp>
      <p:sp>
        <p:nvSpPr>
          <p:cNvPr id="49" name="Text 47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50" name="Text 48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7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in and a separate side-track diagram become one classified intake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as it runs today (left) against the redesign (right) · first report to an opened, policy-linked claim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1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6F8F7"/>
          </a:solidFill>
          <a:ln w="12700">
            <a:solidFill>
              <a:srgbClr val="007A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/ start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6916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5B7D8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928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/ decision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063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CEFD6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64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/ rework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8920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DF7DB"/>
          </a:solidFill>
          <a:ln w="12700">
            <a:solidFill>
              <a:srgbClr val="6FA0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932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3093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3EDF6"/>
          </a:solidFill>
          <a:ln w="12700">
            <a:solidFill>
              <a:srgbClr val="3B6FA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05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(LLM call)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0924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936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only, no model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921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1E6ED"/>
          </a:solidFill>
          <a:ln w="12700">
            <a:solidFill>
              <a:srgbClr val="7A4A6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122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checkpoint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one LangGraph state graph · shared claim state carries the audit trail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7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1005840" y="1417320"/>
            <a:ext cx="4206240" cy="378079"/>
          </a:xfrm>
          <a:prstGeom prst="roundRect">
            <a:avLst>
              <a:gd name="adj" fmla="val 9674"/>
            </a:avLst>
          </a:prstGeom>
          <a:solidFill>
            <a:srgbClr val="E6F8F7"/>
          </a:solidFill>
          <a:ln w="15875">
            <a:solidFill>
              <a:srgbClr val="007A8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report filed</a:t>
            </a:r>
            <a:endParaRPr lang="en-US" sz="9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(employer almost always; sometimes union or injured)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108960" y="1783080"/>
            <a:ext cx="0" cy="36576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40280" y="214884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Channel?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977640" y="246888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251960" y="203263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to AES, secure mail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4251960" y="225209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AES already gathered the info — insurer only re-checks coverage</a:t>
            </a:r>
            <a:endParaRPr lang="en-US" sz="760" dirty="0"/>
          </a:p>
        </p:txBody>
      </p:sp>
      <p:sp>
        <p:nvSpPr>
          <p:cNvPr id="30" name="Shape 28"/>
          <p:cNvSpPr/>
          <p:nvPr/>
        </p:nvSpPr>
        <p:spPr>
          <a:xfrm flipH="1">
            <a:off x="1965960" y="246888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411480" y="208521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Teeth/glasses: 'tooth' · email + invoices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502920" y="230466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dash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 track — not PD/LOEC, see 1.1</a:t>
            </a:r>
            <a:endParaRPr lang="en-US" sz="780" dirty="0"/>
          </a:p>
        </p:txBody>
      </p:sp>
      <p:sp>
        <p:nvSpPr>
          <p:cNvPr id="33" name="Text 31"/>
          <p:cNvSpPr txBox="1"/>
          <p:nvPr/>
        </p:nvSpPr>
        <p:spPr>
          <a:xfrm>
            <a:off x="3218688" y="279806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 / IDB auto-import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3108960" y="2788920"/>
            <a:ext cx="0" cy="45720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2240280" y="32461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Auto-import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worked?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 flipH="1">
            <a:off x="1965960" y="35661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411480" y="3234341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502920" y="3453797"/>
            <a:ext cx="1463040" cy="224727"/>
          </a:xfrm>
          <a:prstGeom prst="roundRect">
            <a:avLst>
              <a:gd name="adj" fmla="val 16276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claim creation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1965960" y="3678523"/>
            <a:ext cx="1143000" cy="481997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0" name="Text 38"/>
          <p:cNvSpPr txBox="1"/>
          <p:nvPr/>
        </p:nvSpPr>
        <p:spPr>
          <a:xfrm>
            <a:off x="3218688" y="39136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108960" y="3886200"/>
            <a:ext cx="0" cy="4114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5715000" y="2685669"/>
            <a:ext cx="0" cy="1593723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 flipH="1">
            <a:off x="3108960" y="4279392"/>
            <a:ext cx="260604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4" name="Text 42"/>
          <p:cNvSpPr txBox="1"/>
          <p:nvPr/>
        </p:nvSpPr>
        <p:spPr>
          <a:xfrm>
            <a:off x="1645920" y="438912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2 · Data / Policy / Duplicate checks</a:t>
            </a:r>
            <a:endParaRPr lang="en-US" sz="830" dirty="0"/>
          </a:p>
        </p:txBody>
      </p:sp>
      <p:sp>
        <p:nvSpPr>
          <p:cNvPr id="45" name="Text 43"/>
          <p:cNvSpPr txBox="1"/>
          <p:nvPr/>
        </p:nvSpPr>
        <p:spPr>
          <a:xfrm>
            <a:off x="6583680" y="1417320"/>
            <a:ext cx="4937760" cy="239332"/>
          </a:xfrm>
          <a:prstGeom prst="roundRect">
            <a:avLst>
              <a:gd name="adj" fmla="val 15283"/>
            </a:avLst>
          </a:prstGeom>
          <a:solidFill>
            <a:srgbClr val="E6F8F7"/>
          </a:solidFill>
          <a:ln w="15875">
            <a:solidFill>
              <a:srgbClr val="007A8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arrives — any channel, any format (EASY, AES secure mail, email)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9052560" y="1783080"/>
            <a:ext cx="0" cy="36576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7" name="Text 45"/>
          <p:cNvSpPr txBox="1"/>
          <p:nvPr/>
        </p:nvSpPr>
        <p:spPr>
          <a:xfrm>
            <a:off x="6583680" y="2148840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any channel/format · extracts structured fields · matches CPR / CVR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9052560" y="2687574"/>
            <a:ext cx="0" cy="1828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9" name="Text 47"/>
          <p:cNvSpPr txBox="1"/>
          <p:nvPr/>
        </p:nvSpPr>
        <p:spPr>
          <a:xfrm>
            <a:off x="6583680" y="2870454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labels claim type (standard, teeth, glasses, violence-cover) with a confidence score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9052560" y="3409188"/>
            <a:ext cx="0" cy="3200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1" name="Text 49"/>
          <p:cNvSpPr txBox="1"/>
          <p:nvPr/>
        </p:nvSpPr>
        <p:spPr>
          <a:xfrm>
            <a:off x="8183880" y="3729228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 ≥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threshold?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10058400" y="3838956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 starts strict, loosens as override-rate data accumulates</a:t>
            </a:r>
            <a:endParaRPr lang="en-US" sz="720" dirty="0"/>
          </a:p>
        </p:txBody>
      </p:sp>
      <p:sp>
        <p:nvSpPr>
          <p:cNvPr id="53" name="Shape 51"/>
          <p:cNvSpPr/>
          <p:nvPr/>
        </p:nvSpPr>
        <p:spPr>
          <a:xfrm flipH="1">
            <a:off x="7909560" y="4049268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4" name="Text 52"/>
          <p:cNvSpPr txBox="1"/>
          <p:nvPr/>
        </p:nvSpPr>
        <p:spPr>
          <a:xfrm>
            <a:off x="6355080" y="3608641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55" name="Text 53"/>
          <p:cNvSpPr txBox="1"/>
          <p:nvPr/>
        </p:nvSpPr>
        <p:spPr>
          <a:xfrm>
            <a:off x="6446520" y="3828097"/>
            <a:ext cx="1463040" cy="442341"/>
          </a:xfrm>
          <a:prstGeom prst="roundRect">
            <a:avLst>
              <a:gd name="adj" fmla="val 8269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Falls back to today's manual queue — never silently wrong</a:t>
            </a:r>
            <a:endParaRPr lang="en-US" sz="780" dirty="0"/>
          </a:p>
        </p:txBody>
      </p:sp>
      <p:sp>
        <p:nvSpPr>
          <p:cNvPr id="56" name="Text 54"/>
          <p:cNvSpPr txBox="1"/>
          <p:nvPr/>
        </p:nvSpPr>
        <p:spPr>
          <a:xfrm>
            <a:off x="9162288" y="439674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9052560" y="4369308"/>
            <a:ext cx="0" cy="4114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8" name="Text 56"/>
          <p:cNvSpPr txBox="1"/>
          <p:nvPr/>
        </p:nvSpPr>
        <p:spPr>
          <a:xfrm>
            <a:off x="7589520" y="48539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2 · Parallel Validation</a:t>
            </a:r>
            <a:endParaRPr lang="en-US" sz="830" dirty="0"/>
          </a:p>
        </p:txBody>
      </p:sp>
      <p:sp>
        <p:nvSpPr>
          <p:cNvPr id="59" name="Shape 57"/>
          <p:cNvSpPr/>
          <p:nvPr/>
        </p:nvSpPr>
        <p:spPr>
          <a:xfrm>
            <a:off x="6400800" y="5146548"/>
            <a:ext cx="5303520" cy="566928"/>
          </a:xfrm>
          <a:prstGeom prst="roundRect">
            <a:avLst>
              <a:gd name="adj" fmla="val 8065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537960" y="5146548"/>
            <a:ext cx="5029200" cy="5669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two agents together replace 3 entry channels, the auto-import failure path, and the entire 1.1 side-track diagram.</a:t>
            </a:r>
            <a:endParaRPr lang="en-US" sz="86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checks done one after another become one check done all at once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it complete, linked to the right policy, and not already in the system? None of the three depends on the others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2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6F8F7"/>
          </a:solidFill>
          <a:ln w="12700">
            <a:solidFill>
              <a:srgbClr val="007A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/ start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6916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5B7D8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928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/ decision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063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CEFD6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64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/ rework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8920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DF7DB"/>
          </a:solidFill>
          <a:ln w="12700">
            <a:solidFill>
              <a:srgbClr val="6FA0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932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3093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3EDF6"/>
          </a:solidFill>
          <a:ln w="12700">
            <a:solidFill>
              <a:srgbClr val="3B6FA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05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(LLM call)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0924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936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only, no model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921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1E6ED"/>
          </a:solidFill>
          <a:ln w="12700">
            <a:solidFill>
              <a:srgbClr val="7A4A6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122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checkpoint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one LangGraph state graph · shared claim state carries the audit trail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7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16459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1</a:t>
            </a:r>
            <a:endParaRPr lang="en-US" sz="830" dirty="0"/>
          </a:p>
        </p:txBody>
      </p:sp>
      <p:sp>
        <p:nvSpPr>
          <p:cNvPr id="25" name="Shape 23"/>
          <p:cNvSpPr/>
          <p:nvPr/>
        </p:nvSpPr>
        <p:spPr>
          <a:xfrm>
            <a:off x="31089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40280" y="1645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correct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complete?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 flipH="1">
            <a:off x="1965960" y="1965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11480" y="158229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 CPR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502920" y="180174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/ fill fields (via questionnaire)</a:t>
            </a:r>
            <a:endParaRPr lang="en-US" sz="780" dirty="0"/>
          </a:p>
        </p:txBody>
      </p:sp>
      <p:sp>
        <p:nvSpPr>
          <p:cNvPr id="30" name="Shape 28"/>
          <p:cNvSpPr/>
          <p:nvPr/>
        </p:nvSpPr>
        <p:spPr>
          <a:xfrm>
            <a:off x="1965960" y="2130171"/>
            <a:ext cx="1143000" cy="521589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3218688" y="22402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108960" y="2212848"/>
            <a:ext cx="0" cy="43891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2240280" y="265176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policy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attached?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 flipH="1">
            <a:off x="1965960" y="297180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411480" y="2643632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/ old policy</a:t>
            </a:r>
            <a:endParaRPr lang="en-US" sz="800" dirty="0"/>
          </a:p>
        </p:txBody>
      </p:sp>
      <p:sp>
        <p:nvSpPr>
          <p:cNvPr id="36" name="Text 34"/>
          <p:cNvSpPr txBox="1"/>
          <p:nvPr/>
        </p:nvSpPr>
        <p:spPr>
          <a:xfrm>
            <a:off x="502920" y="2863088"/>
            <a:ext cx="1463040" cy="217424"/>
          </a:xfrm>
          <a:prstGeom prst="roundRect">
            <a:avLst>
              <a:gd name="adj" fmla="val 16822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0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Reattach correct policy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965960" y="3080512"/>
            <a:ext cx="1143000" cy="6502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3977640" y="297180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4251960" y="258813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valid policy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4251960" y="280758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 to employer: correct insurer</a:t>
            </a:r>
            <a:endParaRPr lang="en-US" sz="780" dirty="0"/>
          </a:p>
        </p:txBody>
      </p:sp>
      <p:sp>
        <p:nvSpPr>
          <p:cNvPr id="41" name="Text 39"/>
          <p:cNvSpPr txBox="1"/>
          <p:nvPr/>
        </p:nvSpPr>
        <p:spPr>
          <a:xfrm>
            <a:off x="3218688" y="331927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108960" y="3291840"/>
            <a:ext cx="0" cy="43891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2240280" y="3730752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Earlier or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duplicate?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 flipH="1">
            <a:off x="1965960" y="4050792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5" name="Text 43"/>
          <p:cNvSpPr txBox="1"/>
          <p:nvPr/>
        </p:nvSpPr>
        <p:spPr>
          <a:xfrm>
            <a:off x="411480" y="366712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502920" y="3886581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Dedup / connect same-CPR claims</a:t>
            </a:r>
            <a:endParaRPr lang="en-US" sz="780" dirty="0"/>
          </a:p>
        </p:txBody>
      </p:sp>
      <p:sp>
        <p:nvSpPr>
          <p:cNvPr id="47" name="Shape 45"/>
          <p:cNvSpPr/>
          <p:nvPr/>
        </p:nvSpPr>
        <p:spPr>
          <a:xfrm>
            <a:off x="1965960" y="4215003"/>
            <a:ext cx="1143000" cy="631317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8" name="Text 46"/>
          <p:cNvSpPr txBox="1"/>
          <p:nvPr/>
        </p:nvSpPr>
        <p:spPr>
          <a:xfrm>
            <a:off x="3218688" y="439826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3108960" y="4370832"/>
            <a:ext cx="0" cy="47548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0" name="Text 48"/>
          <p:cNvSpPr txBox="1"/>
          <p:nvPr/>
        </p:nvSpPr>
        <p:spPr>
          <a:xfrm>
            <a:off x="1645920" y="4937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3 · Escalation &amp; Close-Out</a:t>
            </a:r>
            <a:endParaRPr lang="en-US" sz="830" dirty="0"/>
          </a:p>
        </p:txBody>
      </p:sp>
      <p:sp>
        <p:nvSpPr>
          <p:cNvPr id="51" name="Text 49"/>
          <p:cNvSpPr txBox="1"/>
          <p:nvPr/>
        </p:nvSpPr>
        <p:spPr>
          <a:xfrm>
            <a:off x="75895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1</a:t>
            </a:r>
            <a:endParaRPr lang="en-US" sz="830" dirty="0"/>
          </a:p>
        </p:txBody>
      </p:sp>
      <p:sp>
        <p:nvSpPr>
          <p:cNvPr id="52" name="Shape 50"/>
          <p:cNvSpPr/>
          <p:nvPr/>
        </p:nvSpPr>
        <p:spPr>
          <a:xfrm>
            <a:off x="90525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3" name="Text 51"/>
          <p:cNvSpPr txBox="1"/>
          <p:nvPr/>
        </p:nvSpPr>
        <p:spPr>
          <a:xfrm>
            <a:off x="6583680" y="1645920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CEFF3"/>
          </a:solidFill>
          <a:ln w="15875">
            <a:solidFill>
              <a:srgbClr val="6B778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 Node — rules only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CPR dedup · policy in force · completeness — three lookups at once, no model call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9052560" y="2184654"/>
            <a:ext cx="0" cy="3200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5" name="Text 53"/>
          <p:cNvSpPr txBox="1"/>
          <p:nvPr/>
        </p:nvSpPr>
        <p:spPr>
          <a:xfrm>
            <a:off x="8183880" y="2504694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check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failed?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9921240" y="2824734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7" name="Text 55"/>
          <p:cNvSpPr txBox="1"/>
          <p:nvPr/>
        </p:nvSpPr>
        <p:spPr>
          <a:xfrm>
            <a:off x="10195560" y="2388489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58" name="Text 56"/>
          <p:cNvSpPr txBox="1"/>
          <p:nvPr/>
        </p:nvSpPr>
        <p:spPr>
          <a:xfrm>
            <a:off x="10195560" y="2607945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Research Agent — gathers CVR / fuzzy-match candidates as evidence</a:t>
            </a:r>
            <a:endParaRPr lang="en-US" sz="760" dirty="0"/>
          </a:p>
        </p:txBody>
      </p:sp>
      <p:sp>
        <p:nvSpPr>
          <p:cNvPr id="59" name="Shape 57"/>
          <p:cNvSpPr/>
          <p:nvPr/>
        </p:nvSpPr>
        <p:spPr>
          <a:xfrm>
            <a:off x="10927080" y="3041523"/>
            <a:ext cx="0" cy="219456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0" name="Text 58"/>
          <p:cNvSpPr txBox="1"/>
          <p:nvPr/>
        </p:nvSpPr>
        <p:spPr>
          <a:xfrm>
            <a:off x="10195560" y="3260979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F1E6ED"/>
          </a:solidFill>
          <a:ln w="15875">
            <a:solidFill>
              <a:srgbClr val="7A4A6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Underwriter decides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(AI prepares, never decides)</a:t>
            </a:r>
            <a:endParaRPr lang="en-US" sz="760" dirty="0"/>
          </a:p>
        </p:txBody>
      </p:sp>
      <p:sp>
        <p:nvSpPr>
          <p:cNvPr id="61" name="Text 59"/>
          <p:cNvSpPr txBox="1"/>
          <p:nvPr/>
        </p:nvSpPr>
        <p:spPr>
          <a:xfrm>
            <a:off x="9162288" y="317220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9052560" y="3144774"/>
            <a:ext cx="0" cy="1701546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3" name="Text 61"/>
          <p:cNvSpPr txBox="1"/>
          <p:nvPr/>
        </p:nvSpPr>
        <p:spPr>
          <a:xfrm>
            <a:off x="7589520" y="4937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3 · Outcome Drafting Agent</a:t>
            </a:r>
            <a:endParaRPr lang="en-US" sz="830" dirty="0"/>
          </a:p>
        </p:txBody>
      </p:sp>
      <p:sp>
        <p:nvSpPr>
          <p:cNvPr id="64" name="Shape 62"/>
          <p:cNvSpPr/>
          <p:nvPr/>
        </p:nvSpPr>
        <p:spPr>
          <a:xfrm>
            <a:off x="6309360" y="5532120"/>
            <a:ext cx="3017520" cy="658368"/>
          </a:xfrm>
          <a:prstGeom prst="roundRect">
            <a:avLst>
              <a:gd name="adj" fmla="val 6944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6400800" y="5532120"/>
            <a:ext cx="2834640" cy="65836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4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sequential gates, each with its own rework loop, become 1 parallel check.</a:t>
            </a:r>
            <a:endParaRPr lang="en-US" sz="8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AI writes the draft; the handler still makes the decision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a system warning to a closed claim or a fully opened one — nothing that can go against a claimant is automated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3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6F8F7"/>
          </a:solidFill>
          <a:ln w="12700">
            <a:solidFill>
              <a:srgbClr val="007A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/ start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6916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5B7D8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928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/ decision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063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CEFD6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64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/ rework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8920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DF7DB"/>
          </a:solidFill>
          <a:ln w="12700">
            <a:solidFill>
              <a:srgbClr val="6FA0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932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3093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3EDF6"/>
          </a:solidFill>
          <a:ln w="12700">
            <a:solidFill>
              <a:srgbClr val="3B6FA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05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(LLM call)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0924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936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only, no model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921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1E6ED"/>
          </a:solidFill>
          <a:ln w="12700">
            <a:solidFill>
              <a:srgbClr val="7A4A6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122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checkpoint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one LangGraph state graph · shared claim state carries the audit trail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7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16459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2</a:t>
            </a:r>
            <a:endParaRPr lang="en-US" sz="830" dirty="0"/>
          </a:p>
        </p:txBody>
      </p:sp>
      <p:sp>
        <p:nvSpPr>
          <p:cNvPr id="25" name="Shape 23"/>
          <p:cNvSpPr/>
          <p:nvPr/>
        </p:nvSpPr>
        <p:spPr>
          <a:xfrm>
            <a:off x="31089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40280" y="1645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warning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claim?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 flipH="1">
            <a:off x="1965960" y="1965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11480" y="158521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502920" y="1804670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hold: check with UW before it can move on</a:t>
            </a:r>
            <a:endParaRPr lang="en-US" sz="760" dirty="0"/>
          </a:p>
        </p:txBody>
      </p:sp>
      <p:sp>
        <p:nvSpPr>
          <p:cNvPr id="30" name="Shape 28"/>
          <p:cNvSpPr/>
          <p:nvPr/>
        </p:nvSpPr>
        <p:spPr>
          <a:xfrm>
            <a:off x="1965960" y="2127250"/>
            <a:ext cx="1143000" cy="66167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3218688" y="22402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108960" y="2212848"/>
            <a:ext cx="0" cy="57607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2240280" y="2788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Injury minor?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 flipH="1">
            <a:off x="1965960" y="3108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411480" y="272821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Yes, ~65% (likely more)</a:t>
            </a:r>
            <a:endParaRPr lang="en-US" sz="800" dirty="0"/>
          </a:p>
        </p:txBody>
      </p:sp>
      <p:sp>
        <p:nvSpPr>
          <p:cNvPr id="36" name="Text 34"/>
          <p:cNvSpPr txBox="1"/>
          <p:nvPr/>
        </p:nvSpPr>
        <p:spPr>
          <a:xfrm>
            <a:off x="502920" y="2947670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at intake — letter, no permanent injury</a:t>
            </a:r>
            <a:endParaRPr lang="en-US" sz="760" dirty="0"/>
          </a:p>
        </p:txBody>
      </p:sp>
      <p:sp>
        <p:nvSpPr>
          <p:cNvPr id="37" name="Shape 35"/>
          <p:cNvSpPr/>
          <p:nvPr/>
        </p:nvSpPr>
        <p:spPr>
          <a:xfrm>
            <a:off x="3977640" y="3108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4251960" y="267271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39" name="Text 37"/>
          <p:cNvSpPr txBox="1"/>
          <p:nvPr/>
        </p:nvSpPr>
        <p:spPr>
          <a:xfrm>
            <a:off x="4251960" y="289217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in IDB: fields checked, task opened, questionnaire</a:t>
            </a:r>
            <a:endParaRPr lang="en-US" sz="760" dirty="0"/>
          </a:p>
        </p:txBody>
      </p:sp>
      <p:sp>
        <p:nvSpPr>
          <p:cNvPr id="40" name="Shape 38"/>
          <p:cNvSpPr/>
          <p:nvPr/>
        </p:nvSpPr>
        <p:spPr>
          <a:xfrm>
            <a:off x="365760" y="4160520"/>
            <a:ext cx="5486400" cy="685800"/>
          </a:xfrm>
          <a:prstGeom prst="roundRect">
            <a:avLst>
              <a:gd name="adj" fmla="val 6667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02920" y="4160520"/>
            <a:ext cx="5212080" cy="6858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Today: 7 decision gates, 3 entry channels, 10 exception or exit branches across the full FNOL flow.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75895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2</a:t>
            </a:r>
            <a:endParaRPr lang="en-US" sz="830" dirty="0"/>
          </a:p>
        </p:txBody>
      </p:sp>
      <p:sp>
        <p:nvSpPr>
          <p:cNvPr id="43" name="Shape 41"/>
          <p:cNvSpPr/>
          <p:nvPr/>
        </p:nvSpPr>
        <p:spPr>
          <a:xfrm>
            <a:off x="90525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4" name="Text 42"/>
          <p:cNvSpPr txBox="1"/>
          <p:nvPr/>
        </p:nvSpPr>
        <p:spPr>
          <a:xfrm>
            <a:off x="6583680" y="1645920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 Drafting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drafts the close-out letter, or the full IDB record, with its reasoning attached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9052560" y="2184654"/>
            <a:ext cx="0" cy="20116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6" name="Text 44"/>
          <p:cNvSpPr txBox="1"/>
          <p:nvPr/>
        </p:nvSpPr>
        <p:spPr>
          <a:xfrm>
            <a:off x="7040880" y="2385822"/>
            <a:ext cx="4023360" cy="351790"/>
          </a:xfrm>
          <a:prstGeom prst="roundRect">
            <a:avLst>
              <a:gd name="adj" fmla="val 10397"/>
            </a:avLst>
          </a:prstGeom>
          <a:solidFill>
            <a:srgbClr val="F1E6ED"/>
          </a:solidFill>
          <a:ln w="15875">
            <a:solidFill>
              <a:srgbClr val="7A4A6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6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 approves before anything sends — edit rate is the monitored metric, not model accuracy</a:t>
            </a:r>
            <a:endParaRPr lang="en-US" sz="860" dirty="0"/>
          </a:p>
        </p:txBody>
      </p:sp>
      <p:sp>
        <p:nvSpPr>
          <p:cNvPr id="47" name="Shape 45"/>
          <p:cNvSpPr/>
          <p:nvPr/>
        </p:nvSpPr>
        <p:spPr>
          <a:xfrm>
            <a:off x="9052560" y="2737612"/>
            <a:ext cx="0" cy="29260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8" name="Text 46"/>
          <p:cNvSpPr txBox="1"/>
          <p:nvPr/>
        </p:nvSpPr>
        <p:spPr>
          <a:xfrm>
            <a:off x="8183880" y="30302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Injury minor?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(~65%)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 flipH="1">
            <a:off x="7909560" y="33502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0" name="Text 48"/>
          <p:cNvSpPr txBox="1"/>
          <p:nvPr/>
        </p:nvSpPr>
        <p:spPr>
          <a:xfrm>
            <a:off x="6355080" y="296951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51" name="Text 49"/>
          <p:cNvSpPr txBox="1"/>
          <p:nvPr/>
        </p:nvSpPr>
        <p:spPr>
          <a:xfrm>
            <a:off x="6446520" y="3188970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at intake — AI-drafted, handler approved</a:t>
            </a:r>
            <a:endParaRPr lang="en-US" sz="760" dirty="0"/>
          </a:p>
        </p:txBody>
      </p:sp>
      <p:sp>
        <p:nvSpPr>
          <p:cNvPr id="52" name="Shape 50"/>
          <p:cNvSpPr/>
          <p:nvPr/>
        </p:nvSpPr>
        <p:spPr>
          <a:xfrm>
            <a:off x="9921240" y="33502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3" name="Text 51"/>
          <p:cNvSpPr txBox="1"/>
          <p:nvPr/>
        </p:nvSpPr>
        <p:spPr>
          <a:xfrm>
            <a:off x="10195560" y="296951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54" name="Text 52"/>
          <p:cNvSpPr txBox="1"/>
          <p:nvPr/>
        </p:nvSpPr>
        <p:spPr>
          <a:xfrm>
            <a:off x="10195560" y="3188970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in IDB — runs parallel with Coverage Check</a:t>
            </a:r>
            <a:endParaRPr lang="en-US" sz="760" dirty="0"/>
          </a:p>
        </p:txBody>
      </p:sp>
      <p:sp>
        <p:nvSpPr>
          <p:cNvPr id="55" name="Shape 53"/>
          <p:cNvSpPr/>
          <p:nvPr/>
        </p:nvSpPr>
        <p:spPr>
          <a:xfrm>
            <a:off x="6400800" y="4081780"/>
            <a:ext cx="5303520" cy="91440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6537960" y="4081780"/>
            <a:ext cx="5029200" cy="9144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result across all three parts:
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LLM agents + 1 rules-only node · 2 human checkpoints kept by design · 3 entry channels → 1 · 3 sequential gates → 1 parallel check · shared claim state carries the audit trail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where a mistake is cheap — that is what earns the trust the bigger wins depend 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509760" y="146304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SEQUENCING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“Hard” means build effort and regulatory exposure together, not just weeks of work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 rot="16200000">
            <a:off x="18288" y="3072384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OFTEN IT HAPPENS  →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5577840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HARD AND HOW RISKY IT IS  →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51560" y="914400"/>
            <a:ext cx="3931920" cy="2286000"/>
          </a:xfrm>
          <a:prstGeom prst="rect">
            <a:avLst/>
          </a:prstGeom>
          <a:solidFill>
            <a:srgbClr val="FDF3E3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34440" y="1060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1 — START HERE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298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cheap to get wrong, happens constantly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280160" y="1627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417320" y="1627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claim and classify it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ends the one-person dependency on teeth claims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1280160" y="2322576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417320" y="232257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CPR, policy and duplicates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plain rules, no AI model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4983480" y="914400"/>
            <a:ext cx="3931920" cy="2286000"/>
          </a:xfrm>
          <a:prstGeom prst="rect">
            <a:avLst/>
          </a:prstGeom>
          <a:solidFill>
            <a:srgbClr val="E4F4F8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166360" y="1060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2 — ONCE TRUSTED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166360" y="1298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prize, but needs the audit trail live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5212080" y="1627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49240" y="1627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the close-out letter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~65% of claims · a handler still approves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5212080" y="2322576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349240" y="232257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AES secure mail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only channel with no automation today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1051560" y="3200400"/>
            <a:ext cx="3931920" cy="2286000"/>
          </a:xfrm>
          <a:prstGeom prst="rect">
            <a:avLst/>
          </a:prstGeom>
          <a:solidFill>
            <a:srgbClr val="EDECFB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234440" y="3346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WHEN CONVENIENT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234440" y="3584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worth doing, but it is an IT defect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1280160" y="3913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417320" y="3913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 → IDB import retries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integration bug, not an AI job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4983480" y="3200400"/>
            <a:ext cx="3931920" cy="2286000"/>
          </a:xfrm>
          <a:prstGeom prst="rect">
            <a:avLst/>
          </a:prstGeom>
          <a:solidFill>
            <a:srgbClr val="FBE9F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66360" y="3346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LEAVE MANUAL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5166360" y="3584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 rare to earn the effort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212080" y="3913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349240" y="3913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"Violence cover" entitlement letter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 claims ever · a checklist beats a model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9189720" y="914400"/>
            <a:ext cx="2633472" cy="4572000"/>
          </a:xfrm>
          <a:prstGeom prst="roundRect">
            <a:avLst>
              <a:gd name="adj" fmla="val 2083"/>
            </a:avLst>
          </a:prstGeom>
          <a:solidFill>
            <a:srgbClr val="EDECFB"/>
          </a:solidFill>
          <a:ln w="16510">
            <a:solidFill>
              <a:srgbClr val="4338C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390888" y="1060704"/>
            <a:ext cx="2231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7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FIXING THE IMPORT FAILURES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9390888" y="1298448"/>
            <a:ext cx="22311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i="1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one item that is not an AI problem. How it is actually fixed: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9390888" y="1755648"/>
            <a:ext cx="2231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 the failure first</a:t>
            </a:r>
            <a:endParaRPr lang="en-US" sz="840" dirty="0"/>
          </a:p>
        </p:txBody>
      </p:sp>
      <p:sp>
        <p:nvSpPr>
          <p:cNvPr id="35" name="Text 33"/>
          <p:cNvSpPr txBox="1"/>
          <p:nvPr/>
        </p:nvSpPr>
        <p:spPr>
          <a:xfrm>
            <a:off x="9390888" y="1929384"/>
            <a:ext cx="2231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timeout is worth retrying. A missing field never is — retrying it just fails again.</a:t>
            </a:r>
            <a:endParaRPr lang="en-US" sz="760" dirty="0"/>
          </a:p>
        </p:txBody>
      </p:sp>
      <p:sp>
        <p:nvSpPr>
          <p:cNvPr id="36" name="Text 34"/>
          <p:cNvSpPr txBox="1"/>
          <p:nvPr/>
        </p:nvSpPr>
        <p:spPr>
          <a:xfrm>
            <a:off x="9390888" y="2478024"/>
            <a:ext cx="2231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Retry with growing gaps</a:t>
            </a:r>
            <a:endParaRPr lang="en-US" sz="840" dirty="0"/>
          </a:p>
        </p:txBody>
      </p:sp>
      <p:sp>
        <p:nvSpPr>
          <p:cNvPr id="37" name="Text 35"/>
          <p:cNvSpPr txBox="1"/>
          <p:nvPr/>
        </p:nvSpPr>
        <p:spPr>
          <a:xfrm>
            <a:off x="9390888" y="2651760"/>
            <a:ext cx="2231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1s, 2s, 4s, plus a random offset, so 50 stuck claims do not all retry at once.</a:t>
            </a:r>
            <a:endParaRPr lang="en-US" sz="760" dirty="0"/>
          </a:p>
        </p:txBody>
      </p:sp>
      <p:sp>
        <p:nvSpPr>
          <p:cNvPr id="38" name="Text 36"/>
          <p:cNvSpPr txBox="1"/>
          <p:nvPr/>
        </p:nvSpPr>
        <p:spPr>
          <a:xfrm>
            <a:off x="9390888" y="3200400"/>
            <a:ext cx="2231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reference per claim</a:t>
            </a:r>
            <a:endParaRPr lang="en-US" sz="840" dirty="0"/>
          </a:p>
        </p:txBody>
      </p:sp>
      <p:sp>
        <p:nvSpPr>
          <p:cNvPr id="39" name="Text 37"/>
          <p:cNvSpPr txBox="1"/>
          <p:nvPr/>
        </p:nvSpPr>
        <p:spPr>
          <a:xfrm>
            <a:off x="9390888" y="3374136"/>
            <a:ext cx="2231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key on every attempt, so a replay cannot create the claim twice.</a:t>
            </a:r>
            <a:endParaRPr lang="en-US" sz="760" dirty="0"/>
          </a:p>
        </p:txBody>
      </p:sp>
      <p:sp>
        <p:nvSpPr>
          <p:cNvPr id="40" name="Text 38"/>
          <p:cNvSpPr txBox="1"/>
          <p:nvPr/>
        </p:nvSpPr>
        <p:spPr>
          <a:xfrm>
            <a:off x="9390888" y="3922776"/>
            <a:ext cx="2231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Park failures, never drop them</a:t>
            </a:r>
            <a:endParaRPr lang="en-US" sz="840" dirty="0"/>
          </a:p>
        </p:txBody>
      </p:sp>
      <p:sp>
        <p:nvSpPr>
          <p:cNvPr id="41" name="Text 39"/>
          <p:cNvSpPr txBox="1"/>
          <p:nvPr/>
        </p:nvSpPr>
        <p:spPr>
          <a:xfrm>
            <a:off x="9390888" y="4096512"/>
            <a:ext cx="2231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go to a holding queue with the error, so someone can fix and replay.</a:t>
            </a:r>
            <a:endParaRPr lang="en-US" sz="760" dirty="0"/>
          </a:p>
        </p:txBody>
      </p:sp>
      <p:sp>
        <p:nvSpPr>
          <p:cNvPr id="42" name="Text 40"/>
          <p:cNvSpPr txBox="1"/>
          <p:nvPr/>
        </p:nvSpPr>
        <p:spPr>
          <a:xfrm>
            <a:off x="9390888" y="4645152"/>
            <a:ext cx="2231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 on the rate, not the count</a:t>
            </a:r>
            <a:endParaRPr lang="en-US" sz="840" dirty="0"/>
          </a:p>
        </p:txBody>
      </p:sp>
      <p:sp>
        <p:nvSpPr>
          <p:cNvPr id="43" name="Text 41"/>
          <p:cNvSpPr txBox="1"/>
          <p:nvPr/>
        </p:nvSpPr>
        <p:spPr>
          <a:xfrm>
            <a:off x="9390888" y="4818888"/>
            <a:ext cx="2231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stuck claim is normal. Twenty in an hour means something broke.</a:t>
            </a:r>
            <a:endParaRPr lang="en-US" sz="760" dirty="0"/>
          </a:p>
        </p:txBody>
      </p:sp>
      <p:sp>
        <p:nvSpPr>
          <p:cNvPr id="44" name="Text 42"/>
          <p:cNvSpPr txBox="1"/>
          <p:nvPr/>
        </p:nvSpPr>
        <p:spPr>
          <a:xfrm>
            <a:off x="365760" y="6035040"/>
            <a:ext cx="1143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AES rulings and underwriting authority are deliberately absent — those decisions are not ours to make · frequencies from the case study</a:t>
            </a:r>
            <a:endParaRPr lang="en-US" sz="700" dirty="0"/>
          </a:p>
        </p:txBody>
      </p:sp>
      <p:sp>
        <p:nvSpPr>
          <p:cNvPr id="45" name="Text 43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7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figure is built from observed steps and list prices — none of it is a best case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146304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NUMBERS ARE BUILT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530352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HANDLER TIME — MINUTES PER CLAIM, PER HANDLER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86384"/>
          <a:ext cx="548640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960120"/>
                <a:gridCol w="960120"/>
              </a:tblGrid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Today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Redesigned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 the report, re-read it, open attachments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Take notes, check fields, chase a missing CPR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6.1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Attach policy · duplicate check · coverage date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Decide, draft and send / open the full claim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 an escalation or an underwriting hold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Switch between EASY, IDB, e-mail and paper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Touch time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30.8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Breaks, fatigue, interruptions, rework (+30%)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Standard time — what the design allows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the business case actually banks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365760" y="3127248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4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design allows 10.1 min a claim. We do not bank that. The case uses a three-point estimate — (best 30 + 4 × likely 21 + worst 12) ÷ 6 = 21.0 min saved a claim — which is the 19.0 min above, and the 19 minutes on slide 1. In plain terms: we assume handlers capture 70% of the saving the design allows.</a:t>
            </a:r>
            <a:endParaRPr lang="en-US" sz="740" dirty="0"/>
          </a:p>
        </p:txBody>
      </p:sp>
      <p:sp>
        <p:nvSpPr>
          <p:cNvPr id="7" name="Shape 4"/>
          <p:cNvSpPr/>
          <p:nvPr/>
        </p:nvSpPr>
        <p:spPr>
          <a:xfrm>
            <a:off x="365760" y="3493008"/>
            <a:ext cx="5486400" cy="548640"/>
          </a:xfrm>
          <a:prstGeom prst="roundRect">
            <a:avLst>
              <a:gd name="adj" fmla="val 8333"/>
            </a:avLst>
          </a:prstGeom>
          <a:solidFill>
            <a:srgbClr val="FDF3E3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30352" y="3493008"/>
            <a:ext cx="5157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b="1" dirty="0">
                <a:solidFill>
                  <a:srgbClr val="9A5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Cross-check:  </a:t>
            </a:r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44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min × 12,500 claims a year = 8,332 handler-hours — 17% of a 30-person team's yearly capacity. Plausible for the front end of a claims process. Had it come out at 60%, the model would be wrong.</a:t>
            </a:r>
            <a:endParaRPr lang="en-US" sz="820" dirty="0"/>
          </a:p>
        </p:txBody>
      </p:sp>
      <p:sp>
        <p:nvSpPr>
          <p:cNvPr id="9" name="Shape 6"/>
          <p:cNvSpPr/>
          <p:nvPr/>
        </p:nvSpPr>
        <p:spPr>
          <a:xfrm>
            <a:off x="365760" y="4114800"/>
            <a:ext cx="5486400" cy="2395728"/>
          </a:xfrm>
          <a:prstGeom prst="roundRect">
            <a:avLst>
              <a:gd name="adj" fmla="val 2290"/>
            </a:avLst>
          </a:prstGeom>
          <a:solidFill>
            <a:srgbClr val="FFFFFF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4206240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· THE BUSINESS CASE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4425696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12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YEAR</a:t>
            </a:r>
            <a:endParaRPr lang="en-US" sz="76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4608576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Capacity released</a:t>
            </a:r>
            <a:endParaRPr lang="en-US" sz="840" dirty="0"/>
          </a:p>
        </p:txBody>
      </p:sp>
      <p:sp>
        <p:nvSpPr>
          <p:cNvPr id="13" name="Text 10"/>
          <p:cNvSpPr txBox="1"/>
          <p:nvPr/>
        </p:nvSpPr>
        <p:spPr>
          <a:xfrm>
            <a:off x="4069080" y="4608576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4,370 handler-h · 2.8 FTE</a:t>
            </a:r>
            <a:endParaRPr lang="en-US" sz="84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4805172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Worth, at €34.92 per handler-hour</a:t>
            </a:r>
            <a:endParaRPr lang="en-US" sz="840" dirty="0"/>
          </a:p>
        </p:txBody>
      </p:sp>
      <p:sp>
        <p:nvSpPr>
          <p:cNvPr id="15" name="Text 12"/>
          <p:cNvSpPr txBox="1"/>
          <p:nvPr/>
        </p:nvSpPr>
        <p:spPr>
          <a:xfrm>
            <a:off x="4069080" y="4805172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€152,600 a year</a:t>
            </a:r>
            <a:endParaRPr lang="en-US" sz="84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001768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to run it — AI models and Azure</a:t>
            </a:r>
            <a:endParaRPr lang="en-US" sz="840" dirty="0"/>
          </a:p>
        </p:txBody>
      </p:sp>
      <p:sp>
        <p:nvSpPr>
          <p:cNvPr id="17" name="Text 14"/>
          <p:cNvSpPr txBox="1"/>
          <p:nvPr/>
        </p:nvSpPr>
        <p:spPr>
          <a:xfrm>
            <a:off x="4069080" y="5001768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€2,400</a:t>
            </a:r>
            <a:endParaRPr lang="en-US" sz="84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5198364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Ongoing support — 0.25 of an engineer</a:t>
            </a:r>
            <a:endParaRPr lang="en-US" sz="840" dirty="0"/>
          </a:p>
        </p:txBody>
      </p:sp>
      <p:sp>
        <p:nvSpPr>
          <p:cNvPr id="19" name="Text 16"/>
          <p:cNvSpPr txBox="1"/>
          <p:nvPr/>
        </p:nvSpPr>
        <p:spPr>
          <a:xfrm>
            <a:off x="4069080" y="5198364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€24,400</a:t>
            </a:r>
            <a:endParaRPr lang="en-US" sz="84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5394960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value, every year</a:t>
            </a:r>
            <a:endParaRPr lang="en-US" sz="840" dirty="0"/>
          </a:p>
        </p:txBody>
      </p:sp>
      <p:sp>
        <p:nvSpPr>
          <p:cNvPr id="21" name="Text 18"/>
          <p:cNvSpPr txBox="1"/>
          <p:nvPr/>
        </p:nvSpPr>
        <p:spPr>
          <a:xfrm>
            <a:off x="4069080" y="5394960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€125,800</a:t>
            </a:r>
            <a:endParaRPr lang="en-US" sz="840" dirty="0"/>
          </a:p>
        </p:txBody>
      </p:sp>
      <p:sp>
        <p:nvSpPr>
          <p:cNvPr id="22" name="Shape 19"/>
          <p:cNvSpPr/>
          <p:nvPr/>
        </p:nvSpPr>
        <p:spPr>
          <a:xfrm>
            <a:off x="548640" y="5614416"/>
            <a:ext cx="5120640" cy="10973"/>
          </a:xfrm>
          <a:prstGeom prst="rect">
            <a:avLst/>
          </a:prstGeom>
          <a:solidFill>
            <a:srgbClr val="E4E4E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548640" y="5669280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12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ONE-OFF</a:t>
            </a:r>
            <a:endParaRPr lang="en-US" sz="76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5870448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— 3 people × 6 months, fully loaded</a:t>
            </a:r>
            <a:endParaRPr lang="en-US" sz="840" dirty="0"/>
          </a:p>
        </p:txBody>
      </p:sp>
      <p:sp>
        <p:nvSpPr>
          <p:cNvPr id="25" name="Text 22"/>
          <p:cNvSpPr txBox="1"/>
          <p:nvPr/>
        </p:nvSpPr>
        <p:spPr>
          <a:xfrm>
            <a:off x="4069080" y="5870448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€146,400</a:t>
            </a:r>
            <a:endParaRPr lang="en-US" sz="84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6067044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Payback</a:t>
            </a:r>
            <a:endParaRPr lang="en-US" sz="840" dirty="0"/>
          </a:p>
        </p:txBody>
      </p:sp>
      <p:sp>
        <p:nvSpPr>
          <p:cNvPr id="27" name="Text 24"/>
          <p:cNvSpPr txBox="1"/>
          <p:nvPr/>
        </p:nvSpPr>
        <p:spPr>
          <a:xfrm>
            <a:off x="4069080" y="6067044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months</a:t>
            </a:r>
            <a:endParaRPr lang="en-US" sz="84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6272784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2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build is loaded team capacity, not new cash — the AI team is already funded. New cash needed: €2,400 a year. A shorter build costs less: 4 months ≈ €98k.</a:t>
            </a:r>
            <a:endParaRPr lang="en-US" sz="720" dirty="0"/>
          </a:p>
        </p:txBody>
      </p:sp>
      <p:sp>
        <p:nvSpPr>
          <p:cNvPr id="29" name="Text 26"/>
          <p:cNvSpPr txBox="1"/>
          <p:nvPr/>
        </p:nvSpPr>
        <p:spPr>
          <a:xfrm>
            <a:off x="6263640" y="530352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· AI COST TO PROCESS ONE CLAIM</a:t>
            </a:r>
            <a:endParaRPr lang="en-US" sz="9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786384"/>
          <a:ext cx="5486400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914400"/>
                <a:gridCol w="640080"/>
                <a:gridCol w="594360"/>
                <a:gridCol w="91440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Tokens in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Out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US$ / claim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Extraction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11,500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0.0314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Classification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0.0032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Validation — rules only, no model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Exception research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0.0020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Outcome drafting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0.0110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Subtotal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0.0476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× 1.75 for retries, guardrails, evals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0.0833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 claim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€0.077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 27"/>
          <p:cNvSpPr txBox="1"/>
          <p:nvPr/>
        </p:nvSpPr>
        <p:spPr>
          <a:xfrm>
            <a:off x="6263640" y="274320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4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claim ≈ a scanned form, an e-mail and 3–4 attachments. All four agents run on one model tier — gpt-5.6 terra, $2 in / $12 out per million tokens.</a:t>
            </a:r>
            <a:endParaRPr lang="en-US" sz="740" dirty="0"/>
          </a:p>
        </p:txBody>
      </p:sp>
      <p:sp>
        <p:nvSpPr>
          <p:cNvPr id="32" name="Text 28"/>
          <p:cNvSpPr txBox="1"/>
          <p:nvPr/>
        </p:nvSpPr>
        <p:spPr>
          <a:xfrm>
            <a:off x="6263640" y="3035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· AZURE, WEST EUROPE — MONTHLY</a:t>
            </a:r>
            <a:endParaRPr lang="en-US" sz="900" dirty="0"/>
          </a:p>
        </p:txBody>
      </p:sp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3291840"/>
          <a:ext cx="5486400" cy="914400"/>
        </p:xfrm>
        <a:graphic>
          <a:graphicData uri="http://schemas.openxmlformats.org/drawingml/2006/table">
            <a:tbl>
              <a:tblPr/>
              <a:tblGrid>
                <a:gridCol w="4434840"/>
                <a:gridCol w="105156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US$/mth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container apps — 2 always on, 2 burst only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PostgreSQL B2s + 64 GiB storage and backup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Blob storage for documents + audit logs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new, incl. ~8% West Europe premium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Text 29"/>
          <p:cNvSpPr txBox="1"/>
          <p:nvPr/>
        </p:nvSpPr>
        <p:spPr>
          <a:xfrm>
            <a:off x="6263640" y="43891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4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Registry, networking, Key Vault and DevOps (≈ €670/yr) already exist, so they are not charged here. Azure DevOps gives repos and pipelines, not a database — PostgreSQL is genuinely new.</a:t>
            </a:r>
            <a:endParaRPr lang="en-US" sz="740" dirty="0"/>
          </a:p>
        </p:txBody>
      </p:sp>
      <p:sp>
        <p:nvSpPr>
          <p:cNvPr id="35" name="Text 30"/>
          <p:cNvSpPr txBox="1"/>
          <p:nvPr/>
        </p:nvSpPr>
        <p:spPr>
          <a:xfrm>
            <a:off x="6263640" y="4700016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· WHO ACTUALLY GETS THE TIME BACK</a:t>
            </a:r>
            <a:endParaRPr lang="en-US" sz="900" dirty="0"/>
          </a:p>
        </p:txBody>
      </p:sp>
      <p:sp>
        <p:nvSpPr>
          <p:cNvPr id="36" name="Text 31"/>
          <p:cNvSpPr txBox="1"/>
          <p:nvPr/>
        </p:nvSpPr>
        <p:spPr>
          <a:xfrm>
            <a:off x="6263640" y="4901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i="1" dirty="0">
                <a:solidFill>
                  <a:srgbClr val="6A1F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brief says a support team does intake, not all 30 handlers — so the truth is in the middle rows. Our first question for GGW.</a:t>
            </a:r>
            <a:endParaRPr lang="en-US" sz="78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5138928"/>
          <a:ext cx="54864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234440"/>
                <a:gridCol w="1188720"/>
                <a:gridCol w="114300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Intake handled by…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Claims each, per day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Intake work, per day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 freed, per day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 30 claims handlers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 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 min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support team of 12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 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 min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support team of 8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 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 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support team of 6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5.6 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 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8" name="Text 32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39" name="Text 33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7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sourced, and what is our assumption — kept separate on purpose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 &amp; ASSUMPTIONS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65760" y="548640"/>
            <a:ext cx="45720" cy="31089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30352" y="53035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Wage base</a:t>
            </a:r>
            <a:endParaRPr lang="en-US" sz="860" dirty="0"/>
          </a:p>
        </p:txBody>
      </p:sp>
      <p:sp>
        <p:nvSpPr>
          <p:cNvPr id="6" name="Text 4"/>
          <p:cNvSpPr txBox="1"/>
          <p:nvPr/>
        </p:nvSpPr>
        <p:spPr>
          <a:xfrm>
            <a:off x="530352" y="685800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Sachbearbeiter Schadenregulierung, €45,100 gross</a:t>
            </a:r>
            <a:endParaRPr lang="en-US" sz="800" dirty="0"/>
          </a:p>
        </p:txBody>
      </p:sp>
      <p:sp>
        <p:nvSpPr>
          <p:cNvPr id="7" name="Text 5">
            <a:hlinkClick r:id="rId1" tooltip="StepStone Gehaltsreport"/>
          </p:cNvPr>
          <p:cNvSpPr txBox="1"/>
          <p:nvPr/>
        </p:nvSpPr>
        <p:spPr>
          <a:xfrm>
            <a:off x="5669280" y="585216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StepStone Gehaltsrepor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StepStone Gehaltsreport</a:t>
            </a:r>
            <a:endParaRPr lang="en-US" sz="840" dirty="0"/>
          </a:p>
        </p:txBody>
      </p:sp>
      <p:sp>
        <p:nvSpPr>
          <p:cNvPr id="8" name="Shape 6"/>
          <p:cNvSpPr/>
          <p:nvPr/>
        </p:nvSpPr>
        <p:spPr>
          <a:xfrm>
            <a:off x="365760" y="914400"/>
            <a:ext cx="45720" cy="31089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89611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Employer on-cost</a:t>
            </a:r>
            <a:endParaRPr lang="en-US" sz="860" dirty="0"/>
          </a:p>
        </p:txBody>
      </p:sp>
      <p:sp>
        <p:nvSpPr>
          <p:cNvPr id="10" name="Text 8"/>
          <p:cNvSpPr txBox="1"/>
          <p:nvPr/>
        </p:nvSpPr>
        <p:spPr>
          <a:xfrm>
            <a:off x="530352" y="1051560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€23 per €100 gross — health, pension, unemployment, care</a:t>
            </a:r>
            <a:endParaRPr lang="en-US" sz="800" dirty="0"/>
          </a:p>
        </p:txBody>
      </p:sp>
      <p:sp>
        <p:nvSpPr>
          <p:cNvPr id="11" name="Text 9">
            <a:hlinkClick r:id="rId2" tooltip="Lohnnebenkosten 2026, sevdesk"/>
          </p:cNvPr>
          <p:cNvSpPr txBox="1"/>
          <p:nvPr/>
        </p:nvSpPr>
        <p:spPr>
          <a:xfrm>
            <a:off x="5669280" y="950976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Lohnnebenkosten 2026, sevdesk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Lohnnebenkosten 2026, sevdesk</a:t>
            </a:r>
            <a:endParaRPr lang="en-US" sz="840" dirty="0"/>
          </a:p>
        </p:txBody>
      </p:sp>
      <p:sp>
        <p:nvSpPr>
          <p:cNvPr id="12" name="Shape 10"/>
          <p:cNvSpPr/>
          <p:nvPr/>
        </p:nvSpPr>
        <p:spPr>
          <a:xfrm>
            <a:off x="365760" y="1280160"/>
            <a:ext cx="45720" cy="31089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30352" y="126187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time, breaks</a:t>
            </a:r>
            <a:endParaRPr lang="en-US" sz="860" dirty="0"/>
          </a:p>
        </p:txBody>
      </p:sp>
      <p:sp>
        <p:nvSpPr>
          <p:cNvPr id="14" name="Text 12"/>
          <p:cNvSpPr txBox="1"/>
          <p:nvPr/>
        </p:nvSpPr>
        <p:spPr>
          <a:xfrm>
            <a:off x="530352" y="1417320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 h tariff week; statutory break rules</a:t>
            </a:r>
            <a:endParaRPr lang="en-US" sz="800" dirty="0"/>
          </a:p>
        </p:txBody>
      </p:sp>
      <p:sp>
        <p:nvSpPr>
          <p:cNvPr id="15" name="Text 13">
            <a:hlinkClick r:id="rId3" tooltip="Arbeitszeitgesetz §4"/>
          </p:cNvPr>
          <p:cNvSpPr txBox="1"/>
          <p:nvPr/>
        </p:nvSpPr>
        <p:spPr>
          <a:xfrm>
            <a:off x="5669280" y="1316736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Arbeitszeitgesetz §4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Arbeitszeitgesetz §4</a:t>
            </a:r>
            <a:endParaRPr lang="en-US" sz="840" dirty="0"/>
          </a:p>
        </p:txBody>
      </p:sp>
      <p:sp>
        <p:nvSpPr>
          <p:cNvPr id="16" name="Shape 14"/>
          <p:cNvSpPr/>
          <p:nvPr/>
        </p:nvSpPr>
        <p:spPr>
          <a:xfrm>
            <a:off x="365760" y="1645920"/>
            <a:ext cx="45720" cy="31089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0352" y="162763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prices</a:t>
            </a:r>
            <a:endParaRPr lang="en-US" sz="860" dirty="0"/>
          </a:p>
        </p:txBody>
      </p:sp>
      <p:sp>
        <p:nvSpPr>
          <p:cNvPr id="18" name="Text 16"/>
          <p:cNvSpPr txBox="1"/>
          <p:nvPr/>
        </p:nvSpPr>
        <p:spPr>
          <a:xfrm>
            <a:off x="530352" y="1783080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gpt-5.6 terra — $2 in / $12 out per million tokens</a:t>
            </a:r>
            <a:endParaRPr lang="en-US" sz="800" dirty="0"/>
          </a:p>
        </p:txBody>
      </p:sp>
      <p:sp>
        <p:nvSpPr>
          <p:cNvPr id="19" name="Text 17">
            <a:hlinkClick r:id="rId4" tooltip="OpenAI API pricing"/>
          </p:cNvPr>
          <p:cNvSpPr txBox="1"/>
          <p:nvPr/>
        </p:nvSpPr>
        <p:spPr>
          <a:xfrm>
            <a:off x="5669280" y="1682496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OpenAI API prici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OpenAI API pricing</a:t>
            </a:r>
            <a:endParaRPr lang="en-US" sz="840" dirty="0"/>
          </a:p>
        </p:txBody>
      </p:sp>
      <p:sp>
        <p:nvSpPr>
          <p:cNvPr id="20" name="Shape 18"/>
          <p:cNvSpPr/>
          <p:nvPr/>
        </p:nvSpPr>
        <p:spPr>
          <a:xfrm>
            <a:off x="365760" y="2011680"/>
            <a:ext cx="45720" cy="31089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30352" y="199339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 hosting</a:t>
            </a:r>
            <a:endParaRPr lang="en-US" sz="860" dirty="0"/>
          </a:p>
        </p:txBody>
      </p:sp>
      <p:sp>
        <p:nvSpPr>
          <p:cNvPr id="22" name="Text 20"/>
          <p:cNvSpPr txBox="1"/>
          <p:nvPr/>
        </p:nvSpPr>
        <p:spPr>
          <a:xfrm>
            <a:off x="530352" y="2148840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Consumption plan rates and the monthly free grant</a:t>
            </a:r>
            <a:endParaRPr lang="en-US" sz="800" dirty="0"/>
          </a:p>
        </p:txBody>
      </p:sp>
      <p:sp>
        <p:nvSpPr>
          <p:cNvPr id="23" name="Text 21">
            <a:hlinkClick r:id="rId5" tooltip="Azure Container Apps pricing"/>
          </p:cNvPr>
          <p:cNvSpPr txBox="1"/>
          <p:nvPr/>
        </p:nvSpPr>
        <p:spPr>
          <a:xfrm>
            <a:off x="5669280" y="2048256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invalidUrl="" action="" tgtFrame="" tooltip="Azure Container Apps prici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Azure Container Apps pricing</a:t>
            </a:r>
            <a:endParaRPr lang="en-US" sz="840" dirty="0"/>
          </a:p>
        </p:txBody>
      </p:sp>
      <p:sp>
        <p:nvSpPr>
          <p:cNvPr id="24" name="Shape 22"/>
          <p:cNvSpPr/>
          <p:nvPr/>
        </p:nvSpPr>
        <p:spPr>
          <a:xfrm>
            <a:off x="365760" y="2377440"/>
            <a:ext cx="45720" cy="31089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30352" y="235915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860" dirty="0"/>
          </a:p>
        </p:txBody>
      </p:sp>
      <p:sp>
        <p:nvSpPr>
          <p:cNvPr id="26" name="Text 24"/>
          <p:cNvSpPr txBox="1"/>
          <p:nvPr/>
        </p:nvSpPr>
        <p:spPr>
          <a:xfrm>
            <a:off x="530352" y="2514600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Flexible Server B2s — 2 vCore / 4 GiB</a:t>
            </a:r>
            <a:endParaRPr lang="en-US" sz="800" dirty="0"/>
          </a:p>
        </p:txBody>
      </p:sp>
      <p:sp>
        <p:nvSpPr>
          <p:cNvPr id="27" name="Text 25">
            <a:hlinkClick r:id="rId6" tooltip="Azure Database for PostgreSQL"/>
          </p:cNvPr>
          <p:cNvSpPr txBox="1"/>
          <p:nvPr/>
        </p:nvSpPr>
        <p:spPr>
          <a:xfrm>
            <a:off x="5669280" y="2414016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invalidUrl="" action="" tgtFrame="" tooltip="Azure Database for PostgreSQ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Azure Database for PostgreSQL</a:t>
            </a:r>
            <a:endParaRPr lang="en-US" sz="840" dirty="0"/>
          </a:p>
        </p:txBody>
      </p:sp>
      <p:sp>
        <p:nvSpPr>
          <p:cNvPr id="28" name="Shape 26"/>
          <p:cNvSpPr/>
          <p:nvPr/>
        </p:nvSpPr>
        <p:spPr>
          <a:xfrm>
            <a:off x="365760" y="2743200"/>
            <a:ext cx="45720" cy="31089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30352" y="272491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Build-team pay</a:t>
            </a:r>
            <a:endParaRPr lang="en-US" sz="860" dirty="0"/>
          </a:p>
        </p:txBody>
      </p:sp>
      <p:sp>
        <p:nvSpPr>
          <p:cNvPr id="30" name="Text 28"/>
          <p:cNvSpPr txBox="1"/>
          <p:nvPr/>
        </p:nvSpPr>
        <p:spPr>
          <a:xfrm>
            <a:off x="530352" y="2880360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ML engineer ≈ €98k; juniors at €70k as briefed</a:t>
            </a:r>
            <a:endParaRPr lang="en-US" sz="800" dirty="0"/>
          </a:p>
        </p:txBody>
      </p:sp>
      <p:sp>
        <p:nvSpPr>
          <p:cNvPr id="31" name="Text 29">
            <a:hlinkClick r:id="rId7" tooltip="Glassdoor, ML Engineer Germany"/>
          </p:cNvPr>
          <p:cNvSpPr txBox="1"/>
          <p:nvPr/>
        </p:nvSpPr>
        <p:spPr>
          <a:xfrm>
            <a:off x="5669280" y="2779776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invalidUrl="" action="" tgtFrame="" tooltip="Glassdoor, ML Engineer German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Glassdoor, ML Engineer Germany</a:t>
            </a:r>
            <a:endParaRPr lang="en-US" sz="840" dirty="0"/>
          </a:p>
        </p:txBody>
      </p:sp>
      <p:sp>
        <p:nvSpPr>
          <p:cNvPr id="32" name="Shape 30"/>
          <p:cNvSpPr/>
          <p:nvPr/>
        </p:nvSpPr>
        <p:spPr>
          <a:xfrm>
            <a:off x="365760" y="3108960"/>
            <a:ext cx="45720" cy="31089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30352" y="309067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Upkeep after go-live</a:t>
            </a:r>
            <a:endParaRPr lang="en-US" sz="860" dirty="0"/>
          </a:p>
        </p:txBody>
      </p:sp>
      <p:sp>
        <p:nvSpPr>
          <p:cNvPr id="34" name="Text 32"/>
          <p:cNvSpPr txBox="1"/>
          <p:nvPr/>
        </p:nvSpPr>
        <p:spPr>
          <a:xfrm>
            <a:off x="530352" y="3246120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15–20% of build effort a year — our 0.25 FTE is 17%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5669280" y="3145536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i="1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maintenance rule of thumb</a:t>
            </a:r>
            <a:endParaRPr lang="en-US" sz="840" dirty="0"/>
          </a:p>
        </p:txBody>
      </p:sp>
      <p:sp>
        <p:nvSpPr>
          <p:cNvPr id="36" name="Shape 34"/>
          <p:cNvSpPr/>
          <p:nvPr/>
        </p:nvSpPr>
        <p:spPr>
          <a:xfrm>
            <a:off x="365760" y="3474720"/>
            <a:ext cx="45720" cy="31089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30352" y="345643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Industry baseline</a:t>
            </a:r>
            <a:endParaRPr lang="en-US" sz="860" dirty="0"/>
          </a:p>
        </p:txBody>
      </p:sp>
      <p:sp>
        <p:nvSpPr>
          <p:cNvPr id="38" name="Text 36"/>
          <p:cNvSpPr txBox="1"/>
          <p:nvPr/>
        </p:nvSpPr>
        <p:spPr>
          <a:xfrm>
            <a:off x="530352" y="3611880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of 20 carriers still manual; none let AI decide alone</a:t>
            </a:r>
            <a:endParaRPr lang="en-US" sz="800" dirty="0"/>
          </a:p>
        </p:txBody>
      </p:sp>
      <p:sp>
        <p:nvSpPr>
          <p:cNvPr id="39" name="Text 37">
            <a:hlinkClick r:id="rId8" tooltip="Decerto, 2026 Claims Decisioning Pulse"/>
          </p:cNvPr>
          <p:cNvSpPr txBox="1"/>
          <p:nvPr/>
        </p:nvSpPr>
        <p:spPr>
          <a:xfrm>
            <a:off x="5669280" y="3511296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invalidUrl="" action="" tgtFrame="" tooltip="Decerto, 2026 Claims Decisioning Puls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Decerto, 2026 Claims Decisioning Pulse</a:t>
            </a:r>
            <a:endParaRPr lang="en-US" sz="840" dirty="0"/>
          </a:p>
        </p:txBody>
      </p:sp>
      <p:sp>
        <p:nvSpPr>
          <p:cNvPr id="40" name="Shape 38"/>
          <p:cNvSpPr/>
          <p:nvPr/>
        </p:nvSpPr>
        <p:spPr>
          <a:xfrm>
            <a:off x="365760" y="3840480"/>
            <a:ext cx="45720" cy="31089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530352" y="382219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value comes from</a:t>
            </a:r>
            <a:endParaRPr lang="en-US" sz="860" dirty="0"/>
          </a:p>
        </p:txBody>
      </p:sp>
      <p:sp>
        <p:nvSpPr>
          <p:cNvPr id="42" name="Text 40"/>
          <p:cNvSpPr txBox="1"/>
          <p:nvPr/>
        </p:nvSpPr>
        <p:spPr>
          <a:xfrm>
            <a:off x="530352" y="3977640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10-20-70 split — algorithms, technology, people</a:t>
            </a:r>
            <a:endParaRPr lang="en-US" sz="800" dirty="0"/>
          </a:p>
        </p:txBody>
      </p:sp>
      <p:sp>
        <p:nvSpPr>
          <p:cNvPr id="43" name="Text 41">
            <a:hlinkClick r:id="rId9" tooltip="BCG, AI in customer service operations"/>
          </p:cNvPr>
          <p:cNvSpPr txBox="1"/>
          <p:nvPr/>
        </p:nvSpPr>
        <p:spPr>
          <a:xfrm>
            <a:off x="5669280" y="3877056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invalidUrl="" action="" tgtFrame="" tooltip="BCG, AI in customer service operation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BCG, AI in customer service operations</a:t>
            </a:r>
            <a:endParaRPr lang="en-US" sz="840" dirty="0"/>
          </a:p>
        </p:txBody>
      </p:sp>
      <p:sp>
        <p:nvSpPr>
          <p:cNvPr id="44" name="Shape 42"/>
          <p:cNvSpPr/>
          <p:nvPr/>
        </p:nvSpPr>
        <p:spPr>
          <a:xfrm>
            <a:off x="365760" y="4206240"/>
            <a:ext cx="45720" cy="31089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530352" y="418795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Fixing import failures</a:t>
            </a:r>
            <a:endParaRPr lang="en-US" sz="860" dirty="0"/>
          </a:p>
        </p:txBody>
      </p:sp>
      <p:sp>
        <p:nvSpPr>
          <p:cNvPr id="46" name="Text 44"/>
          <p:cNvSpPr txBox="1"/>
          <p:nvPr/>
        </p:nvSpPr>
        <p:spPr>
          <a:xfrm>
            <a:off x="530352" y="4343400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Retry vs. dead-letter, idempotency keys, alert on rate</a:t>
            </a:r>
            <a:endParaRPr lang="en-US" sz="800" dirty="0"/>
          </a:p>
        </p:txBody>
      </p:sp>
      <p:sp>
        <p:nvSpPr>
          <p:cNvPr id="47" name="Text 45">
            <a:hlinkClick r:id="rId10" tooltip="Dead-letter queues and poison messages"/>
          </p:cNvPr>
          <p:cNvSpPr txBox="1"/>
          <p:nvPr/>
        </p:nvSpPr>
        <p:spPr>
          <a:xfrm>
            <a:off x="5669280" y="4242816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0" invalidUrl="" action="" tgtFrame="" tooltip="Dead-letter queues and poison messag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Dead-letter queues and poison messages</a:t>
            </a:r>
            <a:endParaRPr lang="en-US" sz="840" dirty="0"/>
          </a:p>
        </p:txBody>
      </p:sp>
      <p:sp>
        <p:nvSpPr>
          <p:cNvPr id="48" name="Shape 46"/>
          <p:cNvSpPr/>
          <p:nvPr/>
        </p:nvSpPr>
        <p:spPr>
          <a:xfrm>
            <a:off x="365760" y="4572000"/>
            <a:ext cx="45720" cy="31089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530352" y="455371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Volumes and shares</a:t>
            </a:r>
            <a:endParaRPr lang="en-US" sz="860" dirty="0"/>
          </a:p>
        </p:txBody>
      </p:sp>
      <p:sp>
        <p:nvSpPr>
          <p:cNvPr id="50" name="Text 48"/>
          <p:cNvSpPr txBox="1"/>
          <p:nvPr/>
        </p:nvSpPr>
        <p:spPr>
          <a:xfrm>
            <a:off x="530352" y="4709160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~50 first reports a day · 65% minor · ~30 handlers</a:t>
            </a:r>
            <a:endParaRPr lang="en-US" sz="800" dirty="0"/>
          </a:p>
        </p:txBody>
      </p:sp>
      <p:sp>
        <p:nvSpPr>
          <p:cNvPr id="51" name="Text 49"/>
          <p:cNvSpPr txBox="1"/>
          <p:nvPr/>
        </p:nvSpPr>
        <p:spPr>
          <a:xfrm>
            <a:off x="5669280" y="4608576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i="1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case study brief</a:t>
            </a:r>
            <a:endParaRPr lang="en-US" sz="840" dirty="0"/>
          </a:p>
        </p:txBody>
      </p:sp>
      <p:sp>
        <p:nvSpPr>
          <p:cNvPr id="52" name="Shape 50"/>
          <p:cNvSpPr/>
          <p:nvPr/>
        </p:nvSpPr>
        <p:spPr>
          <a:xfrm>
            <a:off x="365760" y="4956048"/>
            <a:ext cx="11365992" cy="1097280"/>
          </a:xfrm>
          <a:prstGeom prst="roundRect">
            <a:avLst>
              <a:gd name="adj" fmla="val 5000"/>
            </a:avLst>
          </a:prstGeom>
          <a:solidFill>
            <a:srgbClr val="FDF3E3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48640" y="5056632"/>
            <a:ext cx="10972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60" kern="0" dirty="0">
                <a:solidFill>
                  <a:srgbClr val="9A5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ASSUMPTIONS — NOT SOURCED, AND THE FIRST THING WE WOULD TEST</a:t>
            </a:r>
            <a:endParaRPr lang="en-US" sz="860" dirty="0"/>
          </a:p>
        </p:txBody>
      </p:sp>
      <p:sp>
        <p:nvSpPr>
          <p:cNvPr id="54" name="Text 52"/>
          <p:cNvSpPr txBox="1"/>
          <p:nvPr/>
        </p:nvSpPr>
        <p:spPr>
          <a:xfrm>
            <a:off x="548640" y="5285232"/>
            <a:ext cx="10972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40" dirty="0">
                <a:solidFill>
                  <a:srgbClr val="44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per-step minute on slide 6 · the 30% allowance for breaks and interruptions · how often a CPR is missing (30%) or underwriting is asked (25%) · how often the redesign raises an exception (20%) · the tokens a typical claim needs · the €146k build · the 0.25 FTE upkeep · and how many people staff intake, which sets the per-person saving.</a:t>
            </a:r>
            <a:endParaRPr lang="en-US" sz="840" dirty="0"/>
          </a:p>
          <a:p>
            <a:pPr indent="0" marL="0">
              <a:lnSpc>
                <a:spcPct val="120000"/>
              </a:lnSpc>
              <a:buNone/>
            </a:pPr>
            <a:endParaRPr lang="en-US" sz="84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40" dirty="0">
                <a:solidFill>
                  <a:srgbClr val="44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weeks of watching live intake would replace all of these with real measurements. That is step one of the plan, not an afterthought.</a:t>
            </a:r>
            <a:endParaRPr lang="en-US" sz="840" dirty="0"/>
          </a:p>
        </p:txBody>
      </p:sp>
      <p:sp>
        <p:nvSpPr>
          <p:cNvPr id="55" name="Text 53"/>
          <p:cNvSpPr txBox="1"/>
          <p:nvPr/>
        </p:nvSpPr>
        <p:spPr>
          <a:xfrm>
            <a:off x="365760" y="6126480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Prices checked September 2026 · US$ converted at €0.92 · every euro figure is fully loaded — gross pay plus employer contributions</a:t>
            </a:r>
            <a:endParaRPr lang="en-US" sz="700" dirty="0"/>
          </a:p>
        </p:txBody>
      </p:sp>
      <p:sp>
        <p:nvSpPr>
          <p:cNvPr id="56" name="Text 54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57" name="Text 55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7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FNOL — Today vs. AI-Native, in three parts</dc:title>
  <dc:subject>PptxGenJS Presentation</dc:subject>
  <dc:creator>GGW Case Study</dc:creator>
  <cp:lastModifiedBy>GGW Case Study</cp:lastModifiedBy>
  <cp:revision>1</cp:revision>
  <dcterms:created xsi:type="dcterms:W3CDTF">2026-09-06T15:20:58Z</dcterms:created>
  <dcterms:modified xsi:type="dcterms:W3CDTF">2026-09-06T15:20:58Z</dcterms:modified>
</cp:coreProperties>
</file>