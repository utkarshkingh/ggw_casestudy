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achbearbeiter-in-Versicherung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azure.microsoft.com/en-us/pricing/details/postgresql/flexible-server/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the 10-person support team back 1.75 hours each, every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team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a support-team member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support-team member, every working day (of 6.4 productive hours)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10-person support team — 2.8 full-time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€139k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“€139k”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support-team hours a year × €31.83, the loaded cost of one of those hours. Valued at support pay (€41,100 gross), not claims-handler pay, because these are the hours actually freed. Capacity, not cash — it becomes money only if the hours go to the backlog or are absorbed by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run; keeping it healthy takes a quarter of an engineer, €24,400 — so €26,800 a year all in, against €139,100 of capacity released.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7, sources on slide 8.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on the same state, beside claim creation — so the handoff between the two workflows disappears rather than being managed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confirm these are not noticed today. That makes detection the first fix, not retries: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1907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have arrived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883664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EASY sends against IDB claims daily. A gap is a lost claim nobody sees.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3225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487168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it just fails again.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292608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090672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stuck claims do not all retry at once.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52958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3694176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every attempt, so a replay cannot create the claim twice.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13308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297680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holding queue with the error, so someone can fix and replay.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473659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5" name="Text 43"/>
          <p:cNvSpPr txBox="1"/>
          <p:nvPr/>
        </p:nvSpPr>
        <p:spPr>
          <a:xfrm>
            <a:off x="9390888" y="4901184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is not.</a:t>
            </a:r>
            <a:endParaRPr lang="en-US" sz="76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graph, one typed state object, and a person before anything leaves the building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08860" y="1042416"/>
            <a:ext cx="7552944" cy="402336"/>
          </a:xfrm>
          <a:prstGeom prst="roundRect">
            <a:avLst>
              <a:gd name="adj" fmla="val 11364"/>
            </a:avLst>
          </a:prstGeom>
          <a:solidFill>
            <a:srgbClr val="EEF3F8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08860" y="1042416"/>
            <a:ext cx="7552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state graph  ·  one ClaimState carries fields, confidence and the audit trail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1168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088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003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003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0599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519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60030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950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865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 — no model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9461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outcome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8892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812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727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approves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written to IDB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5760" y="2907792"/>
            <a:ext cx="1723644" cy="420624"/>
          </a:xfrm>
          <a:prstGeom prst="roundRect">
            <a:avLst>
              <a:gd name="adj" fmla="val 10870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0624" y="2907792"/>
            <a:ext cx="16139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7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2308860" y="2907792"/>
            <a:ext cx="949604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08860" y="2907792"/>
            <a:ext cx="94960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33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5506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69164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4436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8094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3367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7024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22976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559552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1228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4885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0158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3816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39088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42746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068019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1676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4370832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 · infrastructure as code · one on/off switch per agent · model version pinned</a:t>
            </a:r>
            <a:endParaRPr lang="en-US" sz="780" dirty="0"/>
          </a:p>
        </p:txBody>
      </p:sp>
      <p:sp>
        <p:nvSpPr>
          <p:cNvPr id="53" name="Text 51"/>
          <p:cNvSpPr txBox="1"/>
          <p:nvPr/>
        </p:nvSpPr>
        <p:spPr>
          <a:xfrm>
            <a:off x="36576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60" dirty="0"/>
          </a:p>
        </p:txBody>
      </p:sp>
      <p:sp>
        <p:nvSpPr>
          <p:cNvPr id="57" name="Text 55"/>
          <p:cNvSpPr txBox="1"/>
          <p:nvPr/>
        </p:nvSpPr>
        <p:spPr>
          <a:xfrm>
            <a:off x="512064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092958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3284982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60" dirty="0"/>
          </a:p>
        </p:txBody>
      </p:sp>
      <p:sp>
        <p:nvSpPr>
          <p:cNvPr id="62" name="Text 60"/>
          <p:cNvSpPr txBox="1"/>
          <p:nvPr/>
        </p:nvSpPr>
        <p:spPr>
          <a:xfrm>
            <a:off x="3431286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012180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6204204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6350508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931402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9123426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60" dirty="0"/>
          </a:p>
        </p:txBody>
      </p:sp>
      <p:sp>
        <p:nvSpPr>
          <p:cNvPr id="72" name="Text 70"/>
          <p:cNvSpPr txBox="1"/>
          <p:nvPr/>
        </p:nvSpPr>
        <p:spPr>
          <a:xfrm>
            <a:off x="9269730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5998464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drops into today's manual queue — slower, never wrong · what it costs is on slide 7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146304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INTAKE TIME — MINUTES PER CLAIM, PER PERSON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hours — 52% of the 10-person support team's year, 17% of all 30. Per person: 5 claims a day at 40 min is 3.3 of a 6.4-hour day. Intake is half of what the support team does.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support-h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€31.83 per support-team 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€139,100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€112,200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GETS THE TIME BACK — CONFIRMED BY GGW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 and 10 support staff (GGW, 8 Sep). The brief puts FNOL with the support team, so every freed hour is theirs.</a:t>
            </a:r>
            <a:endParaRPr lang="en-US" sz="78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support-team member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taken in,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on intake,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− 1.75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a productive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− 27 pts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back,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what GGW confirmed, and what is still our assumption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14630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handlers, 10 support staff — FNOL sits with support</a:t>
            </a:r>
            <a:endParaRPr lang="en-US" sz="78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65760" y="1042416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EASY imports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— so detection comes before retries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65760" y="1517904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in the team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 — intake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Sachbearbeiter/in Versicherung, €41,100 gross</a:t>
            </a:r>
            <a:endParaRPr lang="en-US" sz="780" dirty="0"/>
          </a:p>
        </p:txBody>
      </p:sp>
      <p:sp>
        <p:nvSpPr>
          <p:cNvPr id="19" name="Text 17">
            <a:hlinkClick r:id="rId1" tooltip="StepStone Gehaltsreport"/>
          </p:cNvPr>
          <p:cNvSpPr txBox="1"/>
          <p:nvPr/>
        </p:nvSpPr>
        <p:spPr>
          <a:xfrm>
            <a:off x="53035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6576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care</a:t>
            </a:r>
            <a:endParaRPr lang="en-US" sz="780" dirty="0"/>
          </a:p>
        </p:txBody>
      </p:sp>
      <p:sp>
        <p:nvSpPr>
          <p:cNvPr id="23" name="Text 21">
            <a:hlinkClick r:id="rId2" tooltip="Lohnnebenkosten 2026, sevdesk"/>
          </p:cNvPr>
          <p:cNvSpPr txBox="1"/>
          <p:nvPr/>
        </p:nvSpPr>
        <p:spPr>
          <a:xfrm>
            <a:off x="53035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6576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780" dirty="0"/>
          </a:p>
        </p:txBody>
      </p:sp>
      <p:sp>
        <p:nvSpPr>
          <p:cNvPr id="27" name="Text 25">
            <a:hlinkClick r:id="rId3" tooltip="Arbeitszeitgesetz §4"/>
          </p:cNvPr>
          <p:cNvSpPr txBox="1"/>
          <p:nvPr/>
        </p:nvSpPr>
        <p:spPr>
          <a:xfrm>
            <a:off x="53035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36576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780" dirty="0"/>
          </a:p>
        </p:txBody>
      </p:sp>
      <p:sp>
        <p:nvSpPr>
          <p:cNvPr id="31" name="Text 29">
            <a:hlinkClick r:id="rId4" tooltip="Glassdoor, ML Engineer Germany"/>
          </p:cNvPr>
          <p:cNvSpPr txBox="1"/>
          <p:nvPr/>
        </p:nvSpPr>
        <p:spPr>
          <a:xfrm>
            <a:off x="53035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6172200" y="56692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3679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780" dirty="0"/>
          </a:p>
        </p:txBody>
      </p:sp>
      <p:sp>
        <p:nvSpPr>
          <p:cNvPr id="35" name="Text 33">
            <a:hlinkClick r:id="rId5" tooltip="OpenAI API pricing"/>
          </p:cNvPr>
          <p:cNvSpPr txBox="1"/>
          <p:nvPr/>
        </p:nvSpPr>
        <p:spPr>
          <a:xfrm>
            <a:off x="633679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10424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3679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633679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780" dirty="0"/>
          </a:p>
        </p:txBody>
      </p:sp>
      <p:sp>
        <p:nvSpPr>
          <p:cNvPr id="39" name="Text 37">
            <a:hlinkClick r:id="rId6" tooltip="Azure Container Apps pricing"/>
          </p:cNvPr>
          <p:cNvSpPr txBox="1"/>
          <p:nvPr/>
        </p:nvSpPr>
        <p:spPr>
          <a:xfrm>
            <a:off x="633679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6172200" y="1517904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3679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633679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780" dirty="0"/>
          </a:p>
        </p:txBody>
      </p:sp>
      <p:sp>
        <p:nvSpPr>
          <p:cNvPr id="43" name="Text 41">
            <a:hlinkClick r:id="rId7" tooltip="Azure Database for PostgreSQL"/>
          </p:cNvPr>
          <p:cNvSpPr txBox="1"/>
          <p:nvPr/>
        </p:nvSpPr>
        <p:spPr>
          <a:xfrm>
            <a:off x="633679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17220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3679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633679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780" dirty="0"/>
          </a:p>
        </p:txBody>
      </p:sp>
      <p:sp>
        <p:nvSpPr>
          <p:cNvPr id="47" name="Text 45"/>
          <p:cNvSpPr txBox="1"/>
          <p:nvPr/>
        </p:nvSpPr>
        <p:spPr>
          <a:xfrm>
            <a:off x="633679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3679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633679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780" dirty="0"/>
          </a:p>
        </p:txBody>
      </p:sp>
      <p:sp>
        <p:nvSpPr>
          <p:cNvPr id="51" name="Text 49">
            <a:hlinkClick r:id="rId8" tooltip="Decerto, 2026 Claims Decisioning Pulse"/>
          </p:cNvPr>
          <p:cNvSpPr txBox="1"/>
          <p:nvPr/>
        </p:nvSpPr>
        <p:spPr>
          <a:xfrm>
            <a:off x="633679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17220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3679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633679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780" dirty="0"/>
          </a:p>
        </p:txBody>
      </p:sp>
      <p:sp>
        <p:nvSpPr>
          <p:cNvPr id="55" name="Text 53">
            <a:hlinkClick r:id="rId9" tooltip="BCG, AI in customer service operations"/>
          </p:cNvPr>
          <p:cNvSpPr txBox="1"/>
          <p:nvPr/>
        </p:nvSpPr>
        <p:spPr>
          <a:xfrm>
            <a:off x="633679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3679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633679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780" dirty="0"/>
          </a:p>
        </p:txBody>
      </p:sp>
      <p:sp>
        <p:nvSpPr>
          <p:cNvPr id="59" name="Text 57">
            <a:hlinkClick r:id="rId10" tooltip="Dead-letter queues and poison messages"/>
          </p:cNvPr>
          <p:cNvSpPr txBox="1"/>
          <p:nvPr/>
        </p:nvSpPr>
        <p:spPr>
          <a:xfrm>
            <a:off x="633679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65760" y="3986784"/>
            <a:ext cx="11457432" cy="1152144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87368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OUR ASSUMPTIONS — AND THE FIRST THING WE WOULD TEST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43159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7 · the 30% allowance for breaks and interruptions · how often a CPR is missing (30%) or underwriting is asked (25%) · how often the redesign raises an exception (20%) · the tokens a typical claim needs · the €146k build · the 0.25 FTE upkeep.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 is no longer among them — GGW answered it, and every per-person figure in this deck is rebuilt on that answer. Two weeks of watching live intake would replace the rest with measurements.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365760" y="5303520"/>
            <a:ext cx="45720" cy="1828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3035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by GGW or stated in the brief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3657600" y="5303520"/>
            <a:ext cx="45720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2219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source, linked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5099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2026-09-09T15:05:28Z</dcterms:created>
  <dcterms:modified xsi:type="dcterms:W3CDTF">2026-09-09T15:05:28Z</dcterms:modified>
</cp:coreProperties>
</file>