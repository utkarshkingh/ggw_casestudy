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www.decerto.com/us/post/ai-claims-decisioning-framework-2026-what-us-claims-leaders-told-us-about-how-decisions-actually-get-made" TargetMode="External"/><Relationship Id="rId8" Type="http://schemas.openxmlformats.org/officeDocument/2006/relationships/hyperlink" Target="https://www.bcg.com/publications/2024/transforming-customer-service-operations-with-genai" TargetMode="External"/><Relationship Id="rId9" Type="http://schemas.openxmlformats.org/officeDocument/2006/relationships/hyperlink" Target="https://www.glukhov.org/app-architecture/integration-patterns/dead-letter-queues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gives each claim handler back 52 minutes a day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 hours a day across the 20 of them, or 2.8 full-time people. Most of it goes to the ~65% of claims that close at intake with no permanent injury.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check and every exit kept, run in a new order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minutes back on every claim (a 52% cut)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BCG's 10-20-70, tilted to plumbing: EASY and IDB are the constraint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 per day, out of 6.4 productive hours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handlers, or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 a year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4,370 freed handler-hours are worth, at €34.92 fully loaded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11274552" cy="585216"/>
          </a:xfrm>
          <a:prstGeom prst="roundRect">
            <a:avLst>
              <a:gd name="adj" fmla="val 9375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58368" y="5047488"/>
            <a:ext cx="10881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 </a:t>
            </a:r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failed imports nobody sees today, then intake. A person approves every decision that can go against a claimant, at every stage.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stations share one claim record, so nothing is handed off or read twice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AT A GLANCE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trigger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65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67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6052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37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32520" y="576072"/>
            <a:ext cx="320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098280" y="45720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path (~20% of claims)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859536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2FAF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007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9144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07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993392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1993392"/>
            <a:ext cx="54864" cy="100584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40480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— NO MODEL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31272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1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127248"/>
            <a:ext cx="54864" cy="1005840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" y="318211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4261104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A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" y="4261104"/>
            <a:ext cx="54864" cy="1005840"/>
          </a:xfrm>
          <a:prstGeom prst="rect">
            <a:avLst/>
          </a:prstGeom>
          <a:solidFill>
            <a:srgbClr val="7A4A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" y="43159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7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DECIDES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1170432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912" y="1243584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438912" y="1499616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23088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20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23820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→ structured fields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2519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251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43251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61950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82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62682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· policy · duplicates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1950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62682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62682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evidence · ~20% of claims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81381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113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82113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cover, dates, sums · same record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81381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113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960" dirty="0"/>
          </a:p>
        </p:txBody>
      </p:sp>
      <p:sp>
        <p:nvSpPr>
          <p:cNvPr id="46" name="Text 44"/>
          <p:cNvSpPr txBox="1"/>
          <p:nvPr/>
        </p:nvSpPr>
        <p:spPr>
          <a:xfrm>
            <a:off x="82113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letter, cites its reasoning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10081260" y="4572000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154412" y="4645152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</a:t>
            </a:r>
            <a:endParaRPr lang="en-US" sz="960" dirty="0"/>
          </a:p>
        </p:txBody>
      </p:sp>
      <p:sp>
        <p:nvSpPr>
          <p:cNvPr id="49" name="Text 47"/>
          <p:cNvSpPr txBox="1"/>
          <p:nvPr/>
        </p:nvSpPr>
        <p:spPr>
          <a:xfrm>
            <a:off x="10154412" y="4901184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sends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411480" y="1216152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11480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40" dirty="0"/>
          </a:p>
        </p:txBody>
      </p:sp>
      <p:sp>
        <p:nvSpPr>
          <p:cNvPr id="52" name="Shape 50"/>
          <p:cNvSpPr/>
          <p:nvPr/>
        </p:nvSpPr>
        <p:spPr>
          <a:xfrm>
            <a:off x="23545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3545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40" dirty="0"/>
          </a:p>
        </p:txBody>
      </p:sp>
      <p:sp>
        <p:nvSpPr>
          <p:cNvPr id="54" name="Shape 52"/>
          <p:cNvSpPr/>
          <p:nvPr/>
        </p:nvSpPr>
        <p:spPr>
          <a:xfrm>
            <a:off x="42976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2976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40" dirty="0"/>
          </a:p>
        </p:txBody>
      </p:sp>
      <p:sp>
        <p:nvSpPr>
          <p:cNvPr id="56" name="Shape 54"/>
          <p:cNvSpPr/>
          <p:nvPr/>
        </p:nvSpPr>
        <p:spPr>
          <a:xfrm>
            <a:off x="62407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2407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40" dirty="0"/>
          </a:p>
        </p:txBody>
      </p:sp>
      <p:sp>
        <p:nvSpPr>
          <p:cNvPr id="58" name="Shape 56"/>
          <p:cNvSpPr/>
          <p:nvPr/>
        </p:nvSpPr>
        <p:spPr>
          <a:xfrm>
            <a:off x="81838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1838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81838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1838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40" dirty="0"/>
          </a:p>
        </p:txBody>
      </p:sp>
      <p:sp>
        <p:nvSpPr>
          <p:cNvPr id="62" name="Shape 60"/>
          <p:cNvSpPr/>
          <p:nvPr/>
        </p:nvSpPr>
        <p:spPr>
          <a:xfrm>
            <a:off x="10126980" y="4617720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126980" y="4617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40" dirty="0"/>
          </a:p>
        </p:txBody>
      </p:sp>
      <p:sp>
        <p:nvSpPr>
          <p:cNvPr id="64" name="Shape 62"/>
          <p:cNvSpPr/>
          <p:nvPr/>
        </p:nvSpPr>
        <p:spPr>
          <a:xfrm>
            <a:off x="1227582" y="1792224"/>
            <a:ext cx="1943100" cy="164592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40325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 flipV="1">
            <a:off x="51137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7918704" y="2615184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89999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70568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79187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8999982" y="4059936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72" name="Text 70"/>
          <p:cNvSpPr txBox="1"/>
          <p:nvPr/>
        </p:nvSpPr>
        <p:spPr>
          <a:xfrm>
            <a:off x="365760" y="5449824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i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drafts. Rules check. A person decides anything that can go against a claimant.</a:t>
            </a:r>
            <a:endParaRPr lang="en-US" sz="860" dirty="0"/>
          </a:p>
        </p:txBody>
      </p:sp>
      <p:sp>
        <p:nvSpPr>
          <p:cNvPr id="73" name="Text 7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on the left, the redesign on the right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(usually the employer)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it;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(not PD/LOEC)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arrives: EASY, AES secure mail, or email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in, structured fields out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54152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61564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25424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57428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68401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strict, loosens with data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389432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51066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730117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2418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21436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6990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499160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499160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replace 3 entry channels, the auto-import failure path, and the whole 1.1 side track.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 three checks depends on the other two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37" name="Text 35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(rules only)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lookups at once, no model call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CVR and fuzzy-match evidence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195560" y="3260979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 only)</a:t>
            </a:r>
            <a:endParaRPr lang="en-US" sz="760" dirty="0"/>
          </a:p>
        </p:txBody>
      </p:sp>
      <p:sp>
        <p:nvSpPr>
          <p:cNvPr id="47" name="Text 45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letter, no permanent injury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letter or the IDB record,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its reasoning attached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 monitor edit rate, not model accuracy)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35508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AI-drafted, handler approved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019556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1019556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alongside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result:  </a:t>
            </a:r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entry channels → 1 · 3 sequential gates → 1 parallel check · the Coverage Check handoff disappears, it runs on the same state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cheap. That is what earns the trust the bigger wins need.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today, so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rules, ending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first, because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so far (GGW)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(GGW), so detection comes before retries: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390888" y="17007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90888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738360" y="16824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arrive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9738360" y="18470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reconciliation catches gaps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390888" y="2189988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390888" y="21899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738360" y="217170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80" dirty="0"/>
          </a:p>
        </p:txBody>
      </p:sp>
      <p:sp>
        <p:nvSpPr>
          <p:cNvPr id="41" name="Text 39"/>
          <p:cNvSpPr txBox="1"/>
          <p:nvPr/>
        </p:nvSpPr>
        <p:spPr>
          <a:xfrm>
            <a:off x="9738360" y="233629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vs. missing field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9390888" y="2679192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390888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738360" y="2660904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backoff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9738360" y="282549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 + jitter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9390888" y="3168396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390888" y="31683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738360" y="3150108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key per claim</a:t>
            </a:r>
            <a:endParaRPr lang="en-US" sz="880" dirty="0"/>
          </a:p>
        </p:txBody>
      </p:sp>
      <p:sp>
        <p:nvSpPr>
          <p:cNvPr id="49" name="Text 47"/>
          <p:cNvSpPr txBox="1"/>
          <p:nvPr/>
        </p:nvSpPr>
        <p:spPr>
          <a:xfrm>
            <a:off x="9738360" y="331470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replays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9390888" y="3657600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9088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738360" y="3639312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don't drop</a:t>
            </a:r>
            <a:endParaRPr lang="en-US" sz="880" dirty="0"/>
          </a:p>
        </p:txBody>
      </p:sp>
      <p:sp>
        <p:nvSpPr>
          <p:cNvPr id="53" name="Text 51"/>
          <p:cNvSpPr txBox="1"/>
          <p:nvPr/>
        </p:nvSpPr>
        <p:spPr>
          <a:xfrm>
            <a:off x="9738360" y="3803904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 queue for review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9390888" y="414680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90888" y="41468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9738360" y="412851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</a:t>
            </a:r>
            <a:endParaRPr lang="en-US" sz="880" dirty="0"/>
          </a:p>
        </p:txBody>
      </p:sp>
      <p:sp>
        <p:nvSpPr>
          <p:cNvPr id="57" name="Text 55"/>
          <p:cNvSpPr txBox="1"/>
          <p:nvPr/>
        </p:nvSpPr>
        <p:spPr>
          <a:xfrm>
            <a:off x="9738360" y="429310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spike matters, a trickle does not</a:t>
            </a:r>
            <a:endParaRPr lang="en-US" sz="76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absent. Those decisions are not ours to make.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the cloud GGW already run, and released in three gated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ROLLOUT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723644" cy="475488"/>
          </a:xfrm>
          <a:prstGeom prst="roundRect">
            <a:avLst>
              <a:gd name="adj" fmla="val 961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640080"/>
            <a:ext cx="15773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308860" y="640080"/>
            <a:ext cx="9185148" cy="475488"/>
          </a:xfrm>
          <a:prstGeom prst="roundRect">
            <a:avLst>
              <a:gd name="adj" fmla="val 9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08860" y="640080"/>
            <a:ext cx="9185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place: every decision, its inputs, its confidence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08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65709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9367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94843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500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423976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7634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5531104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67680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682244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901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811377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5035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940511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4168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1069644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73302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6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6883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5760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3EDF6"/>
          </a:solidFill>
          <a:ln w="15240">
            <a:solidFill>
              <a:srgbClr val="3B6F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3776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20" dirty="0"/>
          </a:p>
        </p:txBody>
      </p:sp>
      <p:sp>
        <p:nvSpPr>
          <p:cNvPr id="30" name="Text 28"/>
          <p:cNvSpPr txBox="1"/>
          <p:nvPr/>
        </p:nvSpPr>
        <p:spPr>
          <a:xfrm>
            <a:off x="2057400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classify, extract, but never decide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245864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524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373880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no model</a:t>
            </a:r>
            <a:endParaRPr lang="en-US" sz="920" dirty="0"/>
          </a:p>
        </p:txBody>
      </p:sp>
      <p:sp>
        <p:nvSpPr>
          <p:cNvPr id="33" name="Text 31"/>
          <p:cNvSpPr txBox="1"/>
          <p:nvPr/>
        </p:nvSpPr>
        <p:spPr>
          <a:xfrm>
            <a:off x="5937504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record: pass or fail, nothing in between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125968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F1E6ED"/>
          </a:solidFill>
          <a:ln w="15240">
            <a:solidFill>
              <a:srgbClr val="7A4A6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53984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</a:t>
            </a:r>
            <a:endParaRPr lang="en-US" sz="920" dirty="0"/>
          </a:p>
        </p:txBody>
      </p:sp>
      <p:sp>
        <p:nvSpPr>
          <p:cNvPr id="36" name="Text 34"/>
          <p:cNvSpPr txBox="1"/>
          <p:nvPr/>
        </p:nvSpPr>
        <p:spPr>
          <a:xfrm>
            <a:off x="9817608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anything can go against a claimant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365760" y="3639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512064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12064" y="4480560"/>
            <a:ext cx="2407158" cy="91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12064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extraction agrees with the handler on 95% of fields.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3092958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284982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80" dirty="0"/>
          </a:p>
        </p:txBody>
      </p:sp>
      <p:sp>
        <p:nvSpPr>
          <p:cNvPr id="48" name="Text 46"/>
          <p:cNvSpPr txBox="1"/>
          <p:nvPr/>
        </p:nvSpPr>
        <p:spPr>
          <a:xfrm>
            <a:off x="3431286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3431286" y="4480560"/>
            <a:ext cx="2407158" cy="914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31286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edit rate on minor claims settles below 20%.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6012180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204204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80" dirty="0"/>
          </a:p>
        </p:txBody>
      </p:sp>
      <p:sp>
        <p:nvSpPr>
          <p:cNvPr id="55" name="Text 53"/>
          <p:cNvSpPr txBox="1"/>
          <p:nvPr/>
        </p:nvSpPr>
        <p:spPr>
          <a:xfrm>
            <a:off x="6350508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6350508" y="4480560"/>
            <a:ext cx="2407158" cy="9144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50508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criteria reviewed monthly with the claims lead.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8931402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9123426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80" dirty="0"/>
          </a:p>
        </p:txBody>
      </p:sp>
      <p:sp>
        <p:nvSpPr>
          <p:cNvPr id="62" name="Text 60"/>
          <p:cNvSpPr txBox="1"/>
          <p:nvPr/>
        </p:nvSpPr>
        <p:spPr>
          <a:xfrm>
            <a:off x="9269730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9269730" y="4480560"/>
            <a:ext cx="2407158" cy="9144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269730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boundary, not a phase.</a:t>
            </a:r>
            <a:endParaRPr lang="en-US" sz="720" dirty="0"/>
          </a:p>
        </p:txBody>
      </p:sp>
      <p:sp>
        <p:nvSpPr>
          <p:cNvPr id="65" name="Text 63"/>
          <p:cNvSpPr txBox="1"/>
          <p:nvPr/>
        </p:nvSpPr>
        <p:spPr>
          <a:xfrm>
            <a:off x="365760" y="484632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falls back to today's manual queue. Slower, never wrong.</a:t>
            </a:r>
            <a:endParaRPr lang="en-US" sz="740" dirty="0"/>
          </a:p>
        </p:txBody>
      </p:sp>
      <p:sp>
        <p:nvSpPr>
          <p:cNvPr id="66" name="Text 64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minute is observed, and the redesign pays for itself in 14 months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146304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TIME PER CLAIM, PER HANDLER (MINUTES)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5650992" cy="914400"/>
        </p:xfrm>
        <a:graphic>
          <a:graphicData uri="http://schemas.openxmlformats.org/drawingml/2006/table">
            <a:tbl>
              <a:tblPr/>
              <a:tblGrid>
                <a:gridCol w="3639312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&amp; extract the report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policy, CPR &amp; escalations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systems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breaks &amp; interruptions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9319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bank 19 min, not the 10.1 the design allows: the business case runs on a three-point estimate of best, likely and worst case.</a:t>
            </a:r>
            <a:endParaRPr lang="en-US" sz="86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224528"/>
            <a:ext cx="5650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2.5 first reports a day per handler, the same before and after, that's inbound volume, not a capacity cap. What changes is the time each takes: 100 minutes a day, then 48. Confirmed by GGW (8 Sep 2026).</a:t>
            </a:r>
            <a:endParaRPr lang="en-US" sz="86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THE BUSINESS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841248"/>
            <a:ext cx="5650992" cy="3072384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969264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921240" y="12801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159105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19019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921240" y="221284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921240" y="252374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2834640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84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3145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921240" y="314553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3456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921240" y="345643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172200" y="409651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cost in full: ≈ €0.08/claim in AI tokens + ≈ $134/month in Azure → €2,400/year, all in.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43891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cash. The AI team is already funded.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63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sourced, dated, or named as an assumption we'd test first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628632" y="182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Who does intake — 20 claim handlers process claims; 10 support staff besides.  (GGW (P. Gossmann), 8 Sep 2026)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96469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Failed EASY imports — Not noticed today — so detection comes before retries.  (GGW (P. Gossmann), 8 Sep 2026)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271016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Volumes and shares — ~50 first reports a day · 65% minor · ~30 in the team.  (GGW case study brief)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5773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Wage base — Schadenregulierer/in, €45,100 gross — the role doing intake.  </a:t>
            </a:r>
            <a:endParaRPr lang="en-US" sz="1000" dirty="0"/>
          </a:p>
        </p:txBody>
      </p:sp>
      <p:sp>
        <p:nvSpPr>
          <p:cNvPr id="8" name="Text 6">
            <a:hlinkClick r:id="rId1" tooltip="StepStone"/>
          </p:cNvPr>
          <p:cNvSpPr txBox="1"/>
          <p:nvPr/>
        </p:nvSpPr>
        <p:spPr>
          <a:xfrm>
            <a:off x="9189720" y="157734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(StepStone)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8836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Employer on-cost — ≈ €23 per €100 gross — health, pension, care.  </a:t>
            </a:r>
            <a:endParaRPr lang="en-US" sz="1000" dirty="0"/>
          </a:p>
        </p:txBody>
      </p:sp>
      <p:sp>
        <p:nvSpPr>
          <p:cNvPr id="10" name="Text 8">
            <a:hlinkClick r:id="rId2" tooltip="sevdesk"/>
          </p:cNvPr>
          <p:cNvSpPr txBox="1"/>
          <p:nvPr/>
        </p:nvSpPr>
        <p:spPr>
          <a:xfrm>
            <a:off x="9189720" y="188366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(sevdesk)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21899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Working time &amp; breaks — 38h tariff week; statutory break rules.  </a:t>
            </a:r>
            <a:endParaRPr lang="en-US" sz="1000" dirty="0"/>
          </a:p>
        </p:txBody>
      </p:sp>
      <p:sp>
        <p:nvSpPr>
          <p:cNvPr id="12" name="Text 10">
            <a:hlinkClick r:id="rId3" tooltip="Arbeitszeitgesetz §4"/>
          </p:cNvPr>
          <p:cNvSpPr txBox="1"/>
          <p:nvPr/>
        </p:nvSpPr>
        <p:spPr>
          <a:xfrm>
            <a:off x="9189720" y="218998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(Arbeitszeitgesetz §4)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49631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Build &amp; upkeep pay — Senior ML engineer ≈ €98k; juniors ≈ €70k, as briefed.  </a:t>
            </a:r>
            <a:endParaRPr lang="en-US" sz="1000" dirty="0"/>
          </a:p>
        </p:txBody>
      </p:sp>
      <p:sp>
        <p:nvSpPr>
          <p:cNvPr id="14" name="Text 12">
            <a:hlinkClick r:id="rId4" tooltip="Glassdoor"/>
          </p:cNvPr>
          <p:cNvSpPr txBox="1"/>
          <p:nvPr/>
        </p:nvSpPr>
        <p:spPr>
          <a:xfrm>
            <a:off x="9189720" y="249631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(Glassdoor)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280263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Model prices — gpt-5.6 terra — $2 in / $12 out per million tokens.  </a:t>
            </a:r>
            <a:endParaRPr lang="en-US" sz="1000" dirty="0"/>
          </a:p>
        </p:txBody>
      </p:sp>
      <p:sp>
        <p:nvSpPr>
          <p:cNvPr id="16" name="Text 14">
            <a:hlinkClick r:id="rId5" tooltip="OpenAI"/>
          </p:cNvPr>
          <p:cNvSpPr txBox="1"/>
          <p:nvPr/>
        </p:nvSpPr>
        <p:spPr>
          <a:xfrm>
            <a:off x="9189720" y="280263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(OpenAI)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31089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 Hosting &amp; database — Container Apps consumption rates; PostgreSQL B2s.  </a:t>
            </a:r>
            <a:endParaRPr lang="en-US" sz="1000" dirty="0"/>
          </a:p>
        </p:txBody>
      </p:sp>
      <p:sp>
        <p:nvSpPr>
          <p:cNvPr id="18" name="Text 16">
            <a:hlinkClick r:id="rId6" tooltip="Azure pricing"/>
          </p:cNvPr>
          <p:cNvSpPr txBox="1"/>
          <p:nvPr/>
        </p:nvSpPr>
        <p:spPr>
          <a:xfrm>
            <a:off x="9189720" y="310896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(Azure pricing)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3415284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 Upkeep after go-live — 15–20% of build effort a year, ours is 17%.  (Standard maintenance rule of thumb)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372160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 Industry baseline — 17 of 20 carriers still manual; none let AI decide alone.  </a:t>
            </a:r>
            <a:endParaRPr lang="en-US" sz="1000" dirty="0"/>
          </a:p>
        </p:txBody>
      </p:sp>
      <p:sp>
        <p:nvSpPr>
          <p:cNvPr id="21" name="Text 19">
            <a:hlinkClick r:id="rId7" tooltip="Decerto, 2026 Claims Decisioning Pulse"/>
          </p:cNvPr>
          <p:cNvSpPr txBox="1"/>
          <p:nvPr/>
        </p:nvSpPr>
        <p:spPr>
          <a:xfrm>
            <a:off x="9189720" y="372160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(Decerto, 2026 Claims Decisioning Pulse)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402793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 Where value comes from — The 10-20-70 split — algorithms, technology, people.  </a:t>
            </a:r>
            <a:endParaRPr lang="en-US" sz="1000" dirty="0"/>
          </a:p>
        </p:txBody>
      </p:sp>
      <p:sp>
        <p:nvSpPr>
          <p:cNvPr id="23" name="Text 21">
            <a:hlinkClick r:id="rId8" tooltip="BCG"/>
          </p:cNvPr>
          <p:cNvSpPr txBox="1"/>
          <p:nvPr/>
        </p:nvSpPr>
        <p:spPr>
          <a:xfrm>
            <a:off x="9189720" y="402793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C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(BCG)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433425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 Fixing import failures — Retry vs. dead-letter, idempotency, alert on rate.  </a:t>
            </a:r>
            <a:endParaRPr lang="en-US" sz="1000" dirty="0"/>
          </a:p>
        </p:txBody>
      </p:sp>
      <p:sp>
        <p:nvSpPr>
          <p:cNvPr id="25" name="Text 23">
            <a:hlinkClick r:id="rId9" tooltip="Standard integration pattern"/>
          </p:cNvPr>
          <p:cNvSpPr txBox="1"/>
          <p:nvPr/>
        </p:nvSpPr>
        <p:spPr>
          <a:xfrm>
            <a:off x="9189720" y="433425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Standard integration patter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(Standard integration pattern)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4732020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assumptions, not sourced. The first thing we would test: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4988052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8 · the 30% allowance for breaks and interruptions · how often a CPR is missing (30%) or underwriting is asked (25%) · how often the redesign raises an exception (20%) · the tokens a typical claim needs · the €146k build · the 0.25 FTE upkeep. Two weeks of watching live intake would replace all of this with measurements.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630936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(gross pay plus employer contributions).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is a function, not an agent: three lookups in parallel, no model call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LangGraph node: typed state in, a partial state update out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6949440" cy="4160520"/>
          </a:xfrm>
          <a:prstGeom prst="roundRect">
            <a:avLst>
              <a:gd name="adj" fmla="val 1319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6547104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policy_id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failure_reasons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check_cpr_policy_match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check_policy_in_force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check_duplicate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"validation_failed"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"failure_reasons"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add_conditional_edges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"exception_research"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"coverage_check"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1005840"/>
            <a:ext cx="4279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AN AGENT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543800" y="1380744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99248" y="1316736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prompt, no completion call: three pure lookups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the CPR/CVR register, policy admin, and IDB.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543800" y="1996440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99248" y="1932432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milliseconds and costs nothing to run; same input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gives the same output.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543800" y="2612136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99248" y="2548128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Unit-tested like any other function, not evaluated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prompt.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3227832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99248" y="3163824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Checkpointed in Postgres: a claim put on hold resumes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where it left off.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43800" y="3977640"/>
            <a:ext cx="4279392" cy="1188720"/>
          </a:xfrm>
          <a:prstGeom prst="roundRect">
            <a:avLst>
              <a:gd name="adj" fmla="val 4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08392" y="3977640"/>
            <a:ext cx="3950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failure path calls a model, Exception Research, and only for the ~20% of claims that need judgement. Everything deterministic stays deterministic.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 Agent: one call returns a typed schema, not free text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output: the schema is a Pydantic model, so a missing field is null, never a guess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1457432" cy="5074920"/>
          </a:xfrm>
          <a:prstGeom prst="roundRect">
            <a:avLst>
              <a:gd name="adj" fmla="val 1081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11055096" cy="4745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body_part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 the fields below. Use null for 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"anything not stated; never invent a value."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with_structured_output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raw_report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"extracted"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"confidence"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add_edge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"classify"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2026-09-16T16:43:19Z</dcterms:created>
  <dcterms:modified xsi:type="dcterms:W3CDTF">2026-09-16T16:43:19Z</dcterms:modified>
</cp:coreProperties>
</file>