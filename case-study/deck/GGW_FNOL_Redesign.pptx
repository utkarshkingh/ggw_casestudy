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www.decerto.com/us/post/ai-claims-decisioning-framework-2026-what-us-claims-leaders-told-us-about-how-decisions-actually-get-made" TargetMode="External"/><Relationship Id="rId8" Type="http://schemas.openxmlformats.org/officeDocument/2006/relationships/hyperlink" Target="https://www.bcg.com/publications/2024/transforming-customer-service-operations-with-genai" TargetMode="External"/><Relationship Id="rId9" Type="http://schemas.openxmlformats.org/officeDocument/2006/relationships/hyperlink" Target="https://www.glukhov.org/app-architecture/integration-patterns/dead-letter-queues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roughly doubles a claim handler's daily capacity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claim drops from 40 to 19 minutes. Same 20 handlers, same shift: that's a capacity ceiling, not confirmed extra demand.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check and every exit kept, run in a new order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minutes back on every claim (a 52% cut)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BCG's 10-20-70, tilted to plumbing: EASY and IDB are the constraint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 per day, out of 6.4 productive hours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handlers, or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 a year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4,370 freed handler-hours are worth, at €34.92 fully loaded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11274552" cy="585216"/>
          </a:xfrm>
          <a:prstGeom prst="roundRect">
            <a:avLst>
              <a:gd name="adj" fmla="val 9375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58368" y="5047488"/>
            <a:ext cx="10881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 </a:t>
            </a:r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failed imports nobody sees today, then intake. A person approves every decision that can go against a claimant, at every stage.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stations share one claim record, so nothing is handed off or read twice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AT A GLANCE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trigger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65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37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320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098280" y="4572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path (~20% of claims)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859536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2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007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9144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07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993392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1993392"/>
            <a:ext cx="54864" cy="100584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0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— NO MODEL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1272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1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27248"/>
            <a:ext cx="54864" cy="1005840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318211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261104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A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4261104"/>
            <a:ext cx="54864" cy="1005840"/>
          </a:xfrm>
          <a:prstGeom prst="rect">
            <a:avLst/>
          </a:prstGeom>
          <a:solidFill>
            <a:srgbClr val="7A4A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43159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7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DECIDES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170432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" y="1243584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438912" y="1499616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23088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20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23820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→ structured fields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2519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251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61950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82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62682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· policy · duplicates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1950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62682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62682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evidence · ~20% of claims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81381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113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82113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cover, dates, sums · same record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81381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113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82113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letter, cites its reasoning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10081260" y="4572000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154412" y="4645152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</a:t>
            </a:r>
            <a:endParaRPr lang="en-US" sz="960" dirty="0"/>
          </a:p>
        </p:txBody>
      </p:sp>
      <p:sp>
        <p:nvSpPr>
          <p:cNvPr id="49" name="Text 47"/>
          <p:cNvSpPr txBox="1"/>
          <p:nvPr/>
        </p:nvSpPr>
        <p:spPr>
          <a:xfrm>
            <a:off x="10154412" y="4901184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sends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411480" y="1216152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11480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40" dirty="0"/>
          </a:p>
        </p:txBody>
      </p:sp>
      <p:sp>
        <p:nvSpPr>
          <p:cNvPr id="52" name="Shape 50"/>
          <p:cNvSpPr/>
          <p:nvPr/>
        </p:nvSpPr>
        <p:spPr>
          <a:xfrm>
            <a:off x="23545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3545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40" dirty="0"/>
          </a:p>
        </p:txBody>
      </p:sp>
      <p:sp>
        <p:nvSpPr>
          <p:cNvPr id="54" name="Shape 52"/>
          <p:cNvSpPr/>
          <p:nvPr/>
        </p:nvSpPr>
        <p:spPr>
          <a:xfrm>
            <a:off x="42976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2976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40" dirty="0"/>
          </a:p>
        </p:txBody>
      </p:sp>
      <p:sp>
        <p:nvSpPr>
          <p:cNvPr id="56" name="Shape 54"/>
          <p:cNvSpPr/>
          <p:nvPr/>
        </p:nvSpPr>
        <p:spPr>
          <a:xfrm>
            <a:off x="62407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2407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40" dirty="0"/>
          </a:p>
        </p:txBody>
      </p:sp>
      <p:sp>
        <p:nvSpPr>
          <p:cNvPr id="58" name="Shape 56"/>
          <p:cNvSpPr/>
          <p:nvPr/>
        </p:nvSpPr>
        <p:spPr>
          <a:xfrm>
            <a:off x="81838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1838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81838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1838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40" dirty="0"/>
          </a:p>
        </p:txBody>
      </p:sp>
      <p:sp>
        <p:nvSpPr>
          <p:cNvPr id="62" name="Shape 60"/>
          <p:cNvSpPr/>
          <p:nvPr/>
        </p:nvSpPr>
        <p:spPr>
          <a:xfrm>
            <a:off x="10126980" y="4617720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126980" y="4617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40" dirty="0"/>
          </a:p>
        </p:txBody>
      </p:sp>
      <p:sp>
        <p:nvSpPr>
          <p:cNvPr id="64" name="Shape 62"/>
          <p:cNvSpPr/>
          <p:nvPr/>
        </p:nvSpPr>
        <p:spPr>
          <a:xfrm>
            <a:off x="1227582" y="1792224"/>
            <a:ext cx="1943100" cy="164592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40325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 flipV="1">
            <a:off x="51137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7918704" y="2615184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89999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70568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79187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8999982" y="4059936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365760" y="5449824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Rules check. A person decides anything that can go against a claimant.</a:t>
            </a:r>
            <a:endParaRPr lang="en-US" sz="86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on the left, the redesign on the right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(usually the employer)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it;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(not PD/LOEC)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arrives: EASY, AES secure mail, or email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in, structured fields out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54152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61564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25424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57428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68401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strict, loosens with data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389432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51066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730117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2418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21436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6990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499160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499160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replace 3 entry channels, the auto-import failure path, and the whole 1.1 side track.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 three checks depends on the other two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37" name="Text 35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(rules only)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lookups at once, no model call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CVR and fuzzy-match evidence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195560" y="3260979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only)</a:t>
            </a:r>
            <a:endParaRPr lang="en-US" sz="760" dirty="0"/>
          </a:p>
        </p:txBody>
      </p:sp>
      <p:sp>
        <p:nvSpPr>
          <p:cNvPr id="47" name="Text 45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letter, no permanent injury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letter or the IDB record,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its reasoning attached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 monitor edit rate, not model accuracy)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35508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AI-drafted, handler approved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019556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1019556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alongside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result:  </a:t>
            </a:r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entry channels → 1 · 3 sequential gates → 1 parallel check · the Coverage Check handoff disappears, it runs on the same state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cheap. That is what earns the trust the bigger wins need.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FIRES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521208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every claim, makes no decision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+ Classification Agents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fields, claim type, confidence score, every claim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+ Coverage Check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only: CPR, policy, dates, a failed import is caught automatically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263640" y="914400"/>
            <a:ext cx="521208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0607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129844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492240" y="1627632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29400" y="16276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claims, writes the close-out letter,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492240" y="2322576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32257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 on the ~20% flagged, gathers evidence for a person to decide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521208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 THE PATTERN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rarer, but the same shape works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Underwriting decision support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prepares the evidence only: self-employed, group/branch, name mismatch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263640" y="3200400"/>
            <a:ext cx="521208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3467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58444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92240" y="3913632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29400" y="39136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so far (GGW) · a checklist beats a model</a:t>
            </a:r>
            <a:endParaRPr lang="en-US" sz="920" dirty="0"/>
          </a:p>
        </p:txBody>
      </p:sp>
      <p:sp>
        <p:nvSpPr>
          <p:cNvPr id="31" name="Text 29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absent. Those decisions are not ours to make.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the cloud GGW already run, and released in three gated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ROLLOUT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723644" cy="475488"/>
          </a:xfrm>
          <a:prstGeom prst="roundRect">
            <a:avLst>
              <a:gd name="adj" fmla="val 961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640080"/>
            <a:ext cx="15773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308860" y="640080"/>
            <a:ext cx="9185148" cy="475488"/>
          </a:xfrm>
          <a:prstGeom prst="roundRect">
            <a:avLst>
              <a:gd name="adj" fmla="val 9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08860" y="640080"/>
            <a:ext cx="9185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place: every decision, its inputs, its confidence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08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897706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" y="1682496"/>
            <a:ext cx="824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409770" y="1682496"/>
            <a:ext cx="102035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46346" y="1682496"/>
            <a:ext cx="9472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576428" y="1682496"/>
            <a:ext cx="95903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13004" y="1682496"/>
            <a:ext cx="885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3681761" y="1682496"/>
            <a:ext cx="1081677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18337" y="1682496"/>
            <a:ext cx="1008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4909742" y="1682496"/>
            <a:ext cx="1143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46318" y="1682496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6199046" y="1682496"/>
            <a:ext cx="132697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5622" y="1682496"/>
            <a:ext cx="125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7672320" y="1682496"/>
            <a:ext cx="1449617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08896" y="1682496"/>
            <a:ext cx="137646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9268241" y="1682496"/>
            <a:ext cx="120432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04817" y="1682496"/>
            <a:ext cx="11311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10618869" y="1682496"/>
            <a:ext cx="120432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655445" y="1682496"/>
            <a:ext cx="11311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6883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2962656"/>
            <a:ext cx="3440811" cy="420624"/>
          </a:xfrm>
          <a:prstGeom prst="roundRect">
            <a:avLst>
              <a:gd name="adj" fmla="val 10870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3776" y="2962656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20" dirty="0"/>
          </a:p>
        </p:txBody>
      </p:sp>
      <p:sp>
        <p:nvSpPr>
          <p:cNvPr id="30" name="Text 28"/>
          <p:cNvSpPr txBox="1"/>
          <p:nvPr/>
        </p:nvSpPr>
        <p:spPr>
          <a:xfrm>
            <a:off x="1609344" y="2962656"/>
            <a:ext cx="21057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extract, but never decide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989451" y="2962656"/>
            <a:ext cx="4028955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117467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20" dirty="0"/>
          </a:p>
        </p:txBody>
      </p:sp>
      <p:sp>
        <p:nvSpPr>
          <p:cNvPr id="33" name="Text 31"/>
          <p:cNvSpPr txBox="1"/>
          <p:nvPr/>
        </p:nvSpPr>
        <p:spPr>
          <a:xfrm>
            <a:off x="5726811" y="2962656"/>
            <a:ext cx="22001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record: pass or fail, nothing in between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201286" y="2962656"/>
            <a:ext cx="3621906" cy="420624"/>
          </a:xfrm>
          <a:prstGeom prst="roundRect">
            <a:avLst>
              <a:gd name="adj" fmla="val 10870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29302" y="2962656"/>
            <a:ext cx="978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20" dirty="0"/>
          </a:p>
        </p:txBody>
      </p:sp>
      <p:sp>
        <p:nvSpPr>
          <p:cNvPr id="36" name="Text 34"/>
          <p:cNvSpPr txBox="1"/>
          <p:nvPr/>
        </p:nvSpPr>
        <p:spPr>
          <a:xfrm>
            <a:off x="9362574" y="2962656"/>
            <a:ext cx="2369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365760" y="3639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2064" y="4480560"/>
            <a:ext cx="2407158" cy="91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2064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extraction agrees with the handler on 95% of fields.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3092958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284982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80" dirty="0"/>
          </a:p>
        </p:txBody>
      </p:sp>
      <p:sp>
        <p:nvSpPr>
          <p:cNvPr id="48" name="Text 46"/>
          <p:cNvSpPr txBox="1"/>
          <p:nvPr/>
        </p:nvSpPr>
        <p:spPr>
          <a:xfrm>
            <a:off x="3431286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3431286" y="4480560"/>
            <a:ext cx="2407158" cy="91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31286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edit rate on minor claims settles below 20%.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6012180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204204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80" dirty="0"/>
          </a:p>
        </p:txBody>
      </p:sp>
      <p:sp>
        <p:nvSpPr>
          <p:cNvPr id="55" name="Text 53"/>
          <p:cNvSpPr txBox="1"/>
          <p:nvPr/>
        </p:nvSpPr>
        <p:spPr>
          <a:xfrm>
            <a:off x="6350508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6350508" y="4480560"/>
            <a:ext cx="2407158" cy="9144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50508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criteria reviewed monthly with the claims lead.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8931402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9123426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80" dirty="0"/>
          </a:p>
        </p:txBody>
      </p:sp>
      <p:sp>
        <p:nvSpPr>
          <p:cNvPr id="62" name="Text 60"/>
          <p:cNvSpPr txBox="1"/>
          <p:nvPr/>
        </p:nvSpPr>
        <p:spPr>
          <a:xfrm>
            <a:off x="9269730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9269730" y="4480560"/>
            <a:ext cx="2407158" cy="9144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269730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boundary, not a phase.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65760" y="484632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falls back to today's manual queue. Slower, never wrong.</a:t>
            </a:r>
            <a:endParaRPr lang="en-US" sz="740" dirty="0"/>
          </a:p>
        </p:txBody>
      </p:sp>
      <p:sp>
        <p:nvSpPr>
          <p:cNvPr id="66" name="Text 64"/>
          <p:cNvSpPr txBox="1"/>
          <p:nvPr/>
        </p:nvSpPr>
        <p:spPr>
          <a:xfrm>
            <a:off x="365760" y="51389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GRAPH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365760" y="5358384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6576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960120" y="5358384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60120" y="53583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</a:t>
            </a:r>
            <a:endParaRPr lang="en-US" sz="760" dirty="0"/>
          </a:p>
        </p:txBody>
      </p:sp>
      <p:sp>
        <p:nvSpPr>
          <p:cNvPr id="71" name="Shape 69"/>
          <p:cNvSpPr/>
          <p:nvPr/>
        </p:nvSpPr>
        <p:spPr>
          <a:xfrm>
            <a:off x="2148840" y="535838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148840" y="535838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classify</a:t>
            </a:r>
            <a:endParaRPr lang="en-US" sz="760" dirty="0"/>
          </a:p>
        </p:txBody>
      </p:sp>
      <p:sp>
        <p:nvSpPr>
          <p:cNvPr id="73" name="Shape 71"/>
          <p:cNvSpPr/>
          <p:nvPr/>
        </p:nvSpPr>
        <p:spPr>
          <a:xfrm>
            <a:off x="3429000" y="5358384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CEFF3"/>
          </a:solidFill>
          <a:ln w="13970">
            <a:solidFill>
              <a:srgbClr val="6B7787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3429000" y="53583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</a:t>
            </a:r>
            <a:endParaRPr lang="en-US" sz="760" dirty="0"/>
          </a:p>
        </p:txBody>
      </p:sp>
      <p:sp>
        <p:nvSpPr>
          <p:cNvPr id="75" name="Shape 73"/>
          <p:cNvSpPr/>
          <p:nvPr/>
        </p:nvSpPr>
        <p:spPr>
          <a:xfrm>
            <a:off x="4617720" y="535838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CEFF3"/>
          </a:solidFill>
          <a:ln w="13970">
            <a:solidFill>
              <a:srgbClr val="6B7787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4617720" y="535838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coverage_check</a:t>
            </a:r>
            <a:endParaRPr lang="en-US" sz="760" dirty="0"/>
          </a:p>
        </p:txBody>
      </p:sp>
      <p:sp>
        <p:nvSpPr>
          <p:cNvPr id="77" name="Shape 75"/>
          <p:cNvSpPr/>
          <p:nvPr/>
        </p:nvSpPr>
        <p:spPr>
          <a:xfrm>
            <a:off x="6172200" y="535838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172200" y="53583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</a:t>
            </a:r>
            <a:endParaRPr lang="en-US" sz="760" dirty="0"/>
          </a:p>
        </p:txBody>
      </p:sp>
      <p:sp>
        <p:nvSpPr>
          <p:cNvPr id="79" name="Shape 77"/>
          <p:cNvSpPr/>
          <p:nvPr/>
        </p:nvSpPr>
        <p:spPr>
          <a:xfrm>
            <a:off x="7223760" y="5358384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1E6ED"/>
          </a:solidFill>
          <a:ln w="13970">
            <a:solidFill>
              <a:srgbClr val="7A4A6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7223760" y="535838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4A2C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8458200" y="5358384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845820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82296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201168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32918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6" name="Shape 84"/>
          <p:cNvSpPr/>
          <p:nvPr/>
        </p:nvSpPr>
        <p:spPr>
          <a:xfrm>
            <a:off x="448056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60350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08660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83210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817620" y="58155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91" name="Text 89"/>
          <p:cNvSpPr txBox="1"/>
          <p:nvPr/>
        </p:nvSpPr>
        <p:spPr>
          <a:xfrm>
            <a:off x="3817620" y="58155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6B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exception_research</a:t>
            </a:r>
            <a:endParaRPr lang="en-US" sz="760" dirty="0"/>
          </a:p>
        </p:txBody>
      </p:sp>
      <p:sp>
        <p:nvSpPr>
          <p:cNvPr id="92" name="Shape 90"/>
          <p:cNvSpPr/>
          <p:nvPr/>
        </p:nvSpPr>
        <p:spPr>
          <a:xfrm>
            <a:off x="3954780" y="5669280"/>
            <a:ext cx="662940" cy="14630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93" name="Shape 91"/>
          <p:cNvSpPr/>
          <p:nvPr/>
        </p:nvSpPr>
        <p:spPr>
          <a:xfrm flipV="1">
            <a:off x="5417820" y="5669280"/>
            <a:ext cx="1211580" cy="301752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94" name="Text 92"/>
          <p:cNvSpPr txBox="1"/>
          <p:nvPr/>
        </p:nvSpPr>
        <p:spPr>
          <a:xfrm>
            <a:off x="3451860" y="579729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</a:t>
            </a:r>
            <a:endParaRPr lang="en-US" sz="700" dirty="0"/>
          </a:p>
        </p:txBody>
      </p:sp>
      <p:sp>
        <p:nvSpPr>
          <p:cNvPr id="95" name="Text 93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6" name="Text 94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minute is observed, and the redesign pays for itself in 14 months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1463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TIME PER CLAIM, PER HANDLER (MINUTES)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5650992" cy="914400"/>
        </p:xfrm>
        <a:graphic>
          <a:graphicData uri="http://schemas.openxmlformats.org/drawingml/2006/table">
            <a:tbl>
              <a:tblPr/>
              <a:tblGrid>
                <a:gridCol w="3639312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&amp; extract the report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policy, CPR &amp; escalations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systems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breaks &amp; interruptions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9319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bank 19 min, not the 10.1 the design allows: the business case runs on a three-point estimate of best, likely and worst case.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224528"/>
            <a:ext cx="5650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at 40 minutes a claim, an 8-hour shift holds capacity for 12; at 19, roughly 25. A ceiling, not the 52 minutes freed above. Confirmed by GGW (8 Sep 2026).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THE BUSINESS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841248"/>
            <a:ext cx="5650992" cy="3072384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969264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921240" y="12801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15910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19019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221284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921240" y="252374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2834640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145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921240" y="314553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3456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921240" y="34564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172200" y="409651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cost in full: ≈ €0.08/claim in AI tokens + ≈ $134/month in Azure → €2,400/year, all in.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43891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cash. The AI team is already funded.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63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sourced, dated, or named as an assumption we'd test first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628632" y="182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does intake — 20 claim handlers process claims; 10 support staff besides.  (GGW (P. Gossmann), 8 Sep 2026)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469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Failed EASY imports — Not noticed today — so detection comes before retries.  (GGW (P. Gossmann), 8 Sep 2026)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26187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Volumes and shares — ~50 first reports a day · 65% minor · ~30 in the team.  (GGW case study brief)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575511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Wage base — Schadenregulierer/in, €45,100 gross — the role doing intake.  </a:t>
            </a:r>
            <a:endParaRPr lang="en-US" sz="1000" dirty="0"/>
          </a:p>
        </p:txBody>
      </p:sp>
      <p:sp>
        <p:nvSpPr>
          <p:cNvPr id="8" name="Text 6">
            <a:hlinkClick r:id="rId1" tooltip="StepStone"/>
          </p:cNvPr>
          <p:cNvSpPr txBox="1"/>
          <p:nvPr/>
        </p:nvSpPr>
        <p:spPr>
          <a:xfrm>
            <a:off x="9189720" y="1575511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(StepStone)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876349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Employer on-cost — ≈ €23 per €100 gross — health, pension, care.  </a:t>
            </a:r>
            <a:endParaRPr lang="en-US" sz="1000" dirty="0"/>
          </a:p>
        </p:txBody>
      </p:sp>
      <p:sp>
        <p:nvSpPr>
          <p:cNvPr id="10" name="Text 8">
            <a:hlinkClick r:id="rId2" tooltip="sevdesk"/>
          </p:cNvPr>
          <p:cNvSpPr txBox="1"/>
          <p:nvPr/>
        </p:nvSpPr>
        <p:spPr>
          <a:xfrm>
            <a:off x="9189720" y="1876349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(sevdesk)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2191817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Working time &amp; breaks — 38h tariff week; statutory break rules.  </a:t>
            </a:r>
            <a:endParaRPr lang="en-US" sz="1000" dirty="0"/>
          </a:p>
        </p:txBody>
      </p:sp>
      <p:sp>
        <p:nvSpPr>
          <p:cNvPr id="12" name="Text 10">
            <a:hlinkClick r:id="rId3" tooltip="Arbeitszeitgesetz §4"/>
          </p:cNvPr>
          <p:cNvSpPr txBox="1"/>
          <p:nvPr/>
        </p:nvSpPr>
        <p:spPr>
          <a:xfrm>
            <a:off x="9189720" y="2191817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(Arbeitszeitgesetz §4)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489911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Build &amp; upkeep pay — Senior ML engineer ≈ €98k; juniors ≈ €70k, as briefed.  </a:t>
            </a:r>
            <a:endParaRPr lang="en-US" sz="1000" dirty="0"/>
          </a:p>
        </p:txBody>
      </p:sp>
      <p:sp>
        <p:nvSpPr>
          <p:cNvPr id="14" name="Text 12">
            <a:hlinkClick r:id="rId4" tooltip="Glassdoor"/>
          </p:cNvPr>
          <p:cNvSpPr txBox="1"/>
          <p:nvPr/>
        </p:nvSpPr>
        <p:spPr>
          <a:xfrm>
            <a:off x="9189720" y="2489911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(Glassdoor)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280172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Model prices — gpt-5.6 terra — $2 in / $12 out per million tokens.  </a:t>
            </a:r>
            <a:endParaRPr lang="en-US" sz="1000" dirty="0"/>
          </a:p>
        </p:txBody>
      </p:sp>
      <p:sp>
        <p:nvSpPr>
          <p:cNvPr id="16" name="Text 14">
            <a:hlinkClick r:id="rId5" tooltip="OpenAI"/>
          </p:cNvPr>
          <p:cNvSpPr txBox="1"/>
          <p:nvPr/>
        </p:nvSpPr>
        <p:spPr>
          <a:xfrm>
            <a:off x="9189720" y="280172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(OpenAI)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3097987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 Hosting &amp; database — Container Apps consumption rates; PostgreSQL B2s.  </a:t>
            </a:r>
            <a:endParaRPr lang="en-US" sz="1000" dirty="0"/>
          </a:p>
        </p:txBody>
      </p:sp>
      <p:sp>
        <p:nvSpPr>
          <p:cNvPr id="18" name="Text 16">
            <a:hlinkClick r:id="rId6" tooltip="Azure pricing"/>
          </p:cNvPr>
          <p:cNvSpPr txBox="1"/>
          <p:nvPr/>
        </p:nvSpPr>
        <p:spPr>
          <a:xfrm>
            <a:off x="9189720" y="3097987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(Azure pricing)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341071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 Upkeep after go-live — 15–20% of build effort a year, ours is 17%.  (Standard maintenance rule of thumb)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7124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 Industry baseline — 17 of 20 carriers still manual; none let AI decide alone.  </a:t>
            </a:r>
            <a:endParaRPr lang="en-US" sz="1000" dirty="0"/>
          </a:p>
        </p:txBody>
      </p:sp>
      <p:sp>
        <p:nvSpPr>
          <p:cNvPr id="21" name="Text 19">
            <a:hlinkClick r:id="rId7" tooltip="Decerto, 2026 Claims Decisioning Pulse"/>
          </p:cNvPr>
          <p:cNvSpPr txBox="1"/>
          <p:nvPr/>
        </p:nvSpPr>
        <p:spPr>
          <a:xfrm>
            <a:off x="9189720" y="371246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(Decerto, 2026 Claims Decisioning Pulse)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402701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 Where value comes from — The 10-20-70 split — algorithms, technology, people.  </a:t>
            </a:r>
            <a:endParaRPr lang="en-US" sz="1000" dirty="0"/>
          </a:p>
        </p:txBody>
      </p:sp>
      <p:sp>
        <p:nvSpPr>
          <p:cNvPr id="23" name="Text 21">
            <a:hlinkClick r:id="rId8" tooltip="BCG"/>
          </p:cNvPr>
          <p:cNvSpPr txBox="1"/>
          <p:nvPr/>
        </p:nvSpPr>
        <p:spPr>
          <a:xfrm>
            <a:off x="9189720" y="402701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C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(BCG)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32602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 Fixing import failures — Retry vs. dead-letter, idempotency, alert on rate.  </a:t>
            </a:r>
            <a:endParaRPr lang="en-US" sz="1000" dirty="0"/>
          </a:p>
        </p:txBody>
      </p:sp>
      <p:sp>
        <p:nvSpPr>
          <p:cNvPr id="25" name="Text 23">
            <a:hlinkClick r:id="rId9" tooltip="Standard integration pattern"/>
          </p:cNvPr>
          <p:cNvSpPr txBox="1"/>
          <p:nvPr/>
        </p:nvSpPr>
        <p:spPr>
          <a:xfrm>
            <a:off x="9189720" y="432602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Standard integration patter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(Standard integration pattern)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4727448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assumptions, not sourced. The first thing we would test: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4983480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8 · the 30% allowance for breaks and interruptions · how often a CPR is missing (30%) or underwriting is asked (25%) · how often the redesign raises an exception (20%) · the tokens a typical claim needs · the €146k build · the 0.25 FTE upkeep. Two weeks of watching live intake would replace all of this with measurements.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630936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(gross pay plus employer contributions).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is a function, not an agent: three lookups in parallel, no model call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LangGraph node: typed state in, a partial state update out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6949440" cy="4160520"/>
          </a:xfrm>
          <a:prstGeom prst="roundRect">
            <a:avLst>
              <a:gd name="adj" fmla="val 1319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6547104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policy_id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failure_reasons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check_cpr_policy_match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check_policy_in_force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check_duplicate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"validation_failed"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"failure_reasons"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add_conditional_edges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"exception_research"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"coverage_check"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1005840"/>
            <a:ext cx="4279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AN AGENT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43800" y="1380744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99248" y="1316736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prompt, no completion call: three pure lookups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the CPR/CVR register, policy admin, and IDB.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543800" y="1996440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99248" y="1932432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milliseconds and costs nothing to run; same input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gives the same output.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543800" y="2612136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99248" y="2548128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Unit-tested like any other function, not evaluated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prompt.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3227832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99248" y="3163824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Checkpointed in Postgres: a claim put on hold resumes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where it left off.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43800" y="3977640"/>
            <a:ext cx="4279392" cy="1188720"/>
          </a:xfrm>
          <a:prstGeom prst="roundRect">
            <a:avLst>
              <a:gd name="adj" fmla="val 4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08392" y="3977640"/>
            <a:ext cx="3950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failure path calls a model, Exception Research, and only for the ~20% of claims that need judgement. Everything deterministic stays deterministic.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 Agent: one call returns a typed schema, not free text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output: the schema is a Pydantic model, so a missing field is null, never a guess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1457432" cy="5074920"/>
          </a:xfrm>
          <a:prstGeom prst="roundRect">
            <a:avLst>
              <a:gd name="adj" fmla="val 1081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11055096" cy="4745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body_part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 the fields below. Use null for 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"anything not stated; never invent a value."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with_structured_output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raw_report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"extracted"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"confidence"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add_edge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"classify"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 Check: the same rules-first pattern as Validation, reused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brief's second workflow, redesigned the same way: one shared claim record, no separate hand-off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passes intake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(continued from FNOL)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period?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25196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no warning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confirmed,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proceed (usually quick)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3108960" y="278892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240280" y="320040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coverage?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 flipH="1">
            <a:off x="1965960" y="352044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11480" y="31951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Self-employed · group/branch · name mismatch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414649"/>
            <a:ext cx="1463040" cy="211582"/>
          </a:xfrm>
          <a:prstGeom prst="roundRect">
            <a:avLst>
              <a:gd name="adj" fmla="val 1728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underwriting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3977640" y="352044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4251960" y="313677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follow-up policy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35622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to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policy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108960" y="384048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1005840" y="4251960"/>
            <a:ext cx="4206240" cy="348869"/>
          </a:xfrm>
          <a:prstGeom prst="roundRect">
            <a:avLst>
              <a:gd name="adj" fmla="val 10484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</a:t>
            </a:r>
            <a:endParaRPr lang="en-US" sz="8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with correct insurer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218688" y="398678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Wrong, expired, or none</a:t>
            </a:r>
            <a:endParaRPr lang="en-US" sz="74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48920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Underwriting resolves the exception before the claim can proceed. Most are expected to clear once the underwriting area is mapped (GGW).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1417320"/>
            <a:ext cx="4937760" cy="477393"/>
          </a:xfrm>
          <a:prstGeom prst="roundRect">
            <a:avLst>
              <a:gd name="adj" fmla="val 7662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Node (rules only)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in force · self-employed cover · employer/policy match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pattern as Validation, applied to coverage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9052560" y="1894713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8183880" y="2214753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921240" y="2534793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10195560" y="210293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0195560" y="2322386"/>
            <a:ext cx="1600200" cy="424815"/>
          </a:xfrm>
          <a:prstGeom prst="roundRect">
            <a:avLst>
              <a:gd name="adj" fmla="val 8610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4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confirmed, proceed</a:t>
            </a:r>
            <a:endParaRPr lang="en-US" sz="74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4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(policy reattached automatically)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 flipH="1">
            <a:off x="7909560" y="2534793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6355080" y="215112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no valid policy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2370582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with correct insurer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9052560" y="2854833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583680" y="3266313"/>
            <a:ext cx="4937760" cy="363474"/>
          </a:xfrm>
          <a:prstGeom prst="roundRect">
            <a:avLst>
              <a:gd name="adj" fmla="val 10063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Underwriting decides</a:t>
            </a:r>
            <a:endParaRPr lang="en-US" sz="9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the evidence)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9162288" y="2927985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ambiguous: self-employed, group/branch, name mismatch</a:t>
            </a:r>
            <a:endParaRPr lang="en-US" sz="72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3906393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shape as slide 4's Validation: one rules node resolves what it can, a person only sees what's genuinely ambiguous.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2026-09-16T19:10:01Z</dcterms:created>
  <dcterms:modified xsi:type="dcterms:W3CDTF">2026-09-16T19:10:01Z</dcterms:modified>
</cp:coreProperties>
</file>