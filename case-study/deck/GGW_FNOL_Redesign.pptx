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azure.microsoft.com/en-us/pricing/details/postgresql/flexible-server/" TargetMode="External"/><Relationship Id="rId8" Type="http://schemas.openxmlformats.org/officeDocument/2006/relationships/hyperlink" Target="https://www.decerto.com/us/post/ai-claims-decisioning-framework-2026-what-us-claims-leaders-told-us-about-how-decisions-actually-get-made" TargetMode="External"/><Relationship Id="rId9" Type="http://schemas.openxmlformats.org/officeDocument/2006/relationships/hyperlink" Target="https://www.bcg.com/publications/2024/transforming-customer-service-operations-with-genai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of the 20 claim handlers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 — 2.8 full-time people · two thirds of that work goes to claims that were always going to close quietly · a person still decides anything adverse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exits, reordered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 cut, not the 75% max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handler, every working day (of 6.4 productive hours)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 —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“€153k”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 × €34.92, the loaded cost of one handler-hour (€45,100 gross plus employer contributions, over actual working hours). Capacity, not cash — it becomes money only if the hours go to the backlog or are absorbed by normal staff turnover.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 not what decides this. The AI costs €2,400 a year to run; keeping it healthy takes a quarter of an engineer, €24,400 — so €26,800 a year all in, against €152,600 of capacity released. What decides it is governance: proving a person reviewed anything that can go against a claimant, and whether handlers trust the drafts.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21-minute-per-claim saving is a three-point estimate (best 30 / likely 21 / worst 12), not the design maximum. Build-up on slide 7, sources on slide 8.</a:t>
            </a:r>
            <a:endParaRPr lang="en-US" sz="760" dirty="0"/>
          </a:p>
        </p:txBody>
      </p:sp>
      <p:sp>
        <p:nvSpPr>
          <p:cNvPr id="63" name="Text 6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on the same state, beside claim creation — so the handoff between the two workflows disappears rather than being managed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 —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 — ends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 —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 —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20/hour ≠ 1/day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graph, one typed state object, and a person before anything leaves the building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308860" y="1042416"/>
            <a:ext cx="7552944" cy="402336"/>
          </a:xfrm>
          <a:prstGeom prst="roundRect">
            <a:avLst>
              <a:gd name="adj" fmla="val 11364"/>
            </a:avLst>
          </a:prstGeom>
          <a:solidFill>
            <a:srgbClr val="EEF3F8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08860" y="1042416"/>
            <a:ext cx="7552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state graph  ·  one ClaimState carries fields, confidence and the audit trail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3657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21168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088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003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4003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0599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519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434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it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60030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950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865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2865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 — no model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9461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outcome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8892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0812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727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approves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written to IDB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365760" y="2907792"/>
            <a:ext cx="1723644" cy="420624"/>
          </a:xfrm>
          <a:prstGeom prst="roundRect">
            <a:avLst>
              <a:gd name="adj" fmla="val 10870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20624" y="2907792"/>
            <a:ext cx="16139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4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74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4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2308860" y="2907792"/>
            <a:ext cx="949604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308860" y="2907792"/>
            <a:ext cx="94960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 — every decision, its inputs and its confidence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65760" y="3657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2336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655064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691640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944368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80944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33672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270248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522976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559552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812280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48856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101584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138160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390888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427464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0680192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16768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4370832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to the cloud GGW already use · infrastructure as code · one on/off switch per agent · model version pinned</a:t>
            </a:r>
            <a:endParaRPr lang="en-US" sz="780" dirty="0"/>
          </a:p>
        </p:txBody>
      </p:sp>
      <p:sp>
        <p:nvSpPr>
          <p:cNvPr id="53" name="Text 51"/>
          <p:cNvSpPr txBox="1"/>
          <p:nvPr/>
        </p:nvSpPr>
        <p:spPr>
          <a:xfrm>
            <a:off x="365760" y="47914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65760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12064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60" dirty="0"/>
          </a:p>
        </p:txBody>
      </p:sp>
      <p:sp>
        <p:nvSpPr>
          <p:cNvPr id="57" name="Text 55"/>
          <p:cNvSpPr txBox="1"/>
          <p:nvPr/>
        </p:nvSpPr>
        <p:spPr>
          <a:xfrm>
            <a:off x="512064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092958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3284982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431286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3431286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60" dirty="0"/>
          </a:p>
        </p:txBody>
      </p:sp>
      <p:sp>
        <p:nvSpPr>
          <p:cNvPr id="62" name="Text 60"/>
          <p:cNvSpPr txBox="1"/>
          <p:nvPr/>
        </p:nvSpPr>
        <p:spPr>
          <a:xfrm>
            <a:off x="3431286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012180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6204204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350508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6350508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60" dirty="0"/>
          </a:p>
        </p:txBody>
      </p:sp>
      <p:sp>
        <p:nvSpPr>
          <p:cNvPr id="67" name="Text 65"/>
          <p:cNvSpPr txBox="1"/>
          <p:nvPr/>
        </p:nvSpPr>
        <p:spPr>
          <a:xfrm>
            <a:off x="6350508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931402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9123426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269730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9269730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60" dirty="0"/>
          </a:p>
        </p:txBody>
      </p:sp>
      <p:sp>
        <p:nvSpPr>
          <p:cNvPr id="72" name="Text 70"/>
          <p:cNvSpPr txBox="1"/>
          <p:nvPr/>
        </p:nvSpPr>
        <p:spPr>
          <a:xfrm>
            <a:off x="9269730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5998464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drops into today's manual queue — slower, never wrong · what it costs is on slide 7</a:t>
            </a:r>
            <a:endParaRPr lang="en-US" sz="700" dirty="0"/>
          </a:p>
        </p:txBody>
      </p:sp>
      <p:sp>
        <p:nvSpPr>
          <p:cNvPr id="74" name="Text 7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146304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INTAKE TIME — MINUTES PER CLAIM, PER PERSON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60120"/>
                <a:gridCol w="96012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or an underwriting hold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 — what the design allows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business case actually banks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12724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allows 10.1 min a claim. We do not bank that. The case uses a three-point estimate — (best 30 + 4 × likely 21 + worst 12) ÷ 6 = 21.0 min saved a claim — which is the 19.0 min above, and the 19 minutes on slide 1. In plain terms: we assume handlers capture 70% of the saving the design allows.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493008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493008"/>
            <a:ext cx="5157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a year = 8,332 handler-hours — 26% of the 20 handlers' year, 17% of all 30. Per handler: 2.5 claims a day at 40 min is 1.7 of a 6.4-hour day.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4114800"/>
            <a:ext cx="548640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20624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4256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60857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460857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0517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480517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 a year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0176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500176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9836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4069080" y="519836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394960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5394960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" y="5614416"/>
            <a:ext cx="5120640" cy="10973"/>
          </a:xfrm>
          <a:prstGeom prst="rect">
            <a:avLst/>
          </a:prstGeom>
          <a:solidFill>
            <a:srgbClr val="E4E4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66928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7044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587044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06704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606704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84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7278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 New cash needed: €2,400 a year. A shorter build costs less: 4 months ≈ €98k.</a:t>
            </a:r>
            <a:endParaRPr lang="en-US" sz="72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/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32" name="Text 28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9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here. Azure DevOps gives repos and pipelines, not a database — PostgreSQL is genuinely new.</a:t>
            </a:r>
            <a:endParaRPr lang="en-US" sz="74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GETS THE TIME BACK — CONFIRMED BY GGW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handlers, 10 support staff (GGW, 8 Sep) · 52.4 min each × 20 = 17.5 h a day</a:t>
            </a:r>
            <a:endParaRPr lang="en-US" sz="780" dirty="0"/>
          </a:p>
        </p:txBody>
      </p:sp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 handler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Difference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taken in,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on intake,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− 52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a productive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− 14 pts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back, each,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what GGW confirmed, and what is still our assumption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146304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 process claims; 10 support staff besides</a:t>
            </a:r>
            <a:endParaRPr lang="en-US" sz="78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365760" y="1042416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EASY imports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— so detection comes before retries</a:t>
            </a:r>
            <a:endParaRPr lang="en-US" sz="780" dirty="0"/>
          </a:p>
        </p:txBody>
      </p:sp>
      <p:sp>
        <p:nvSpPr>
          <p:cNvPr id="11" name="Text 9"/>
          <p:cNvSpPr txBox="1"/>
          <p:nvPr/>
        </p:nvSpPr>
        <p:spPr>
          <a:xfrm>
            <a:off x="53035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365760" y="1517904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minor · ~30 in the team</a:t>
            </a:r>
            <a:endParaRPr lang="en-US" sz="780" dirty="0"/>
          </a:p>
        </p:txBody>
      </p:sp>
      <p:sp>
        <p:nvSpPr>
          <p:cNvPr id="15" name="Text 13"/>
          <p:cNvSpPr txBox="1"/>
          <p:nvPr/>
        </p:nvSpPr>
        <p:spPr>
          <a:xfrm>
            <a:off x="53035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36576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 — handlers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Schadenregulierer/in, €45,100 gross — the role doing intake</a:t>
            </a:r>
            <a:endParaRPr lang="en-US" sz="780" dirty="0"/>
          </a:p>
        </p:txBody>
      </p:sp>
      <p:sp>
        <p:nvSpPr>
          <p:cNvPr id="19" name="Text 17">
            <a:hlinkClick r:id="rId1" tooltip="StepStone Gehaltsreport"/>
          </p:cNvPr>
          <p:cNvSpPr txBox="1"/>
          <p:nvPr/>
        </p:nvSpPr>
        <p:spPr>
          <a:xfrm>
            <a:off x="53035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6576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— health, pension, care</a:t>
            </a:r>
            <a:endParaRPr lang="en-US" sz="780" dirty="0"/>
          </a:p>
        </p:txBody>
      </p:sp>
      <p:sp>
        <p:nvSpPr>
          <p:cNvPr id="23" name="Text 21">
            <a:hlinkClick r:id="rId2" tooltip="Lohnnebenkosten 2026, sevdesk"/>
          </p:cNvPr>
          <p:cNvSpPr txBox="1"/>
          <p:nvPr/>
        </p:nvSpPr>
        <p:spPr>
          <a:xfrm>
            <a:off x="53035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36576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time, breaks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</a:t>
            </a:r>
            <a:endParaRPr lang="en-US" sz="780" dirty="0"/>
          </a:p>
        </p:txBody>
      </p:sp>
      <p:sp>
        <p:nvSpPr>
          <p:cNvPr id="27" name="Text 25">
            <a:hlinkClick r:id="rId3" tooltip="Arbeitszeitgesetz §4"/>
          </p:cNvPr>
          <p:cNvSpPr txBox="1"/>
          <p:nvPr/>
        </p:nvSpPr>
        <p:spPr>
          <a:xfrm>
            <a:off x="53035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36576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upkeep pay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780" dirty="0"/>
          </a:p>
        </p:txBody>
      </p:sp>
      <p:sp>
        <p:nvSpPr>
          <p:cNvPr id="31" name="Text 29">
            <a:hlinkClick r:id="rId4" tooltip="Glassdoor, ML Engineer Germany"/>
          </p:cNvPr>
          <p:cNvSpPr txBox="1"/>
          <p:nvPr/>
        </p:nvSpPr>
        <p:spPr>
          <a:xfrm>
            <a:off x="53035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,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ML Engineer Germany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6172200" y="56692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3679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633679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— $2 in / $12 out per million tokens</a:t>
            </a:r>
            <a:endParaRPr lang="en-US" sz="780" dirty="0"/>
          </a:p>
        </p:txBody>
      </p:sp>
      <p:sp>
        <p:nvSpPr>
          <p:cNvPr id="35" name="Text 33">
            <a:hlinkClick r:id="rId5" tooltip="OpenAI API pricing"/>
          </p:cNvPr>
          <p:cNvSpPr txBox="1"/>
          <p:nvPr/>
        </p:nvSpPr>
        <p:spPr>
          <a:xfrm>
            <a:off x="633679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172200" y="104241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3679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60" dirty="0"/>
          </a:p>
        </p:txBody>
      </p:sp>
      <p:sp>
        <p:nvSpPr>
          <p:cNvPr id="38" name="Text 36"/>
          <p:cNvSpPr txBox="1"/>
          <p:nvPr/>
        </p:nvSpPr>
        <p:spPr>
          <a:xfrm>
            <a:off x="633679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780" dirty="0"/>
          </a:p>
        </p:txBody>
      </p:sp>
      <p:sp>
        <p:nvSpPr>
          <p:cNvPr id="39" name="Text 37">
            <a:hlinkClick r:id="rId6" tooltip="Azure Container Apps pricing"/>
          </p:cNvPr>
          <p:cNvSpPr txBox="1"/>
          <p:nvPr/>
        </p:nvSpPr>
        <p:spPr>
          <a:xfrm>
            <a:off x="633679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6172200" y="1517904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33679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60" dirty="0"/>
          </a:p>
        </p:txBody>
      </p:sp>
      <p:sp>
        <p:nvSpPr>
          <p:cNvPr id="42" name="Text 40"/>
          <p:cNvSpPr txBox="1"/>
          <p:nvPr/>
        </p:nvSpPr>
        <p:spPr>
          <a:xfrm>
            <a:off x="633679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 — 2 vCore / 4 GiB</a:t>
            </a:r>
            <a:endParaRPr lang="en-US" sz="780" dirty="0"/>
          </a:p>
        </p:txBody>
      </p:sp>
      <p:sp>
        <p:nvSpPr>
          <p:cNvPr id="43" name="Text 41">
            <a:hlinkClick r:id="rId7" tooltip="Azure Database for PostgreSQL"/>
          </p:cNvPr>
          <p:cNvSpPr txBox="1"/>
          <p:nvPr/>
        </p:nvSpPr>
        <p:spPr>
          <a:xfrm>
            <a:off x="633679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Azure Database for PostgreSQ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617220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33679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Upkeep after go-live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633679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15–20% of build effort a year — our 0.25 FTE is 17%</a:t>
            </a:r>
            <a:endParaRPr lang="en-US" sz="780" dirty="0"/>
          </a:p>
        </p:txBody>
      </p:sp>
      <p:sp>
        <p:nvSpPr>
          <p:cNvPr id="47" name="Text 45"/>
          <p:cNvSpPr txBox="1"/>
          <p:nvPr/>
        </p:nvSpPr>
        <p:spPr>
          <a:xfrm>
            <a:off x="633679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maintenance rule of thumb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617220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3679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633679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manual; none let AI decide alone</a:t>
            </a:r>
            <a:endParaRPr lang="en-US" sz="780" dirty="0"/>
          </a:p>
        </p:txBody>
      </p:sp>
      <p:sp>
        <p:nvSpPr>
          <p:cNvPr id="51" name="Text 49">
            <a:hlinkClick r:id="rId8" tooltip="Decerto, 2026 Claims Decisioning Pulse"/>
          </p:cNvPr>
          <p:cNvSpPr txBox="1"/>
          <p:nvPr/>
        </p:nvSpPr>
        <p:spPr>
          <a:xfrm>
            <a:off x="633679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617220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3679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60" dirty="0"/>
          </a:p>
        </p:txBody>
      </p:sp>
      <p:sp>
        <p:nvSpPr>
          <p:cNvPr id="54" name="Text 52"/>
          <p:cNvSpPr txBox="1"/>
          <p:nvPr/>
        </p:nvSpPr>
        <p:spPr>
          <a:xfrm>
            <a:off x="633679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— algorithms, technology, people</a:t>
            </a:r>
            <a:endParaRPr lang="en-US" sz="780" dirty="0"/>
          </a:p>
        </p:txBody>
      </p:sp>
      <p:sp>
        <p:nvSpPr>
          <p:cNvPr id="55" name="Text 53">
            <a:hlinkClick r:id="rId9" tooltip="BCG, AI in customer service operations"/>
          </p:cNvPr>
          <p:cNvSpPr txBox="1"/>
          <p:nvPr/>
        </p:nvSpPr>
        <p:spPr>
          <a:xfrm>
            <a:off x="633679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617220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3679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import failures</a:t>
            </a:r>
            <a:endParaRPr lang="en-US" sz="860" dirty="0"/>
          </a:p>
        </p:txBody>
      </p:sp>
      <p:sp>
        <p:nvSpPr>
          <p:cNvPr id="58" name="Text 56"/>
          <p:cNvSpPr txBox="1"/>
          <p:nvPr/>
        </p:nvSpPr>
        <p:spPr>
          <a:xfrm>
            <a:off x="633679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780" dirty="0"/>
          </a:p>
        </p:txBody>
      </p:sp>
      <p:sp>
        <p:nvSpPr>
          <p:cNvPr id="59" name="Text 57">
            <a:hlinkClick r:id="rId10" tooltip="Dead-letter queues and poison messages"/>
          </p:cNvPr>
          <p:cNvSpPr txBox="1"/>
          <p:nvPr/>
        </p:nvSpPr>
        <p:spPr>
          <a:xfrm>
            <a:off x="633679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365760" y="3986784"/>
            <a:ext cx="11457432" cy="1152144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87368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OUR ASSUMPTIONS — AND THE FIRST THING WE WOULD TEST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43159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7 · the 30% allowance for breaks and interruptions · how often a CPR is missing (30%) or underwriting is asked (25%) · how often the redesign raises an exception (20%) · the tokens a typical claim needs · the €146k build · the 0.25 FTE upkeep.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 is no longer among them — GGW answered it, and every per-person figure in this deck is rebuilt on that answer. Two weeks of watching live intake would replace the rest with measurements.</a:t>
            </a:r>
            <a:endParaRPr lang="en-US" sz="840" dirty="0"/>
          </a:p>
        </p:txBody>
      </p:sp>
      <p:sp>
        <p:nvSpPr>
          <p:cNvPr id="63" name="Shape 61"/>
          <p:cNvSpPr/>
          <p:nvPr/>
        </p:nvSpPr>
        <p:spPr>
          <a:xfrm>
            <a:off x="365760" y="5303520"/>
            <a:ext cx="45720" cy="182880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3035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by GGW or stated in the brief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3657600" y="5303520"/>
            <a:ext cx="45720" cy="1828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2219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source, linked</a:t>
            </a:r>
            <a:endParaRPr lang="en-US" sz="76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565099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— gross pay plus employer contributions</a:t>
            </a:r>
            <a:endParaRPr lang="en-US" sz="700" dirty="0"/>
          </a:p>
        </p:txBody>
      </p:sp>
      <p:sp>
        <p:nvSpPr>
          <p:cNvPr id="68" name="Text 6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2026-09-16T11:00:04Z</dcterms:created>
  <dcterms:modified xsi:type="dcterms:W3CDTF">2026-09-16T11:00:04Z</dcterms:modified>
</cp:coreProperties>
</file>