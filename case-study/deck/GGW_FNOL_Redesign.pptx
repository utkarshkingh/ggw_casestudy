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openai.com/api/pricing/" TargetMode="External"/><Relationship Id="rId5" Type="http://schemas.openxmlformats.org/officeDocument/2006/relationships/hyperlink" Target="https://azure.microsoft.com/en-us/pricing/details/container-apps/" TargetMode="External"/><Relationship Id="rId6" Type="http://schemas.openxmlformats.org/officeDocument/2006/relationships/hyperlink" Target="https://azure.microsoft.com/en-us/pricing/details/postgresql/flexible-server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assdoor.com/Salaries/germany-machine-learning-engineer-salary-SRCH_IL.0,7_IN96_KO8,33.htm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releases 17.5 handler-hours a day — the capacity of 2.8 full-time people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thirds of that work goes to claims that were always going to close quietly · a person still decides anything that can go against a claimant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a handler today, start to finish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and re-reading the report, opening attachments, chasing a missing CPR, switching between EASY, IDB, e-mail and paper. Plus 30% for breaks and interruptions.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 — reordered, some reassigned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</a:t>
            </a:r>
            <a:endParaRPr lang="en-US" sz="42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52% cut, not the 75% the design allows: handlers will re-check drafts before they trust them. Four AI agents, one rules-only step, two human checkpoints.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065008" y="1783080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174650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737360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8887968" y="194767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8065008" y="2459736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93024" y="24231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887968" y="2414016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26" name="Text 24"/>
          <p:cNvSpPr txBox="1"/>
          <p:nvPr/>
        </p:nvSpPr>
        <p:spPr>
          <a:xfrm>
            <a:off x="8887968" y="2624328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8065008" y="313639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93024" y="3099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887968" y="309067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330098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35204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57200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every working day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3456432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621024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FTE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3621024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capacity, as people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6455664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20256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6620256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capacity at loaded cost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454896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19488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619488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on a €146k build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hours a year × €34.92, the true cost of one handler-hour. It is capacity, not cash. It turns into money only if those hours go to the backlog, or are absorbed by normal staff turnover.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costs €27k a year — 18% of the value released, and that already counts the quarter of an engineer who maintains it. So cost is not the decision. Governance is: proving a person reviewed anything that goes against a claimant, and whether handlers trust the drafts.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21-minute saving is a three-point estimate (best 30 / likely 21 / worst 12), not the design maximum. Build-up on slide 6, sources on slide 7.</a:t>
            </a:r>
            <a:endParaRPr lang="en-US" sz="760" dirty="0"/>
          </a:p>
        </p:txBody>
      </p:sp>
      <p:sp>
        <p:nvSpPr>
          <p:cNvPr id="49" name="Text 4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 · shared claim state carries the audit trail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claim and classify it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the one-person dependency on teeth claims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CPR, policy and duplicates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rules, no AI model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WHEN CONVENIENT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doing, but it is an IT defect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→ IDB import retries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integration bug, not an AI job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item that is not an AI problem. How it is actually fixed: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1755648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 first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9390888" y="1929384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timeout is worth retrying. A missing field never is — retrying it just fails again.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9390888" y="2478024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growing gaps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9390888" y="2651760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4s, plus a random offset, so 50 stuck claims do not all retry at once.</a:t>
            </a:r>
            <a:endParaRPr lang="en-US" sz="760" dirty="0"/>
          </a:p>
        </p:txBody>
      </p:sp>
      <p:sp>
        <p:nvSpPr>
          <p:cNvPr id="38" name="Text 36"/>
          <p:cNvSpPr txBox="1"/>
          <p:nvPr/>
        </p:nvSpPr>
        <p:spPr>
          <a:xfrm>
            <a:off x="9390888" y="3200400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reference per claim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37413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key on every attempt, so a replay cannot create the claim twice.</a:t>
            </a:r>
            <a:endParaRPr lang="en-US" sz="760" dirty="0"/>
          </a:p>
        </p:txBody>
      </p:sp>
      <p:sp>
        <p:nvSpPr>
          <p:cNvPr id="40" name="Text 38"/>
          <p:cNvSpPr txBox="1"/>
          <p:nvPr/>
        </p:nvSpPr>
        <p:spPr>
          <a:xfrm>
            <a:off x="9390888" y="392277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failures, never drop them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9390888" y="409651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go to a holding queue with the error, so someone can fix and replay.</a:t>
            </a:r>
            <a:endParaRPr lang="en-US" sz="760" dirty="0"/>
          </a:p>
        </p:txBody>
      </p:sp>
      <p:sp>
        <p:nvSpPr>
          <p:cNvPr id="42" name="Text 40"/>
          <p:cNvSpPr txBox="1"/>
          <p:nvPr/>
        </p:nvSpPr>
        <p:spPr>
          <a:xfrm>
            <a:off x="9390888" y="464515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rate, not the count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9390888" y="481888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stuck claim is normal. Twenty in an hour means something broke.</a:t>
            </a:r>
            <a:endParaRPr lang="en-US" sz="760" dirty="0"/>
          </a:p>
        </p:txBody>
      </p:sp>
      <p:sp>
        <p:nvSpPr>
          <p:cNvPr id="44" name="Text 42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make, so placing them here would imply a choice we do not have · frequencies from the case study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146304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HANDLER TIME, PER CLAIM  (MINUTES)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91440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when one is raised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296265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everything landed, the saving would be 29.9 min. We do not bank that. Three-point estimate used instead: (best 30 + 4 × likely 21 + worst 12) ÷ 6 = 21.0 min, a 52% cut.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346704"/>
            <a:ext cx="5486400" cy="640080"/>
          </a:xfrm>
          <a:prstGeom prst="roundRect">
            <a:avLst>
              <a:gd name="adj" fmla="val 7143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346704"/>
            <a:ext cx="5157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= 8,333 hours, or 17% of a 30-person team's year. Plausible for the front end of a claims process. Had it come out at 60%, the model would be wrong.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4059936"/>
            <a:ext cx="5486400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1696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439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4114800" y="44439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h/yr · 2.8 FTE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65886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Valued at €34.92 per handler-hour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4114800" y="465886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87375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AI models and Azure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48737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08863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upkeep — 0.25 of an engineer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4114800" y="50886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3035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4114800" y="53035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51840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3 people × 6 months, fully loaded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4114800" y="551840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73328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4" name="Text 21"/>
          <p:cNvSpPr txBox="1"/>
          <p:nvPr/>
        </p:nvSpPr>
        <p:spPr>
          <a:xfrm>
            <a:off x="4114800" y="57332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60533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€146k build is loaded capacity cost, not new cash — the AI team is already funded. It is priced this way so the project can be ranked against everything else on the roadmap. Actual new cash needed: €2,400 a year. A shorter build costs less: 4 months ≈ €98k, 3 months ≈ €73k.</a:t>
            </a:r>
            <a:endParaRPr lang="en-US" sz="740" dirty="0"/>
          </a:p>
        </p:txBody>
      </p:sp>
      <p:sp>
        <p:nvSpPr>
          <p:cNvPr id="26" name="Text 23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 24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29" name="Text 25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6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to this project. Azure DevOps covers repos and pipelines, not a managed database — the PostgreSQL line is genuinely new.</a:t>
            </a:r>
            <a:endParaRPr lang="en-US" sz="740" dirty="0"/>
          </a:p>
        </p:txBody>
      </p:sp>
      <p:sp>
        <p:nvSpPr>
          <p:cNvPr id="32" name="Text 27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ACTUALLY GETS THE TIME BACK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says a support team does intake, not all 30 handlers — so the truth is in the middle rows. This is our first question for GGW.</a:t>
            </a:r>
            <a:endParaRPr lang="en-US" sz="78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handled by…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each/day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work 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freed each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30 claims handlers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12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6" name="Text 30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and what is our assumption — stated separately on purpose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8521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486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</a:t>
            </a:r>
            <a:endParaRPr lang="en-US" sz="88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74066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Sachbearbeiter Schadenregulierung, €45,100 gross</a:t>
            </a:r>
            <a:endParaRPr lang="en-US" sz="800" dirty="0"/>
          </a:p>
        </p:txBody>
      </p:sp>
      <p:sp>
        <p:nvSpPr>
          <p:cNvPr id="7" name="Text 5">
            <a:hlinkClick r:id="rId1" tooltip="StepStone Gehaltsreport"/>
          </p:cNvPr>
          <p:cNvSpPr txBox="1"/>
          <p:nvPr/>
        </p:nvSpPr>
        <p:spPr>
          <a:xfrm>
            <a:off x="5577840" y="60350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365760" y="10195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98298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1750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(health, pension, unemployment, care)</a:t>
            </a:r>
            <a:endParaRPr lang="en-US" sz="800" dirty="0"/>
          </a:p>
        </p:txBody>
      </p:sp>
      <p:sp>
        <p:nvSpPr>
          <p:cNvPr id="11" name="Text 9">
            <a:hlinkClick r:id="rId2" tooltip="Lohnnebenkosten 2026, sevdesk"/>
          </p:cNvPr>
          <p:cNvSpPr txBox="1"/>
          <p:nvPr/>
        </p:nvSpPr>
        <p:spPr>
          <a:xfrm>
            <a:off x="5577840" y="103784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365760" y="145389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41732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 &amp; breaks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60934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 (ArbZG §4)</a:t>
            </a:r>
            <a:endParaRPr lang="en-US" sz="800" dirty="0"/>
          </a:p>
        </p:txBody>
      </p:sp>
      <p:sp>
        <p:nvSpPr>
          <p:cNvPr id="15" name="Text 13">
            <a:hlinkClick r:id="rId3" tooltip="Arbeitszeitgesetz §4, gesetze-im-internet.de"/>
          </p:cNvPr>
          <p:cNvSpPr txBox="1"/>
          <p:nvPr/>
        </p:nvSpPr>
        <p:spPr>
          <a:xfrm>
            <a:off x="5577840" y="147218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, gesetze-im-internet.d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§4, gesetze-im-internet.de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365760" y="188823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85166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204368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terra, $2 / $12 per million tokens in / out</a:t>
            </a:r>
            <a:endParaRPr lang="en-US" sz="800" dirty="0"/>
          </a:p>
        </p:txBody>
      </p:sp>
      <p:sp>
        <p:nvSpPr>
          <p:cNvPr id="19" name="Text 17">
            <a:hlinkClick r:id="rId4" tooltip="OpenAI API pricing"/>
          </p:cNvPr>
          <p:cNvSpPr txBox="1"/>
          <p:nvPr/>
        </p:nvSpPr>
        <p:spPr>
          <a:xfrm>
            <a:off x="5577840" y="190652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365760" y="232257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228600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4780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800" dirty="0"/>
          </a:p>
        </p:txBody>
      </p:sp>
      <p:sp>
        <p:nvSpPr>
          <p:cNvPr id="23" name="Text 21">
            <a:hlinkClick r:id="rId5" tooltip="Azure Container Apps pricing"/>
          </p:cNvPr>
          <p:cNvSpPr txBox="1"/>
          <p:nvPr/>
        </p:nvSpPr>
        <p:spPr>
          <a:xfrm>
            <a:off x="5577840" y="23408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365760" y="275691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7203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291236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B2s, 2 vCore / 4 GiB</a:t>
            </a:r>
            <a:endParaRPr lang="en-US" sz="800" dirty="0"/>
          </a:p>
        </p:txBody>
      </p:sp>
      <p:sp>
        <p:nvSpPr>
          <p:cNvPr id="27" name="Text 25">
            <a:hlinkClick r:id="rId6" tooltip="Azure Database for PostgreSQL pricing"/>
          </p:cNvPr>
          <p:cNvSpPr txBox="1"/>
          <p:nvPr/>
        </p:nvSpPr>
        <p:spPr>
          <a:xfrm>
            <a:off x="5577840" y="277520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Database for PostgreSQL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 pricing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365760" y="31912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315468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8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3346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 or workflow-only; none let AI decide alone</a:t>
            </a:r>
            <a:endParaRPr lang="en-US" sz="800" dirty="0"/>
          </a:p>
        </p:txBody>
      </p:sp>
      <p:sp>
        <p:nvSpPr>
          <p:cNvPr id="31" name="Text 29">
            <a:hlinkClick r:id="rId7" tooltip="Decerto, 2026 Claims Decisioning Pulse"/>
          </p:cNvPr>
          <p:cNvSpPr txBox="1"/>
          <p:nvPr/>
        </p:nvSpPr>
        <p:spPr>
          <a:xfrm>
            <a:off x="5577840" y="320954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365760" y="362559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0352" y="358902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80" dirty="0"/>
          </a:p>
        </p:txBody>
      </p:sp>
      <p:sp>
        <p:nvSpPr>
          <p:cNvPr id="34" name="Text 32"/>
          <p:cNvSpPr txBox="1"/>
          <p:nvPr/>
        </p:nvSpPr>
        <p:spPr>
          <a:xfrm>
            <a:off x="530352" y="378104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between algorithms, technology and people</a:t>
            </a:r>
            <a:endParaRPr lang="en-US" sz="800" dirty="0"/>
          </a:p>
        </p:txBody>
      </p:sp>
      <p:sp>
        <p:nvSpPr>
          <p:cNvPr id="35" name="Text 33">
            <a:hlinkClick r:id="rId8" tooltip="BCG, AI in customer service operations"/>
          </p:cNvPr>
          <p:cNvSpPr txBox="1"/>
          <p:nvPr/>
        </p:nvSpPr>
        <p:spPr>
          <a:xfrm>
            <a:off x="5577840" y="364388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840" dirty="0"/>
          </a:p>
        </p:txBody>
      </p:sp>
      <p:sp>
        <p:nvSpPr>
          <p:cNvPr id="36" name="Shape 34"/>
          <p:cNvSpPr/>
          <p:nvPr/>
        </p:nvSpPr>
        <p:spPr>
          <a:xfrm>
            <a:off x="365760" y="405993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30352" y="402336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upkeep pay</a:t>
            </a:r>
            <a:endParaRPr lang="en-US" sz="880" dirty="0"/>
          </a:p>
        </p:txBody>
      </p:sp>
      <p:sp>
        <p:nvSpPr>
          <p:cNvPr id="38" name="Text 36"/>
          <p:cNvSpPr txBox="1"/>
          <p:nvPr/>
        </p:nvSpPr>
        <p:spPr>
          <a:xfrm>
            <a:off x="530352" y="421538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800" dirty="0"/>
          </a:p>
        </p:txBody>
      </p:sp>
      <p:sp>
        <p:nvSpPr>
          <p:cNvPr id="39" name="Text 37">
            <a:hlinkClick r:id="rId9" tooltip="Glassdoor, Senior ML Engineer Germany"/>
          </p:cNvPr>
          <p:cNvSpPr txBox="1"/>
          <p:nvPr/>
        </p:nvSpPr>
        <p:spPr>
          <a:xfrm>
            <a:off x="5577840" y="407822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Glassdoor, Senior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Senior ML Engineer Germany</a:t>
            </a:r>
            <a:endParaRPr lang="en-US" sz="840" dirty="0"/>
          </a:p>
        </p:txBody>
      </p:sp>
      <p:sp>
        <p:nvSpPr>
          <p:cNvPr id="40" name="Shape 38"/>
          <p:cNvSpPr/>
          <p:nvPr/>
        </p:nvSpPr>
        <p:spPr>
          <a:xfrm>
            <a:off x="365760" y="449427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30352" y="445770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Import-failure handling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530352" y="46497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800" dirty="0"/>
          </a:p>
        </p:txBody>
      </p:sp>
      <p:sp>
        <p:nvSpPr>
          <p:cNvPr id="43" name="Text 41">
            <a:hlinkClick r:id="rId10" tooltip="Dead-letter queues and poison messages"/>
          </p:cNvPr>
          <p:cNvSpPr txBox="1"/>
          <p:nvPr/>
        </p:nvSpPr>
        <p:spPr>
          <a:xfrm>
            <a:off x="5577840" y="45125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365760" y="492861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30352" y="4892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80" dirty="0"/>
          </a:p>
        </p:txBody>
      </p:sp>
      <p:sp>
        <p:nvSpPr>
          <p:cNvPr id="46" name="Text 44"/>
          <p:cNvSpPr txBox="1"/>
          <p:nvPr/>
        </p:nvSpPr>
        <p:spPr>
          <a:xfrm>
            <a:off x="530352" y="508406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closed as minor · ~30 handlers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577840" y="494690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840" dirty="0"/>
          </a:p>
        </p:txBody>
      </p:sp>
      <p:sp>
        <p:nvSpPr>
          <p:cNvPr id="48" name="Shape 46"/>
          <p:cNvSpPr/>
          <p:nvPr/>
        </p:nvSpPr>
        <p:spPr>
          <a:xfrm>
            <a:off x="365760" y="4937760"/>
            <a:ext cx="11365992" cy="1042416"/>
          </a:xfrm>
          <a:prstGeom prst="roundRect">
            <a:avLst>
              <a:gd name="adj" fmla="val 5263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640" y="5038344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ASSUMPTIONS — NOT SOURCED, AND THE FIRST THING WE WOULD TEST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5248656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6 · the 30% allowance for breaks and interruptions · how often a CPR is missing (30%) or underwriting is asked (25%) · how often the redesign raises an exception (20%) · the token profile of a typical claim · the €146k build · the 0.25 FTE upkeep, sized two ways that agree (a standing share of the team, and the 15–20%-of-build rule of thumb) · and how many people actually staff intake, which sets the per-person saving.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weeks of observed intake would replace all of these with measurements. That observation is step one of the plan, not an afterthought.</a:t>
            </a:r>
            <a:endParaRPr lang="en-US" sz="840" dirty="0"/>
          </a:p>
        </p:txBody>
      </p:sp>
      <p:sp>
        <p:nvSpPr>
          <p:cNvPr id="51" name="Text 49"/>
          <p:cNvSpPr txBox="1"/>
          <p:nvPr/>
        </p:nvSpPr>
        <p:spPr>
          <a:xfrm>
            <a:off x="365760" y="6071616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all euro figures are fully loaded (gross pay plus employer contributions)</a:t>
            </a:r>
            <a:endParaRPr lang="en-US" sz="7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2026-09-06T14:31:02Z</dcterms:created>
  <dcterms:modified xsi:type="dcterms:W3CDTF">2026-09-06T14:31:02Z</dcterms:modified>
</cp:coreProperties>
</file>