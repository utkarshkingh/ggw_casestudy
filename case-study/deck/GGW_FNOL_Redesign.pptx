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openai.com/api/pricing/" TargetMode="External"/><Relationship Id="rId5" Type="http://schemas.openxmlformats.org/officeDocument/2006/relationships/hyperlink" Target="https://azure.microsoft.com/en-us/pricing/details/container-apps/" TargetMode="External"/><Relationship Id="rId6" Type="http://schemas.openxmlformats.org/officeDocument/2006/relationships/hyperlink" Target="https://azure.microsoft.com/en-us/pricing/details/postgresql/flexible-server/" TargetMode="External"/><Relationship Id="rId7" Type="http://schemas.openxmlformats.org/officeDocument/2006/relationships/hyperlink" Target="https://www.glassdoor.com/Salaries/germany-machine-learning-engineer-salary-SRCH_IL.0,7_IN96_KO8,33.htm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releases 17.5 handler-hours a day — the capacity of 2.8 full-time people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thirds of that work goes to claims that were always going to close quietly · a person still decides anything that can go against a claimant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handler today, start to finish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and re-reading the report, opening attachments, chasing a missing CPR, switching between EASY, IDB, e-mail and paper. Plus 30% for breaks and interruptions.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 — reordered, some reassigned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52% cut, not the 75% the design allows: handlers will re-check drafts before they trust them. Four AI agents, one rules-only step, two human checkpoints.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€0.077 a claim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handler-hours freed every working day, across the claims team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FTE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capacity, expressed as full-time people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 × €34.92, the real cost of one handler-hour. This is capacity, not cash. It becomes money only if the hours go to the backlog, or are absorbed by normal staff turnover.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this. The AI costs €2,400 a year to run — under 2% of the value it releases. What decides it is governance: proving a person reviewed anything that can go against a claimant, and whether handlers trust the drafts enough to approve them.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21.0-minutes-per-claim saving is a three-point estimate (best 30 / likely 21 / worst 12), not the design maximum. Build-up on slide 6, sources on slide 7.</a:t>
            </a:r>
            <a:endParaRPr lang="en-US" sz="760" dirty="0"/>
          </a:p>
        </p:txBody>
      </p:sp>
      <p:sp>
        <p:nvSpPr>
          <p:cNvPr id="49" name="Text 4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 · shared claim state carries the audit trail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claim and classify it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the one-person dependency on teeth claims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CPR, policy and duplicates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rules, no AI model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WHEN CONVENIENT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doing, but it is an IT defect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→ IDB import retries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integration bug, not an AI job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item that is not an AI problem. How it is actually fixed: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1755648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 first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9390888" y="1929384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timeout is worth retrying. A missing field never is — retrying it just fails again.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9390888" y="2478024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growing gaps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9390888" y="2651760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4s, plus a random offset, so 50 stuck claims do not all retry at once.</a:t>
            </a:r>
            <a:endParaRPr lang="en-US" sz="760" dirty="0"/>
          </a:p>
        </p:txBody>
      </p:sp>
      <p:sp>
        <p:nvSpPr>
          <p:cNvPr id="38" name="Text 36"/>
          <p:cNvSpPr txBox="1"/>
          <p:nvPr/>
        </p:nvSpPr>
        <p:spPr>
          <a:xfrm>
            <a:off x="9390888" y="3200400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reference per claim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37413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key on every attempt, so a replay cannot create the claim twice.</a:t>
            </a:r>
            <a:endParaRPr lang="en-US" sz="760" dirty="0"/>
          </a:p>
        </p:txBody>
      </p:sp>
      <p:sp>
        <p:nvSpPr>
          <p:cNvPr id="40" name="Text 38"/>
          <p:cNvSpPr txBox="1"/>
          <p:nvPr/>
        </p:nvSpPr>
        <p:spPr>
          <a:xfrm>
            <a:off x="9390888" y="392277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failures, never drop them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9390888" y="409651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go to a holding queue with the error, so someone can fix and replay.</a:t>
            </a:r>
            <a:endParaRPr lang="en-US" sz="760" dirty="0"/>
          </a:p>
        </p:txBody>
      </p:sp>
      <p:sp>
        <p:nvSpPr>
          <p:cNvPr id="42" name="Text 40"/>
          <p:cNvSpPr txBox="1"/>
          <p:nvPr/>
        </p:nvSpPr>
        <p:spPr>
          <a:xfrm>
            <a:off x="9390888" y="464515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rate, not the count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9390888" y="481888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stuck claim is normal. Twenty in an hour means something broke.</a:t>
            </a:r>
            <a:endParaRPr lang="en-US" sz="760" dirty="0"/>
          </a:p>
        </p:txBody>
      </p:sp>
      <p:sp>
        <p:nvSpPr>
          <p:cNvPr id="44" name="Text 42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146304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HANDLER TIME — MINUTES PER CLAIM, PER HANDLER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127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438144"/>
            <a:ext cx="5486400" cy="566928"/>
          </a:xfrm>
          <a:prstGeom prst="roundRect">
            <a:avLst>
              <a:gd name="adj" fmla="val 806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438144"/>
            <a:ext cx="51572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handler-hours — 17% of a 30-person team's yearly capacity. Plausible for the front end of a claims process. Had it come out at 60%, the model would be wrong.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078224"/>
            <a:ext cx="548640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696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38912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572000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572000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76859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76859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96519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496519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6178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16178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35838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35838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577840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63270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338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8338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3046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603046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3620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ACTUALLY GETS THE TIME BACK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says a support team does intake, not all 30 handlers — so the truth is in the middle rows. Our first question for GGW.</a:t>
            </a:r>
            <a:endParaRPr lang="en-US" sz="78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handled by…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work,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freed,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30 claims handlers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12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and what is our assumption — kept separate on purpose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303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6858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Sachbearbeiter Schadenregulierung, €45,100 gross</a:t>
            </a:r>
            <a:endParaRPr lang="en-US" sz="800" dirty="0"/>
          </a:p>
        </p:txBody>
      </p:sp>
      <p:sp>
        <p:nvSpPr>
          <p:cNvPr id="7" name="Text 5">
            <a:hlinkClick r:id="rId1" tooltip="StepStone Gehaltsreport"/>
          </p:cNvPr>
          <p:cNvSpPr txBox="1"/>
          <p:nvPr/>
        </p:nvSpPr>
        <p:spPr>
          <a:xfrm>
            <a:off x="5669280" y="5852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8961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0515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unemployment, care</a:t>
            </a:r>
            <a:endParaRPr lang="en-US" sz="800" dirty="0"/>
          </a:p>
        </p:txBody>
      </p:sp>
      <p:sp>
        <p:nvSpPr>
          <p:cNvPr id="11" name="Text 9">
            <a:hlinkClick r:id="rId2" tooltip="Lohnnebenkosten 2026, sevdesk"/>
          </p:cNvPr>
          <p:cNvSpPr txBox="1"/>
          <p:nvPr/>
        </p:nvSpPr>
        <p:spPr>
          <a:xfrm>
            <a:off x="5669280" y="9509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365760" y="12801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2618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4173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800" dirty="0"/>
          </a:p>
        </p:txBody>
      </p:sp>
      <p:sp>
        <p:nvSpPr>
          <p:cNvPr id="15" name="Text 13">
            <a:hlinkClick r:id="rId3" tooltip="Arbeitszeitgesetz §4"/>
          </p:cNvPr>
          <p:cNvSpPr txBox="1"/>
          <p:nvPr/>
        </p:nvSpPr>
        <p:spPr>
          <a:xfrm>
            <a:off x="5669280" y="13167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365760" y="16459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6276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17830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800" dirty="0"/>
          </a:p>
        </p:txBody>
      </p:sp>
      <p:sp>
        <p:nvSpPr>
          <p:cNvPr id="19" name="Text 17">
            <a:hlinkClick r:id="rId4" tooltip="OpenAI API pricing"/>
          </p:cNvPr>
          <p:cNvSpPr txBox="1"/>
          <p:nvPr/>
        </p:nvSpPr>
        <p:spPr>
          <a:xfrm>
            <a:off x="56692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365760" y="20116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19933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1488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800" dirty="0"/>
          </a:p>
        </p:txBody>
      </p:sp>
      <p:sp>
        <p:nvSpPr>
          <p:cNvPr id="23" name="Text 21">
            <a:hlinkClick r:id="rId5" tooltip="Azure Container Apps pricing"/>
          </p:cNvPr>
          <p:cNvSpPr txBox="1"/>
          <p:nvPr/>
        </p:nvSpPr>
        <p:spPr>
          <a:xfrm>
            <a:off x="5669280" y="20482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365760" y="23774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3591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25146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800" dirty="0"/>
          </a:p>
        </p:txBody>
      </p:sp>
      <p:sp>
        <p:nvSpPr>
          <p:cNvPr id="27" name="Text 25">
            <a:hlinkClick r:id="rId6" tooltip="Azure Database for PostgreSQL"/>
          </p:cNvPr>
          <p:cNvSpPr txBox="1"/>
          <p:nvPr/>
        </p:nvSpPr>
        <p:spPr>
          <a:xfrm>
            <a:off x="5669280" y="24140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365760" y="27432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27249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Build-team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28803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800" dirty="0"/>
          </a:p>
        </p:txBody>
      </p:sp>
      <p:sp>
        <p:nvSpPr>
          <p:cNvPr id="31" name="Text 29">
            <a:hlinkClick r:id="rId7" tooltip="Glassdoor, ML Engineer Germany"/>
          </p:cNvPr>
          <p:cNvSpPr txBox="1"/>
          <p:nvPr/>
        </p:nvSpPr>
        <p:spPr>
          <a:xfrm>
            <a:off x="5669280" y="27797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365760" y="31089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352" y="30906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32461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0" y="31455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365760" y="34747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30352" y="34564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530352" y="36118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800" dirty="0"/>
          </a:p>
        </p:txBody>
      </p:sp>
      <p:sp>
        <p:nvSpPr>
          <p:cNvPr id="39" name="Text 37">
            <a:hlinkClick r:id="rId8" tooltip="Decerto, 2026 Claims Decisioning Pulse"/>
          </p:cNvPr>
          <p:cNvSpPr txBox="1"/>
          <p:nvPr/>
        </p:nvSpPr>
        <p:spPr>
          <a:xfrm>
            <a:off x="5669280" y="35112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840" dirty="0"/>
          </a:p>
        </p:txBody>
      </p:sp>
      <p:sp>
        <p:nvSpPr>
          <p:cNvPr id="40" name="Shape 38"/>
          <p:cNvSpPr/>
          <p:nvPr/>
        </p:nvSpPr>
        <p:spPr>
          <a:xfrm>
            <a:off x="365760" y="38404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30352" y="3822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530352" y="39776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800" dirty="0"/>
          </a:p>
        </p:txBody>
      </p:sp>
      <p:sp>
        <p:nvSpPr>
          <p:cNvPr id="43" name="Text 41">
            <a:hlinkClick r:id="rId9" tooltip="BCG, AI in customer service operations"/>
          </p:cNvPr>
          <p:cNvSpPr txBox="1"/>
          <p:nvPr/>
        </p:nvSpPr>
        <p:spPr>
          <a:xfrm>
            <a:off x="5669280" y="38770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365760" y="42062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30352" y="41879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530352" y="43434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800" dirty="0"/>
          </a:p>
        </p:txBody>
      </p:sp>
      <p:sp>
        <p:nvSpPr>
          <p:cNvPr id="47" name="Text 45">
            <a:hlinkClick r:id="rId10" tooltip="Dead-letter queues and poison messages"/>
          </p:cNvPr>
          <p:cNvSpPr txBox="1"/>
          <p:nvPr/>
        </p:nvSpPr>
        <p:spPr>
          <a:xfrm>
            <a:off x="5669280" y="42428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840" dirty="0"/>
          </a:p>
        </p:txBody>
      </p:sp>
      <p:sp>
        <p:nvSpPr>
          <p:cNvPr id="48" name="Shape 46"/>
          <p:cNvSpPr/>
          <p:nvPr/>
        </p:nvSpPr>
        <p:spPr>
          <a:xfrm>
            <a:off x="365760" y="45720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30352" y="45537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530352" y="47091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handlers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5669280" y="46085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365760" y="4956048"/>
            <a:ext cx="11365992" cy="109728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056632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ASSUMPTIONS — NOT SOURCED, AND THE FIRST THING WE WOULD TEST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285232"/>
            <a:ext cx="10972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6 · the 30% allowance for breaks and interruptions · how often a CPR is missing (30%) or underwriting is asked (25%) · how often the redesign raises an exception (20%) · the tokens a typical claim needs · the €146k build · the 0.25 FTE upkeep · and how many people staff intake, which sets the per-person saving.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weeks of watching live intake would replace all of these with real measurements. That is step one of the plan, not an afterthought.</a:t>
            </a:r>
            <a:endParaRPr lang="en-US" sz="840" dirty="0"/>
          </a:p>
        </p:txBody>
      </p:sp>
      <p:sp>
        <p:nvSpPr>
          <p:cNvPr id="55" name="Text 53"/>
          <p:cNvSpPr txBox="1"/>
          <p:nvPr/>
        </p:nvSpPr>
        <p:spPr>
          <a:xfrm>
            <a:off x="365760" y="612648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2026-09-06T15:05:50Z</dcterms:created>
  <dcterms:modified xsi:type="dcterms:W3CDTF">2026-09-06T15:05:50Z</dcterms:modified>
</cp:coreProperties>
</file>