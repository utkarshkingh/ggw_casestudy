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stepstone.de/gehalt/Schadenregulierer-in.html" TargetMode="External"/><Relationship Id="rId2" Type="http://schemas.openxmlformats.org/officeDocument/2006/relationships/hyperlink" Target="https://sevdesk.de/ratgeber/buchhaltung-finanzen/lohnbuchhaltung/lohnnebenkosten/" TargetMode="External"/><Relationship Id="rId3" Type="http://schemas.openxmlformats.org/officeDocument/2006/relationships/hyperlink" Target="https://www.gesetze-im-internet.de/arbzg/__4.html" TargetMode="External"/><Relationship Id="rId4" Type="http://schemas.openxmlformats.org/officeDocument/2006/relationships/hyperlink" Target="https://openai.com/api/pricing/" TargetMode="External"/><Relationship Id="rId5" Type="http://schemas.openxmlformats.org/officeDocument/2006/relationships/hyperlink" Target="https://azure.microsoft.com/en-us/pricing/details/container-apps/" TargetMode="External"/><Relationship Id="rId6" Type="http://schemas.openxmlformats.org/officeDocument/2006/relationships/hyperlink" Target="https://azure.microsoft.com/en-us/pricing/details/postgresql/flexible-server/" TargetMode="External"/><Relationship Id="rId7" Type="http://schemas.openxmlformats.org/officeDocument/2006/relationships/hyperlink" Target="https://www.glassdoor.com/Salaries/germany-machine-learning-engineer-salary-SRCH_IL.0,7_IN96_KO8,33.htm" TargetMode="External"/><Relationship Id="rId8" Type="http://schemas.openxmlformats.org/officeDocument/2006/relationships/hyperlink" Target="https://www.decerto.com/us/post/ai-claims-decisioning-framework-2026-what-us-claims-leaders-told-us-about-how-decisions-actually-get-made" TargetMode="External"/><Relationship Id="rId9" Type="http://schemas.openxmlformats.org/officeDocument/2006/relationships/hyperlink" Target="https://www.bcg.com/publications/2024/transforming-customer-service-operations-with-genai" TargetMode="External"/><Relationship Id="rId10" Type="http://schemas.openxmlformats.org/officeDocument/2006/relationships/hyperlink" Target="https://www.glukhov.org/app-architecture/integration-patterns/dead-letter-queues/" TargetMode="External"/><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8"/>
        </a:solidFill>
      </p:bgPr>
    </p:bg>
    <p:spTree>
      <p:nvGrpSpPr>
        <p:cNvPr id="1" name=""/>
        <p:cNvGrpSpPr/>
        <p:nvPr/>
      </p:nvGrpSpPr>
      <p:grpSpPr>
        <a:xfrm>
          <a:off x="0" y="0"/>
          <a:ext cx="0" cy="0"/>
          <a:chOff x="0" y="0"/>
          <a:chExt cx="0" cy="0"/>
        </a:xfrm>
      </p:grpSpPr>
      <p:sp>
        <p:nvSpPr>
          <p:cNvPr id="2" name="Shape 0"/>
          <p:cNvSpPr/>
          <p:nvPr/>
        </p:nvSpPr>
        <p:spPr>
          <a:xfrm>
            <a:off x="0" y="0"/>
            <a:ext cx="12191695" cy="1060704"/>
          </a:xfrm>
          <a:prstGeom prst="rect">
            <a:avLst/>
          </a:prstGeom>
          <a:solidFill>
            <a:srgbClr val="0B3B3C"/>
          </a:solidFill>
          <a:ln/>
        </p:spPr>
      </p:sp>
      <p:sp>
        <p:nvSpPr>
          <p:cNvPr id="3" name="Shape 1"/>
          <p:cNvSpPr/>
          <p:nvPr/>
        </p:nvSpPr>
        <p:spPr>
          <a:xfrm>
            <a:off x="0" y="1060704"/>
            <a:ext cx="12191695" cy="45720"/>
          </a:xfrm>
          <a:prstGeom prst="rect">
            <a:avLst/>
          </a:prstGeom>
          <a:solidFill>
            <a:srgbClr val="0891B2"/>
          </a:solidFill>
          <a:ln/>
        </p:spPr>
      </p:sp>
      <p:sp>
        <p:nvSpPr>
          <p:cNvPr id="4" name="Text 2"/>
          <p:cNvSpPr txBox="1"/>
          <p:nvPr/>
        </p:nvSpPr>
        <p:spPr>
          <a:xfrm>
            <a:off x="8778240" y="155448"/>
            <a:ext cx="2953512" cy="237744"/>
          </a:xfrm>
          <a:prstGeom prst="rect">
            <a:avLst/>
          </a:prstGeom>
          <a:noFill/>
          <a:ln/>
        </p:spPr>
        <p:txBody>
          <a:bodyPr wrap="square" lIns="0" tIns="0" rIns="0" bIns="0" rtlCol="0" anchor="ctr"/>
          <a:lstStyle/>
          <a:p>
            <a:pPr algn="r" indent="0" marL="0">
              <a:buNone/>
            </a:pPr>
            <a:r>
              <a:rPr lang="en-US" sz="950" b="1" spc="160" kern="0" dirty="0">
                <a:solidFill>
                  <a:srgbClr val="7FB3B6"/>
                </a:solidFill>
                <a:latin typeface="Arial" pitchFamily="34" charset="0"/>
                <a:ea typeface="Arial" pitchFamily="34" charset="-122"/>
                <a:cs typeface="Arial" pitchFamily="34" charset="-120"/>
              </a:rPr>
              <a:t>EXECUTIVE SUMMARY</a:t>
            </a:r>
            <a:endParaRPr lang="en-US" sz="950" dirty="0"/>
          </a:p>
        </p:txBody>
      </p:sp>
      <p:sp>
        <p:nvSpPr>
          <p:cNvPr id="5" name="Text 3"/>
          <p:cNvSpPr txBox="1"/>
          <p:nvPr/>
        </p:nvSpPr>
        <p:spPr>
          <a:xfrm>
            <a:off x="457200" y="137160"/>
            <a:ext cx="822960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Redesigning intake releases 17.5 handler-hours a day — the capacity of 2.8 full-time people</a:t>
            </a:r>
            <a:endParaRPr lang="en-US" sz="1900" dirty="0"/>
          </a:p>
        </p:txBody>
      </p:sp>
      <p:sp>
        <p:nvSpPr>
          <p:cNvPr id="6" name="Text 4"/>
          <p:cNvSpPr txBox="1"/>
          <p:nvPr/>
        </p:nvSpPr>
        <p:spPr>
          <a:xfrm>
            <a:off x="457200" y="576072"/>
            <a:ext cx="11247120" cy="329184"/>
          </a:xfrm>
          <a:prstGeom prst="rect">
            <a:avLst/>
          </a:prstGeom>
          <a:noFill/>
          <a:ln/>
        </p:spPr>
        <p:txBody>
          <a:bodyPr wrap="square" lIns="0" tIns="0" rIns="0" bIns="0" rtlCol="0" anchor="ctr"/>
          <a:lstStyle/>
          <a:p>
            <a:pPr indent="0" marL="0">
              <a:buNone/>
            </a:pPr>
            <a:r>
              <a:rPr lang="en-US" sz="1050" dirty="0">
                <a:solidFill>
                  <a:srgbClr val="9FC9CB"/>
                </a:solidFill>
                <a:latin typeface="Arial" pitchFamily="34" charset="0"/>
                <a:ea typeface="Arial" pitchFamily="34" charset="-122"/>
                <a:cs typeface="Arial" pitchFamily="34" charset="-120"/>
              </a:rPr>
              <a:t>Two thirds of that work goes to claims that were always going to close quietly · a person still decides anything that can go against a claimant</a:t>
            </a:r>
            <a:endParaRPr lang="en-US" sz="1050" dirty="0"/>
          </a:p>
        </p:txBody>
      </p:sp>
      <p:sp>
        <p:nvSpPr>
          <p:cNvPr id="7" name="Shape 5"/>
          <p:cNvSpPr/>
          <p:nvPr/>
        </p:nvSpPr>
        <p:spPr>
          <a:xfrm>
            <a:off x="457200" y="1325880"/>
            <a:ext cx="3429000" cy="2487168"/>
          </a:xfrm>
          <a:prstGeom prst="roundRect">
            <a:avLst>
              <a:gd name="adj" fmla="val 2206"/>
            </a:avLst>
          </a:prstGeom>
          <a:solidFill>
            <a:srgbClr val="FDF3E3"/>
          </a:solidFill>
          <a:ln w="13970">
            <a:solidFill>
              <a:srgbClr val="D97706"/>
            </a:solidFill>
            <a:prstDash val="solid"/>
          </a:ln>
        </p:spPr>
      </p:sp>
      <p:sp>
        <p:nvSpPr>
          <p:cNvPr id="8" name="Text 6"/>
          <p:cNvSpPr txBox="1"/>
          <p:nvPr/>
        </p:nvSpPr>
        <p:spPr>
          <a:xfrm>
            <a:off x="658368" y="1463040"/>
            <a:ext cx="3026664" cy="219456"/>
          </a:xfrm>
          <a:prstGeom prst="rect">
            <a:avLst/>
          </a:prstGeom>
          <a:noFill/>
          <a:ln/>
        </p:spPr>
        <p:txBody>
          <a:bodyPr wrap="square" lIns="0" tIns="0" rIns="0" bIns="0" rtlCol="0" anchor="ctr"/>
          <a:lstStyle/>
          <a:p>
            <a:pPr indent="0" marL="0">
              <a:buNone/>
            </a:pPr>
            <a:r>
              <a:rPr lang="en-US" sz="880" b="1" spc="100" kern="0" dirty="0">
                <a:solidFill>
                  <a:srgbClr val="D97706"/>
                </a:solidFill>
                <a:latin typeface="Arial" pitchFamily="34" charset="0"/>
                <a:ea typeface="Arial" pitchFamily="34" charset="-122"/>
                <a:cs typeface="Arial" pitchFamily="34" charset="-120"/>
              </a:rPr>
              <a:t>TODAY</a:t>
            </a:r>
            <a:endParaRPr lang="en-US" sz="880" dirty="0"/>
          </a:p>
        </p:txBody>
      </p:sp>
      <p:sp>
        <p:nvSpPr>
          <p:cNvPr id="9" name="Text 7"/>
          <p:cNvSpPr txBox="1"/>
          <p:nvPr/>
        </p:nvSpPr>
        <p:spPr>
          <a:xfrm>
            <a:off x="658368" y="1728216"/>
            <a:ext cx="3026664" cy="365760"/>
          </a:xfrm>
          <a:prstGeom prst="rect">
            <a:avLst/>
          </a:prstGeom>
          <a:noFill/>
          <a:ln/>
        </p:spPr>
        <p:txBody>
          <a:bodyPr wrap="square" lIns="0" tIns="0" rIns="0" bIns="0" rtlCol="0" anchor="ctr"/>
          <a:lstStyle/>
          <a:p>
            <a:pPr indent="0" marL="0">
              <a:lnSpc>
                <a:spcPct val="115000"/>
              </a:lnSpc>
              <a:buNone/>
            </a:pPr>
            <a:r>
              <a:rPr lang="en-US" sz="900" dirty="0">
                <a:solidFill>
                  <a:srgbClr val="44403A"/>
                </a:solidFill>
                <a:latin typeface="Arial" pitchFamily="34" charset="0"/>
                <a:ea typeface="Arial" pitchFamily="34" charset="-122"/>
                <a:cs typeface="Arial" pitchFamily="34" charset="-120"/>
              </a:rPr>
              <a:t>What one claim costs one handler today, start to finish</a:t>
            </a:r>
            <a:endParaRPr lang="en-US" sz="900" dirty="0"/>
          </a:p>
        </p:txBody>
      </p:sp>
      <p:sp>
        <p:nvSpPr>
          <p:cNvPr id="10" name="Text 8"/>
          <p:cNvSpPr txBox="1"/>
          <p:nvPr/>
        </p:nvSpPr>
        <p:spPr>
          <a:xfrm>
            <a:off x="658368" y="2112264"/>
            <a:ext cx="3026664" cy="548640"/>
          </a:xfrm>
          <a:prstGeom prst="rect">
            <a:avLst/>
          </a:prstGeom>
          <a:noFill/>
          <a:ln/>
        </p:spPr>
        <p:txBody>
          <a:bodyPr wrap="square" lIns="0" tIns="0" rIns="0" bIns="0" rtlCol="0" anchor="ctr"/>
          <a:lstStyle/>
          <a:p>
            <a:pPr indent="0" marL="0">
              <a:buNone/>
            </a:pPr>
            <a:r>
              <a:rPr lang="en-US" sz="4200" b="1" dirty="0">
                <a:solidFill>
                  <a:srgbClr val="D97706"/>
                </a:solidFill>
                <a:latin typeface="Cambria" pitchFamily="34" charset="0"/>
                <a:ea typeface="Cambria" pitchFamily="34" charset="-122"/>
                <a:cs typeface="Cambria" pitchFamily="34" charset="-120"/>
              </a:rPr>
              <a:t>40</a:t>
            </a:r>
            <a:pPr indent="0" marL="0">
              <a:buNone/>
            </a:pPr>
            <a:r>
              <a:rPr lang="en-US" sz="1200" dirty="0">
                <a:solidFill>
                  <a:srgbClr val="6B6257"/>
                </a:solidFill>
                <a:latin typeface="Cambria" pitchFamily="34" charset="0"/>
                <a:ea typeface="Cambria" pitchFamily="34" charset="-122"/>
                <a:cs typeface="Cambria" pitchFamily="34" charset="-120"/>
              </a:rPr>
              <a:t>  minutes per claim</a:t>
            </a:r>
            <a:endParaRPr lang="en-US" sz="4200" dirty="0"/>
          </a:p>
        </p:txBody>
      </p:sp>
      <p:sp>
        <p:nvSpPr>
          <p:cNvPr id="11" name="Text 9"/>
          <p:cNvSpPr txBox="1"/>
          <p:nvPr/>
        </p:nvSpPr>
        <p:spPr>
          <a:xfrm>
            <a:off x="658368" y="2697480"/>
            <a:ext cx="3026664" cy="987552"/>
          </a:xfrm>
          <a:prstGeom prst="rect">
            <a:avLst/>
          </a:prstGeom>
          <a:noFill/>
          <a:ln/>
        </p:spPr>
        <p:txBody>
          <a:bodyPr wrap="square" lIns="0" tIns="0" rIns="0" bIns="0" rtlCol="0" anchor="ctr"/>
          <a:lstStyle/>
          <a:p>
            <a:pPr indent="0" marL="0">
              <a:lnSpc>
                <a:spcPct val="118000"/>
              </a:lnSpc>
              <a:buNone/>
            </a:pPr>
            <a:r>
              <a:rPr lang="en-US" sz="840" dirty="0">
                <a:solidFill>
                  <a:srgbClr val="44403A"/>
                </a:solidFill>
                <a:latin typeface="Arial" pitchFamily="34" charset="0"/>
                <a:ea typeface="Arial" pitchFamily="34" charset="-122"/>
                <a:cs typeface="Arial" pitchFamily="34" charset="-120"/>
              </a:rPr>
              <a:t>Reading and re-reading the report, opening attachments, chasing a missing CPR, switching between EASY, IDB, e-mail and paper. Plus 30% for breaks and interruptions.</a:t>
            </a:r>
            <a:endParaRPr lang="en-US" sz="840" dirty="0"/>
          </a:p>
        </p:txBody>
      </p:sp>
      <p:sp>
        <p:nvSpPr>
          <p:cNvPr id="12" name="Shape 10"/>
          <p:cNvSpPr/>
          <p:nvPr/>
        </p:nvSpPr>
        <p:spPr>
          <a:xfrm>
            <a:off x="4160520" y="1325880"/>
            <a:ext cx="3429000" cy="2487168"/>
          </a:xfrm>
          <a:prstGeom prst="roundRect">
            <a:avLst>
              <a:gd name="adj" fmla="val 2206"/>
            </a:avLst>
          </a:prstGeom>
          <a:solidFill>
            <a:srgbClr val="E4F4F8"/>
          </a:solidFill>
          <a:ln w="13970">
            <a:solidFill>
              <a:srgbClr val="0891B2"/>
            </a:solidFill>
            <a:prstDash val="solid"/>
          </a:ln>
        </p:spPr>
      </p:sp>
      <p:sp>
        <p:nvSpPr>
          <p:cNvPr id="13" name="Text 11"/>
          <p:cNvSpPr txBox="1"/>
          <p:nvPr/>
        </p:nvSpPr>
        <p:spPr>
          <a:xfrm>
            <a:off x="4361688" y="1463040"/>
            <a:ext cx="3026664" cy="219456"/>
          </a:xfrm>
          <a:prstGeom prst="rect">
            <a:avLst/>
          </a:prstGeom>
          <a:noFill/>
          <a:ln/>
        </p:spPr>
        <p:txBody>
          <a:bodyPr wrap="square" lIns="0" tIns="0" rIns="0" bIns="0" rtlCol="0" anchor="ctr"/>
          <a:lstStyle/>
          <a:p>
            <a:pPr indent="0" marL="0">
              <a:buNone/>
            </a:pPr>
            <a:r>
              <a:rPr lang="en-US" sz="880" b="1" spc="100" kern="0" dirty="0">
                <a:solidFill>
                  <a:srgbClr val="0891B2"/>
                </a:solidFill>
                <a:latin typeface="Arial" pitchFamily="34" charset="0"/>
                <a:ea typeface="Arial" pitchFamily="34" charset="-122"/>
                <a:cs typeface="Arial" pitchFamily="34" charset="-120"/>
              </a:rPr>
              <a:t>REDESIGNED</a:t>
            </a:r>
            <a:endParaRPr lang="en-US" sz="880" dirty="0"/>
          </a:p>
        </p:txBody>
      </p:sp>
      <p:sp>
        <p:nvSpPr>
          <p:cNvPr id="14" name="Text 12"/>
          <p:cNvSpPr txBox="1"/>
          <p:nvPr/>
        </p:nvSpPr>
        <p:spPr>
          <a:xfrm>
            <a:off x="4361688" y="1728216"/>
            <a:ext cx="3026664" cy="365760"/>
          </a:xfrm>
          <a:prstGeom prst="rect">
            <a:avLst/>
          </a:prstGeom>
          <a:noFill/>
          <a:ln/>
        </p:spPr>
        <p:txBody>
          <a:bodyPr wrap="square" lIns="0" tIns="0" rIns="0" bIns="0" rtlCol="0" anchor="ctr"/>
          <a:lstStyle/>
          <a:p>
            <a:pPr indent="0" marL="0">
              <a:lnSpc>
                <a:spcPct val="115000"/>
              </a:lnSpc>
              <a:buNone/>
            </a:pPr>
            <a:r>
              <a:rPr lang="en-US" sz="900" dirty="0">
                <a:solidFill>
                  <a:srgbClr val="34474A"/>
                </a:solidFill>
                <a:latin typeface="Arial" pitchFamily="34" charset="0"/>
                <a:ea typeface="Arial" pitchFamily="34" charset="-122"/>
                <a:cs typeface="Arial" pitchFamily="34" charset="-120"/>
              </a:rPr>
              <a:t>The same checks and the same exits, reordered</a:t>
            </a:r>
            <a:endParaRPr lang="en-US" sz="900" dirty="0"/>
          </a:p>
        </p:txBody>
      </p:sp>
      <p:sp>
        <p:nvSpPr>
          <p:cNvPr id="15" name="Text 13"/>
          <p:cNvSpPr txBox="1"/>
          <p:nvPr/>
        </p:nvSpPr>
        <p:spPr>
          <a:xfrm>
            <a:off x="4361688" y="2112264"/>
            <a:ext cx="3026664" cy="548640"/>
          </a:xfrm>
          <a:prstGeom prst="rect">
            <a:avLst/>
          </a:prstGeom>
          <a:noFill/>
          <a:ln/>
        </p:spPr>
        <p:txBody>
          <a:bodyPr wrap="square" lIns="0" tIns="0" rIns="0" bIns="0" rtlCol="0" anchor="ctr"/>
          <a:lstStyle/>
          <a:p>
            <a:pPr indent="0" marL="0">
              <a:buNone/>
            </a:pPr>
            <a:r>
              <a:rPr lang="en-US" sz="4200" b="1" dirty="0">
                <a:solidFill>
                  <a:srgbClr val="0891B2"/>
                </a:solidFill>
                <a:latin typeface="Cambria" pitchFamily="34" charset="0"/>
                <a:ea typeface="Cambria" pitchFamily="34" charset="-122"/>
                <a:cs typeface="Cambria" pitchFamily="34" charset="-120"/>
              </a:rPr>
              <a:t>19</a:t>
            </a:r>
            <a:pPr indent="0" marL="0">
              <a:buNone/>
            </a:pPr>
            <a:r>
              <a:rPr lang="en-US" sz="1200" dirty="0">
                <a:solidFill>
                  <a:srgbClr val="5A6E70"/>
                </a:solidFill>
                <a:latin typeface="Cambria" pitchFamily="34" charset="0"/>
                <a:ea typeface="Cambria" pitchFamily="34" charset="-122"/>
                <a:cs typeface="Cambria" pitchFamily="34" charset="-120"/>
              </a:rPr>
              <a:t>  minutes per claim</a:t>
            </a:r>
            <a:endParaRPr lang="en-US" sz="4200" dirty="0"/>
          </a:p>
        </p:txBody>
      </p:sp>
      <p:sp>
        <p:nvSpPr>
          <p:cNvPr id="16" name="Text 14"/>
          <p:cNvSpPr txBox="1"/>
          <p:nvPr/>
        </p:nvSpPr>
        <p:spPr>
          <a:xfrm>
            <a:off x="4361688" y="2697480"/>
            <a:ext cx="3026664" cy="987552"/>
          </a:xfrm>
          <a:prstGeom prst="rect">
            <a:avLst/>
          </a:prstGeom>
          <a:noFill/>
          <a:ln/>
        </p:spPr>
        <p:txBody>
          <a:bodyPr wrap="square" lIns="0" tIns="0" rIns="0" bIns="0" rtlCol="0" anchor="ctr"/>
          <a:lstStyle/>
          <a:p>
            <a:pPr indent="0" marL="0">
              <a:lnSpc>
                <a:spcPct val="118000"/>
              </a:lnSpc>
              <a:buNone/>
            </a:pPr>
            <a:r>
              <a:rPr lang="en-US" sz="840" dirty="0">
                <a:solidFill>
                  <a:srgbClr val="34474A"/>
                </a:solidFill>
                <a:latin typeface="Arial" pitchFamily="34" charset="0"/>
                <a:ea typeface="Arial" pitchFamily="34" charset="-122"/>
                <a:cs typeface="Arial" pitchFamily="34" charset="-120"/>
              </a:rPr>
              <a:t>A 52% cut, not the 75% the design allows: handlers will re-check drafts before they trust them. Four AI agents, one rules-only step, two human checkpoints.</a:t>
            </a:r>
            <a:endParaRPr lang="en-US" sz="840" dirty="0"/>
          </a:p>
        </p:txBody>
      </p:sp>
      <p:sp>
        <p:nvSpPr>
          <p:cNvPr id="17" name="Shape 15"/>
          <p:cNvSpPr/>
          <p:nvPr/>
        </p:nvSpPr>
        <p:spPr>
          <a:xfrm>
            <a:off x="7863840" y="1325880"/>
            <a:ext cx="3867912" cy="2487168"/>
          </a:xfrm>
          <a:prstGeom prst="roundRect">
            <a:avLst>
              <a:gd name="adj" fmla="val 2206"/>
            </a:avLst>
          </a:prstGeom>
          <a:solidFill>
            <a:srgbClr val="EDECFB"/>
          </a:solidFill>
          <a:ln w="13970">
            <a:solidFill>
              <a:srgbClr val="4338CA"/>
            </a:solidFill>
            <a:prstDash val="solid"/>
          </a:ln>
        </p:spPr>
      </p:sp>
      <p:sp>
        <p:nvSpPr>
          <p:cNvPr id="18" name="Text 16"/>
          <p:cNvSpPr txBox="1"/>
          <p:nvPr/>
        </p:nvSpPr>
        <p:spPr>
          <a:xfrm>
            <a:off x="8065008" y="1463040"/>
            <a:ext cx="3465576" cy="219456"/>
          </a:xfrm>
          <a:prstGeom prst="rect">
            <a:avLst/>
          </a:prstGeom>
          <a:noFill/>
          <a:ln/>
        </p:spPr>
        <p:txBody>
          <a:bodyPr wrap="square" lIns="0" tIns="0" rIns="0" bIns="0" rtlCol="0" anchor="ctr"/>
          <a:lstStyle/>
          <a:p>
            <a:pPr indent="0" marL="0">
              <a:buNone/>
            </a:pPr>
            <a:r>
              <a:rPr lang="en-US" sz="880" b="1" spc="100" kern="0" dirty="0">
                <a:solidFill>
                  <a:srgbClr val="4338CA"/>
                </a:solidFill>
                <a:latin typeface="Arial" pitchFamily="34" charset="0"/>
                <a:ea typeface="Arial" pitchFamily="34" charset="-122"/>
                <a:cs typeface="Arial" pitchFamily="34" charset="-120"/>
              </a:rPr>
              <a:t>WHERE THE EFFORT ACTUALLY GOES</a:t>
            </a:r>
            <a:endParaRPr lang="en-US" sz="880" dirty="0"/>
          </a:p>
        </p:txBody>
      </p:sp>
      <p:sp>
        <p:nvSpPr>
          <p:cNvPr id="19" name="Shape 17"/>
          <p:cNvSpPr/>
          <p:nvPr/>
        </p:nvSpPr>
        <p:spPr>
          <a:xfrm>
            <a:off x="8065008" y="1746504"/>
            <a:ext cx="50292" cy="530352"/>
          </a:xfrm>
          <a:prstGeom prst="rect">
            <a:avLst/>
          </a:prstGeom>
          <a:solidFill>
            <a:srgbClr val="4338CA"/>
          </a:solidFill>
          <a:ln/>
        </p:spPr>
      </p:sp>
      <p:sp>
        <p:nvSpPr>
          <p:cNvPr id="20" name="Text 18"/>
          <p:cNvSpPr txBox="1"/>
          <p:nvPr/>
        </p:nvSpPr>
        <p:spPr>
          <a:xfrm>
            <a:off x="8193024" y="1709928"/>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5%</a:t>
            </a:r>
            <a:endParaRPr lang="en-US" sz="1700" dirty="0"/>
          </a:p>
        </p:txBody>
      </p:sp>
      <p:sp>
        <p:nvSpPr>
          <p:cNvPr id="21" name="Text 19"/>
          <p:cNvSpPr txBox="1"/>
          <p:nvPr/>
        </p:nvSpPr>
        <p:spPr>
          <a:xfrm>
            <a:off x="8887968" y="1700784"/>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Models and machines</a:t>
            </a:r>
            <a:endParaRPr lang="en-US" sz="930" dirty="0"/>
          </a:p>
        </p:txBody>
      </p:sp>
      <p:sp>
        <p:nvSpPr>
          <p:cNvPr id="22" name="Text 20"/>
          <p:cNvSpPr txBox="1"/>
          <p:nvPr/>
        </p:nvSpPr>
        <p:spPr>
          <a:xfrm>
            <a:off x="8887968" y="1911096"/>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€0.08 a claim · €2,400 a year</a:t>
            </a:r>
            <a:endParaRPr lang="en-US" sz="820" dirty="0"/>
          </a:p>
        </p:txBody>
      </p:sp>
      <p:sp>
        <p:nvSpPr>
          <p:cNvPr id="23" name="Shape 21"/>
          <p:cNvSpPr/>
          <p:nvPr/>
        </p:nvSpPr>
        <p:spPr>
          <a:xfrm>
            <a:off x="8065008" y="2350008"/>
            <a:ext cx="50292" cy="530352"/>
          </a:xfrm>
          <a:prstGeom prst="rect">
            <a:avLst/>
          </a:prstGeom>
          <a:solidFill>
            <a:srgbClr val="4338CA"/>
          </a:solidFill>
          <a:ln/>
        </p:spPr>
      </p:sp>
      <p:sp>
        <p:nvSpPr>
          <p:cNvPr id="24" name="Text 22"/>
          <p:cNvSpPr txBox="1"/>
          <p:nvPr/>
        </p:nvSpPr>
        <p:spPr>
          <a:xfrm>
            <a:off x="8193024" y="2313432"/>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25%</a:t>
            </a:r>
            <a:endParaRPr lang="en-US" sz="1700" dirty="0"/>
          </a:p>
        </p:txBody>
      </p:sp>
      <p:sp>
        <p:nvSpPr>
          <p:cNvPr id="25" name="Text 23"/>
          <p:cNvSpPr txBox="1"/>
          <p:nvPr/>
        </p:nvSpPr>
        <p:spPr>
          <a:xfrm>
            <a:off x="8887968" y="2304288"/>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Plumbing and audit trail</a:t>
            </a:r>
            <a:endParaRPr lang="en-US" sz="930" dirty="0"/>
          </a:p>
        </p:txBody>
      </p:sp>
      <p:sp>
        <p:nvSpPr>
          <p:cNvPr id="26" name="Text 24"/>
          <p:cNvSpPr txBox="1"/>
          <p:nvPr/>
        </p:nvSpPr>
        <p:spPr>
          <a:xfrm>
            <a:off x="8887968" y="2514600"/>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EASY/IDB wiring, logging every decision</a:t>
            </a:r>
            <a:endParaRPr lang="en-US" sz="820" dirty="0"/>
          </a:p>
        </p:txBody>
      </p:sp>
      <p:sp>
        <p:nvSpPr>
          <p:cNvPr id="27" name="Shape 25"/>
          <p:cNvSpPr/>
          <p:nvPr/>
        </p:nvSpPr>
        <p:spPr>
          <a:xfrm>
            <a:off x="8065008" y="2953512"/>
            <a:ext cx="50292" cy="530352"/>
          </a:xfrm>
          <a:prstGeom prst="rect">
            <a:avLst/>
          </a:prstGeom>
          <a:solidFill>
            <a:srgbClr val="4338CA"/>
          </a:solidFill>
          <a:ln/>
        </p:spPr>
      </p:sp>
      <p:sp>
        <p:nvSpPr>
          <p:cNvPr id="28" name="Text 26"/>
          <p:cNvSpPr txBox="1"/>
          <p:nvPr/>
        </p:nvSpPr>
        <p:spPr>
          <a:xfrm>
            <a:off x="8193024" y="2916936"/>
            <a:ext cx="658368" cy="274320"/>
          </a:xfrm>
          <a:prstGeom prst="rect">
            <a:avLst/>
          </a:prstGeom>
          <a:noFill/>
          <a:ln/>
        </p:spPr>
        <p:txBody>
          <a:bodyPr wrap="square" lIns="0" tIns="0" rIns="0" bIns="0" rtlCol="0" anchor="ctr"/>
          <a:lstStyle/>
          <a:p>
            <a:pPr indent="0" marL="0">
              <a:buNone/>
            </a:pPr>
            <a:r>
              <a:rPr lang="en-US" sz="1700" b="1" dirty="0">
                <a:solidFill>
                  <a:srgbClr val="4338CA"/>
                </a:solidFill>
                <a:latin typeface="Cambria" pitchFamily="34" charset="0"/>
                <a:ea typeface="Cambria" pitchFamily="34" charset="-122"/>
                <a:cs typeface="Cambria" pitchFamily="34" charset="-120"/>
              </a:rPr>
              <a:t>70%</a:t>
            </a:r>
            <a:endParaRPr lang="en-US" sz="1700" dirty="0"/>
          </a:p>
        </p:txBody>
      </p:sp>
      <p:sp>
        <p:nvSpPr>
          <p:cNvPr id="29" name="Text 27"/>
          <p:cNvSpPr txBox="1"/>
          <p:nvPr/>
        </p:nvSpPr>
        <p:spPr>
          <a:xfrm>
            <a:off x="8887968" y="2907792"/>
            <a:ext cx="2642616" cy="219456"/>
          </a:xfrm>
          <a:prstGeom prst="rect">
            <a:avLst/>
          </a:prstGeom>
          <a:noFill/>
          <a:ln/>
        </p:spPr>
        <p:txBody>
          <a:bodyPr wrap="square" lIns="0" tIns="0" rIns="0" bIns="0" rtlCol="0" anchor="ctr"/>
          <a:lstStyle/>
          <a:p>
            <a:pPr indent="0" marL="0">
              <a:buNone/>
            </a:pPr>
            <a:r>
              <a:rPr lang="en-US" sz="930" b="1" dirty="0">
                <a:solidFill>
                  <a:srgbClr val="2A2A3E"/>
                </a:solidFill>
                <a:latin typeface="Arial" pitchFamily="34" charset="0"/>
                <a:ea typeface="Arial" pitchFamily="34" charset="-122"/>
                <a:cs typeface="Arial" pitchFamily="34" charset="-120"/>
              </a:rPr>
              <a:t>Process, training, trust</a:t>
            </a:r>
            <a:endParaRPr lang="en-US" sz="930" dirty="0"/>
          </a:p>
        </p:txBody>
      </p:sp>
      <p:sp>
        <p:nvSpPr>
          <p:cNvPr id="30" name="Text 28"/>
          <p:cNvSpPr txBox="1"/>
          <p:nvPr/>
        </p:nvSpPr>
        <p:spPr>
          <a:xfrm>
            <a:off x="8887968" y="3118104"/>
            <a:ext cx="2642616" cy="365760"/>
          </a:xfrm>
          <a:prstGeom prst="rect">
            <a:avLst/>
          </a:prstGeom>
          <a:noFill/>
          <a:ln/>
        </p:spPr>
        <p:txBody>
          <a:bodyPr wrap="square" lIns="0" tIns="0" rIns="0" bIns="0" rtlCol="0" anchor="ctr"/>
          <a:lstStyle/>
          <a:p>
            <a:pPr indent="0" marL="0">
              <a:lnSpc>
                <a:spcPct val="110000"/>
              </a:lnSpc>
              <a:buNone/>
            </a:pPr>
            <a:r>
              <a:rPr lang="en-US" sz="820" dirty="0">
                <a:solidFill>
                  <a:srgbClr val="4A4A5E"/>
                </a:solidFill>
                <a:latin typeface="Arial" pitchFamily="34" charset="0"/>
                <a:ea typeface="Arial" pitchFamily="34" charset="-122"/>
                <a:cs typeface="Arial" pitchFamily="34" charset="-120"/>
              </a:rPr>
              <a:t>adoption is the real schedule risk</a:t>
            </a:r>
            <a:endParaRPr lang="en-US" sz="820" dirty="0"/>
          </a:p>
        </p:txBody>
      </p:sp>
      <p:sp>
        <p:nvSpPr>
          <p:cNvPr id="31" name="Text 29"/>
          <p:cNvSpPr txBox="1"/>
          <p:nvPr/>
        </p:nvSpPr>
        <p:spPr>
          <a:xfrm>
            <a:off x="8065008" y="3557016"/>
            <a:ext cx="3465576" cy="219456"/>
          </a:xfrm>
          <a:prstGeom prst="rect">
            <a:avLst/>
          </a:prstGeom>
          <a:noFill/>
          <a:ln/>
        </p:spPr>
        <p:txBody>
          <a:bodyPr wrap="square" lIns="0" tIns="0" rIns="0" bIns="0" rtlCol="0" anchor="ctr"/>
          <a:lstStyle/>
          <a:p>
            <a:pPr indent="0" marL="0">
              <a:buNone/>
            </a:pPr>
            <a:r>
              <a:rPr lang="en-US" sz="740" i="1" dirty="0">
                <a:solidFill>
                  <a:srgbClr val="5A5A6E"/>
                </a:solidFill>
                <a:latin typeface="Arial" pitchFamily="34" charset="0"/>
                <a:ea typeface="Arial" pitchFamily="34" charset="-122"/>
                <a:cs typeface="Arial" pitchFamily="34" charset="-120"/>
              </a:rPr>
              <a:t>Follows BCG's 10-20-70 rule, adjusted for this process</a:t>
            </a:r>
            <a:endParaRPr lang="en-US" sz="740" dirty="0"/>
          </a:p>
        </p:txBody>
      </p:sp>
      <p:sp>
        <p:nvSpPr>
          <p:cNvPr id="32" name="Shape 30"/>
          <p:cNvSpPr/>
          <p:nvPr/>
        </p:nvSpPr>
        <p:spPr>
          <a:xfrm>
            <a:off x="457200" y="3968496"/>
            <a:ext cx="2627071" cy="914400"/>
          </a:xfrm>
          <a:prstGeom prst="roundRect">
            <a:avLst>
              <a:gd name="adj" fmla="val 6000"/>
            </a:avLst>
          </a:prstGeom>
          <a:solidFill>
            <a:srgbClr val="FFFFFF"/>
          </a:solidFill>
          <a:ln w="17780">
            <a:solidFill>
              <a:srgbClr val="D97706"/>
            </a:solidFill>
            <a:prstDash val="solid"/>
          </a:ln>
        </p:spPr>
      </p:sp>
      <p:sp>
        <p:nvSpPr>
          <p:cNvPr id="33" name="Text 31"/>
          <p:cNvSpPr txBox="1"/>
          <p:nvPr/>
        </p:nvSpPr>
        <p:spPr>
          <a:xfrm>
            <a:off x="621792" y="4032504"/>
            <a:ext cx="2297887" cy="384048"/>
          </a:xfrm>
          <a:prstGeom prst="rect">
            <a:avLst/>
          </a:prstGeom>
          <a:noFill/>
          <a:ln/>
        </p:spPr>
        <p:txBody>
          <a:bodyPr wrap="square" lIns="0" tIns="0" rIns="0" bIns="0" rtlCol="0" anchor="ctr"/>
          <a:lstStyle/>
          <a:p>
            <a:pPr indent="0" marL="0">
              <a:buNone/>
            </a:pPr>
            <a:r>
              <a:rPr lang="en-US" sz="2000" b="1" dirty="0">
                <a:solidFill>
                  <a:srgbClr val="D97706"/>
                </a:solidFill>
                <a:latin typeface="Cambria" pitchFamily="34" charset="0"/>
                <a:ea typeface="Cambria" pitchFamily="34" charset="-122"/>
                <a:cs typeface="Cambria" pitchFamily="34" charset="-120"/>
              </a:rPr>
              <a:t>17.5 h</a:t>
            </a:r>
            <a:endParaRPr lang="en-US" sz="2000" dirty="0"/>
          </a:p>
        </p:txBody>
      </p:sp>
      <p:sp>
        <p:nvSpPr>
          <p:cNvPr id="34" name="Text 32"/>
          <p:cNvSpPr txBox="1"/>
          <p:nvPr/>
        </p:nvSpPr>
        <p:spPr>
          <a:xfrm>
            <a:off x="621792"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handler-hours freed every working day, across the claims team</a:t>
            </a:r>
            <a:endParaRPr lang="en-US" sz="840" dirty="0"/>
          </a:p>
        </p:txBody>
      </p:sp>
      <p:sp>
        <p:nvSpPr>
          <p:cNvPr id="35" name="Shape 33"/>
          <p:cNvSpPr/>
          <p:nvPr/>
        </p:nvSpPr>
        <p:spPr>
          <a:xfrm>
            <a:off x="3340303" y="3968496"/>
            <a:ext cx="2627071" cy="914400"/>
          </a:xfrm>
          <a:prstGeom prst="roundRect">
            <a:avLst>
              <a:gd name="adj" fmla="val 6000"/>
            </a:avLst>
          </a:prstGeom>
          <a:solidFill>
            <a:srgbClr val="FFFFFF"/>
          </a:solidFill>
          <a:ln w="17780">
            <a:solidFill>
              <a:srgbClr val="0891B2"/>
            </a:solidFill>
            <a:prstDash val="solid"/>
          </a:ln>
        </p:spPr>
      </p:sp>
      <p:sp>
        <p:nvSpPr>
          <p:cNvPr id="36" name="Text 34"/>
          <p:cNvSpPr txBox="1"/>
          <p:nvPr/>
        </p:nvSpPr>
        <p:spPr>
          <a:xfrm>
            <a:off x="3504895" y="4032504"/>
            <a:ext cx="2297887" cy="384048"/>
          </a:xfrm>
          <a:prstGeom prst="rect">
            <a:avLst/>
          </a:prstGeom>
          <a:noFill/>
          <a:ln/>
        </p:spPr>
        <p:txBody>
          <a:bodyPr wrap="square" lIns="0" tIns="0" rIns="0" bIns="0" rtlCol="0" anchor="ctr"/>
          <a:lstStyle/>
          <a:p>
            <a:pPr indent="0" marL="0">
              <a:buNone/>
            </a:pPr>
            <a:r>
              <a:rPr lang="en-US" sz="2000" b="1" dirty="0">
                <a:solidFill>
                  <a:srgbClr val="0891B2"/>
                </a:solidFill>
                <a:latin typeface="Cambria" pitchFamily="34" charset="0"/>
                <a:ea typeface="Cambria" pitchFamily="34" charset="-122"/>
                <a:cs typeface="Cambria" pitchFamily="34" charset="-120"/>
              </a:rPr>
              <a:t>2.8 FTE</a:t>
            </a:r>
            <a:endParaRPr lang="en-US" sz="2000" dirty="0"/>
          </a:p>
        </p:txBody>
      </p:sp>
      <p:sp>
        <p:nvSpPr>
          <p:cNvPr id="37" name="Text 35"/>
          <p:cNvSpPr txBox="1"/>
          <p:nvPr/>
        </p:nvSpPr>
        <p:spPr>
          <a:xfrm>
            <a:off x="3504895"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the same capacity, expressed as full-time people</a:t>
            </a:r>
            <a:endParaRPr lang="en-US" sz="840" dirty="0"/>
          </a:p>
        </p:txBody>
      </p:sp>
      <p:sp>
        <p:nvSpPr>
          <p:cNvPr id="38" name="Shape 36"/>
          <p:cNvSpPr/>
          <p:nvPr/>
        </p:nvSpPr>
        <p:spPr>
          <a:xfrm>
            <a:off x="6223406" y="3968496"/>
            <a:ext cx="2627071" cy="914400"/>
          </a:xfrm>
          <a:prstGeom prst="roundRect">
            <a:avLst>
              <a:gd name="adj" fmla="val 6000"/>
            </a:avLst>
          </a:prstGeom>
          <a:solidFill>
            <a:srgbClr val="FFFFFF"/>
          </a:solidFill>
          <a:ln w="17780">
            <a:solidFill>
              <a:srgbClr val="BE185D"/>
            </a:solidFill>
            <a:prstDash val="solid"/>
          </a:ln>
        </p:spPr>
      </p:sp>
      <p:sp>
        <p:nvSpPr>
          <p:cNvPr id="39" name="Text 37"/>
          <p:cNvSpPr txBox="1"/>
          <p:nvPr/>
        </p:nvSpPr>
        <p:spPr>
          <a:xfrm>
            <a:off x="6387998" y="4032504"/>
            <a:ext cx="2297887" cy="384048"/>
          </a:xfrm>
          <a:prstGeom prst="rect">
            <a:avLst/>
          </a:prstGeom>
          <a:noFill/>
          <a:ln/>
        </p:spPr>
        <p:txBody>
          <a:bodyPr wrap="square" lIns="0" tIns="0" rIns="0" bIns="0" rtlCol="0" anchor="ctr"/>
          <a:lstStyle/>
          <a:p>
            <a:pPr indent="0" marL="0">
              <a:buNone/>
            </a:pPr>
            <a:r>
              <a:rPr lang="en-US" sz="2000" b="1" dirty="0">
                <a:solidFill>
                  <a:srgbClr val="BE185D"/>
                </a:solidFill>
                <a:latin typeface="Cambria" pitchFamily="34" charset="0"/>
                <a:ea typeface="Cambria" pitchFamily="34" charset="-122"/>
                <a:cs typeface="Cambria" pitchFamily="34" charset="-120"/>
              </a:rPr>
              <a:t>€153k</a:t>
            </a:r>
            <a:endParaRPr lang="en-US" sz="2000" dirty="0"/>
          </a:p>
        </p:txBody>
      </p:sp>
      <p:sp>
        <p:nvSpPr>
          <p:cNvPr id="40" name="Text 38"/>
          <p:cNvSpPr txBox="1"/>
          <p:nvPr/>
        </p:nvSpPr>
        <p:spPr>
          <a:xfrm>
            <a:off x="6387998"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value of that capacity, per year</a:t>
            </a:r>
            <a:endParaRPr lang="en-US" sz="840" dirty="0"/>
          </a:p>
        </p:txBody>
      </p:sp>
      <p:sp>
        <p:nvSpPr>
          <p:cNvPr id="41" name="Shape 39"/>
          <p:cNvSpPr/>
          <p:nvPr/>
        </p:nvSpPr>
        <p:spPr>
          <a:xfrm>
            <a:off x="9106510" y="3968496"/>
            <a:ext cx="2627071" cy="914400"/>
          </a:xfrm>
          <a:prstGeom prst="roundRect">
            <a:avLst>
              <a:gd name="adj" fmla="val 6000"/>
            </a:avLst>
          </a:prstGeom>
          <a:solidFill>
            <a:srgbClr val="FFFFFF"/>
          </a:solidFill>
          <a:ln w="17780">
            <a:solidFill>
              <a:srgbClr val="4338CA"/>
            </a:solidFill>
            <a:prstDash val="solid"/>
          </a:ln>
        </p:spPr>
      </p:sp>
      <p:sp>
        <p:nvSpPr>
          <p:cNvPr id="42" name="Text 40"/>
          <p:cNvSpPr txBox="1"/>
          <p:nvPr/>
        </p:nvSpPr>
        <p:spPr>
          <a:xfrm>
            <a:off x="9271102" y="4032504"/>
            <a:ext cx="2297887" cy="384048"/>
          </a:xfrm>
          <a:prstGeom prst="rect">
            <a:avLst/>
          </a:prstGeom>
          <a:noFill/>
          <a:ln/>
        </p:spPr>
        <p:txBody>
          <a:bodyPr wrap="square" lIns="0" tIns="0" rIns="0" bIns="0" rtlCol="0" anchor="ctr"/>
          <a:lstStyle/>
          <a:p>
            <a:pPr indent="0" marL="0">
              <a:buNone/>
            </a:pPr>
            <a:r>
              <a:rPr lang="en-US" sz="2000" b="1" dirty="0">
                <a:solidFill>
                  <a:srgbClr val="4338CA"/>
                </a:solidFill>
                <a:latin typeface="Cambria" pitchFamily="34" charset="0"/>
                <a:ea typeface="Cambria" pitchFamily="34" charset="-122"/>
                <a:cs typeface="Cambria" pitchFamily="34" charset="-120"/>
              </a:rPr>
              <a:t>14 mths</a:t>
            </a:r>
            <a:endParaRPr lang="en-US" sz="2000" dirty="0"/>
          </a:p>
        </p:txBody>
      </p:sp>
      <p:sp>
        <p:nvSpPr>
          <p:cNvPr id="43" name="Text 41"/>
          <p:cNvSpPr txBox="1"/>
          <p:nvPr/>
        </p:nvSpPr>
        <p:spPr>
          <a:xfrm>
            <a:off x="9271102" y="4416552"/>
            <a:ext cx="2297887" cy="402336"/>
          </a:xfrm>
          <a:prstGeom prst="rect">
            <a:avLst/>
          </a:prstGeom>
          <a:noFill/>
          <a:ln/>
        </p:spPr>
        <p:txBody>
          <a:bodyPr wrap="square" lIns="0" tIns="0" rIns="0" bIns="0" rtlCol="0" anchor="ctr"/>
          <a:lstStyle/>
          <a:p>
            <a:pPr indent="0" marL="0">
              <a:lnSpc>
                <a:spcPct val="115000"/>
              </a:lnSpc>
              <a:buNone/>
            </a:pPr>
            <a:r>
              <a:rPr lang="en-US" sz="840" dirty="0">
                <a:solidFill>
                  <a:srgbClr val="4A4A4A"/>
                </a:solidFill>
                <a:latin typeface="Arial" pitchFamily="34" charset="0"/>
                <a:ea typeface="Arial" pitchFamily="34" charset="-122"/>
                <a:cs typeface="Arial" pitchFamily="34" charset="-120"/>
              </a:rPr>
              <a:t>to pay back the one-off build of €146k</a:t>
            </a:r>
            <a:endParaRPr lang="en-US" sz="840" dirty="0"/>
          </a:p>
        </p:txBody>
      </p:sp>
      <p:sp>
        <p:nvSpPr>
          <p:cNvPr id="44" name="Shape 42"/>
          <p:cNvSpPr/>
          <p:nvPr/>
        </p:nvSpPr>
        <p:spPr>
          <a:xfrm>
            <a:off x="457200" y="5047488"/>
            <a:ext cx="5623560" cy="914400"/>
          </a:xfrm>
          <a:prstGeom prst="roundRect">
            <a:avLst>
              <a:gd name="adj" fmla="val 6000"/>
            </a:avLst>
          </a:prstGeom>
          <a:solidFill>
            <a:srgbClr val="FFFFFF"/>
          </a:solidFill>
          <a:ln w="12700">
            <a:solidFill>
              <a:srgbClr val="D7DCE2"/>
            </a:solidFill>
            <a:prstDash val="solid"/>
          </a:ln>
        </p:spPr>
      </p:sp>
      <p:sp>
        <p:nvSpPr>
          <p:cNvPr id="45" name="Text 43"/>
          <p:cNvSpPr txBox="1"/>
          <p:nvPr/>
        </p:nvSpPr>
        <p:spPr>
          <a:xfrm>
            <a:off x="621792" y="5047488"/>
            <a:ext cx="5303520" cy="914400"/>
          </a:xfrm>
          <a:prstGeom prst="rect">
            <a:avLst/>
          </a:prstGeom>
          <a:noFill/>
          <a:ln/>
        </p:spPr>
        <p:txBody>
          <a:bodyPr wrap="square" lIns="0" tIns="0" rIns="0" bIns="0" rtlCol="0" anchor="ctr"/>
          <a:lstStyle/>
          <a:p>
            <a:pPr indent="0" marL="0">
              <a:lnSpc>
                <a:spcPct val="118000"/>
              </a:lnSpc>
              <a:buNone/>
            </a:pPr>
            <a:r>
              <a:rPr lang="en-US" sz="850" b="1" dirty="0">
                <a:solidFill>
                  <a:srgbClr val="BE185D"/>
                </a:solidFill>
                <a:latin typeface="Arial" pitchFamily="34" charset="0"/>
                <a:ea typeface="Arial" pitchFamily="34" charset="-122"/>
                <a:cs typeface="Arial" pitchFamily="34" charset="-120"/>
              </a:rPr>
              <a:t>What “€153k” means:  </a:t>
            </a:r>
            <a:pPr indent="0" marL="0">
              <a:lnSpc>
                <a:spcPct val="118000"/>
              </a:lnSpc>
              <a:buNone/>
            </a:pPr>
            <a:r>
              <a:rPr lang="en-US" sz="850" dirty="0">
                <a:solidFill>
                  <a:srgbClr val="3A3A3A"/>
                </a:solidFill>
                <a:latin typeface="Arial" pitchFamily="34" charset="0"/>
                <a:ea typeface="Arial" pitchFamily="34" charset="-122"/>
                <a:cs typeface="Arial" pitchFamily="34" charset="-120"/>
              </a:rPr>
              <a:t>4,370 handler-hours a year × €34.92, the real cost of one handler-hour. This is capacity, not cash. It becomes money only if the hours go to the backlog or are absorbed by turnover — and only if intake sits with a small team, not spread thinly across all 30 (slide 6).</a:t>
            </a:r>
            <a:endParaRPr lang="en-US" sz="850" dirty="0"/>
          </a:p>
        </p:txBody>
      </p:sp>
      <p:sp>
        <p:nvSpPr>
          <p:cNvPr id="46" name="Shape 44"/>
          <p:cNvSpPr/>
          <p:nvPr/>
        </p:nvSpPr>
        <p:spPr>
          <a:xfrm>
            <a:off x="6263640" y="5047488"/>
            <a:ext cx="5468112" cy="914400"/>
          </a:xfrm>
          <a:prstGeom prst="roundRect">
            <a:avLst>
              <a:gd name="adj" fmla="val 6000"/>
            </a:avLst>
          </a:prstGeom>
          <a:solidFill>
            <a:srgbClr val="FBE9F1"/>
          </a:solidFill>
          <a:ln w="15240">
            <a:solidFill>
              <a:srgbClr val="BE185D"/>
            </a:solidFill>
            <a:prstDash val="solid"/>
          </a:ln>
        </p:spPr>
      </p:sp>
      <p:sp>
        <p:nvSpPr>
          <p:cNvPr id="47" name="Text 45"/>
          <p:cNvSpPr txBox="1"/>
          <p:nvPr/>
        </p:nvSpPr>
        <p:spPr>
          <a:xfrm>
            <a:off x="6428232" y="5047488"/>
            <a:ext cx="5138928" cy="914400"/>
          </a:xfrm>
          <a:prstGeom prst="rect">
            <a:avLst/>
          </a:prstGeom>
          <a:noFill/>
          <a:ln/>
        </p:spPr>
        <p:txBody>
          <a:bodyPr wrap="square" lIns="0" tIns="0" rIns="0" bIns="0" rtlCol="0" anchor="ctr"/>
          <a:lstStyle/>
          <a:p>
            <a:pPr indent="0" marL="0">
              <a:lnSpc>
                <a:spcPct val="118000"/>
              </a:lnSpc>
              <a:buNone/>
            </a:pPr>
            <a:r>
              <a:rPr lang="en-US" sz="850" b="1" dirty="0">
                <a:solidFill>
                  <a:srgbClr val="BE185D"/>
                </a:solidFill>
                <a:latin typeface="Arial" pitchFamily="34" charset="0"/>
                <a:ea typeface="Arial" pitchFamily="34" charset="-122"/>
                <a:cs typeface="Arial" pitchFamily="34" charset="-120"/>
              </a:rPr>
              <a:t>So what:  </a:t>
            </a:r>
            <a:pPr indent="0" marL="0">
              <a:lnSpc>
                <a:spcPct val="118000"/>
              </a:lnSpc>
              <a:buNone/>
            </a:pPr>
            <a:r>
              <a:rPr lang="en-US" sz="850" dirty="0">
                <a:solidFill>
                  <a:srgbClr val="3A2A32"/>
                </a:solidFill>
                <a:latin typeface="Arial" pitchFamily="34" charset="0"/>
                <a:ea typeface="Arial" pitchFamily="34" charset="-122"/>
                <a:cs typeface="Arial" pitchFamily="34" charset="-120"/>
              </a:rPr>
              <a:t>cost is not what decides this. The AI costs €2,400 a year to run; keeping it healthy takes a quarter of an engineer, €24,400 — so €26,800 a year all in, against €152,600 of capacity released. What decides it is governance: proving a person reviewed anything that can go against a claimant, and whether handlers trust the drafts.</a:t>
            </a:r>
            <a:endParaRPr lang="en-US" sz="850" dirty="0"/>
          </a:p>
        </p:txBody>
      </p:sp>
      <p:sp>
        <p:nvSpPr>
          <p:cNvPr id="48" name="Text 46"/>
          <p:cNvSpPr txBox="1"/>
          <p:nvPr/>
        </p:nvSpPr>
        <p:spPr>
          <a:xfrm>
            <a:off x="457200" y="6053328"/>
            <a:ext cx="11274552" cy="256032"/>
          </a:xfrm>
          <a:prstGeom prst="rect">
            <a:avLst/>
          </a:prstGeom>
          <a:noFill/>
          <a:ln/>
        </p:spPr>
        <p:txBody>
          <a:bodyPr wrap="square" lIns="0" tIns="0" rIns="0" bIns="0" rtlCol="0" anchor="ctr"/>
          <a:lstStyle/>
          <a:p>
            <a:pPr indent="0" marL="0">
              <a:buNone/>
            </a:pPr>
            <a:r>
              <a:rPr lang="en-US" sz="760" i="1" dirty="0">
                <a:solidFill>
                  <a:srgbClr val="6A6A6A"/>
                </a:solidFill>
                <a:latin typeface="Arial" pitchFamily="34" charset="0"/>
                <a:ea typeface="Arial" pitchFamily="34" charset="-122"/>
                <a:cs typeface="Arial" pitchFamily="34" charset="-120"/>
              </a:rPr>
              <a:t>Conservative throughout: the 21-minute-per-claim saving is a three-point estimate (best 30 / likely 21 / worst 12), not the design maximum. Build-up on slide 6, sources on slide 7.</a:t>
            </a:r>
            <a:endParaRPr lang="en-US" sz="760" dirty="0"/>
          </a:p>
        </p:txBody>
      </p:sp>
      <p:sp>
        <p:nvSpPr>
          <p:cNvPr id="49" name="Text 47"/>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0" name="Text 48"/>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1 / 9</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Three ways in and a separate side-track diagram become one classified intake</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FNOL as it runs today (left) against the redesign (right) · first report to an opened, policy-linked claim</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1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2 / 9</a:t>
            </a:r>
            <a:endParaRPr lang="en-US" sz="800" dirty="0"/>
          </a:p>
        </p:txBody>
      </p:sp>
      <p:sp>
        <p:nvSpPr>
          <p:cNvPr id="24" name="Text 22"/>
          <p:cNvSpPr txBox="1"/>
          <p:nvPr/>
        </p:nvSpPr>
        <p:spPr>
          <a:xfrm>
            <a:off x="1005840" y="1417320"/>
            <a:ext cx="4206240" cy="378079"/>
          </a:xfrm>
          <a:prstGeom prst="roundRect">
            <a:avLst>
              <a:gd name="adj" fmla="val 9674"/>
            </a:avLst>
          </a:prstGeom>
          <a:solidFill>
            <a:srgbClr val="E6F8F7"/>
          </a:solidFill>
          <a:ln w="15875">
            <a:solidFill>
              <a:srgbClr val="007A82"/>
            </a:solidFill>
            <a:prstDash val="solid"/>
          </a:ln>
        </p:spPr>
        <p:txBody>
          <a:bodyPr wrap="square" lIns="38100" tIns="38100" rIns="38100" bIns="38100" rtlCol="0" anchor="ctr"/>
          <a:lstStyle/>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First report filed</a:t>
            </a:r>
            <a:endParaRPr lang="en-US" sz="950" dirty="0"/>
          </a:p>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(employer almost always; sometimes union or injured)</a:t>
            </a:r>
            <a:endParaRPr lang="en-US" sz="950" dirty="0"/>
          </a:p>
        </p:txBody>
      </p:sp>
      <p:sp>
        <p:nvSpPr>
          <p:cNvPr id="25" name="Shape 23"/>
          <p:cNvSpPr/>
          <p:nvPr/>
        </p:nvSpPr>
        <p:spPr>
          <a:xfrm>
            <a:off x="3108960" y="1783080"/>
            <a:ext cx="0" cy="365760"/>
          </a:xfrm>
          <a:prstGeom prst="line">
            <a:avLst/>
          </a:prstGeom>
          <a:noFill/>
          <a:ln w="12700">
            <a:solidFill>
              <a:srgbClr val="5B7D80"/>
            </a:solidFill>
            <a:prstDash val="solid"/>
            <a:tailEnd type="triangle"/>
          </a:ln>
        </p:spPr>
      </p:sp>
      <p:sp>
        <p:nvSpPr>
          <p:cNvPr id="26" name="Text 24"/>
          <p:cNvSpPr txBox="1"/>
          <p:nvPr/>
        </p:nvSpPr>
        <p:spPr>
          <a:xfrm>
            <a:off x="2240280" y="214884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Channel?</a:t>
            </a:r>
            <a:endParaRPr lang="en-US" sz="950" dirty="0"/>
          </a:p>
        </p:txBody>
      </p:sp>
      <p:sp>
        <p:nvSpPr>
          <p:cNvPr id="27" name="Shape 25"/>
          <p:cNvSpPr/>
          <p:nvPr/>
        </p:nvSpPr>
        <p:spPr>
          <a:xfrm>
            <a:off x="3977640" y="2468880"/>
            <a:ext cx="274320" cy="0"/>
          </a:xfrm>
          <a:prstGeom prst="line">
            <a:avLst/>
          </a:prstGeom>
          <a:noFill/>
          <a:ln w="12700">
            <a:solidFill>
              <a:srgbClr val="5B7D80"/>
            </a:solidFill>
            <a:prstDash val="solid"/>
            <a:tailEnd type="triangle"/>
          </a:ln>
        </p:spPr>
      </p:sp>
      <p:sp>
        <p:nvSpPr>
          <p:cNvPr id="28" name="Text 26"/>
          <p:cNvSpPr txBox="1"/>
          <p:nvPr/>
        </p:nvSpPr>
        <p:spPr>
          <a:xfrm>
            <a:off x="4251960" y="2032635"/>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Direct to AES, secure mail</a:t>
            </a:r>
            <a:endParaRPr lang="en-US" sz="800" dirty="0"/>
          </a:p>
        </p:txBody>
      </p:sp>
      <p:sp>
        <p:nvSpPr>
          <p:cNvPr id="29" name="Text 27"/>
          <p:cNvSpPr txBox="1"/>
          <p:nvPr/>
        </p:nvSpPr>
        <p:spPr>
          <a:xfrm>
            <a:off x="4251960" y="2252091"/>
            <a:ext cx="1463040" cy="433578"/>
          </a:xfrm>
          <a:prstGeom prst="roundRect">
            <a:avLst>
              <a:gd name="adj" fmla="val 8436"/>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AES already gathered the info — insurer only re-checks coverage</a:t>
            </a:r>
            <a:endParaRPr lang="en-US" sz="760" dirty="0"/>
          </a:p>
        </p:txBody>
      </p:sp>
      <p:sp>
        <p:nvSpPr>
          <p:cNvPr id="30" name="Shape 28"/>
          <p:cNvSpPr/>
          <p:nvPr/>
        </p:nvSpPr>
        <p:spPr>
          <a:xfrm flipH="1">
            <a:off x="1965960" y="2468880"/>
            <a:ext cx="274320" cy="0"/>
          </a:xfrm>
          <a:prstGeom prst="line">
            <a:avLst/>
          </a:prstGeom>
          <a:noFill/>
          <a:ln w="12700">
            <a:solidFill>
              <a:srgbClr val="5B7D80"/>
            </a:solidFill>
            <a:prstDash val="dash"/>
            <a:tailEnd type="triangle"/>
          </a:ln>
        </p:spPr>
      </p:sp>
      <p:sp>
        <p:nvSpPr>
          <p:cNvPr id="31" name="Text 29"/>
          <p:cNvSpPr txBox="1"/>
          <p:nvPr/>
        </p:nvSpPr>
        <p:spPr>
          <a:xfrm>
            <a:off x="411480" y="2085213"/>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Teeth/glasses: 'tooth' · email + invoices</a:t>
            </a:r>
            <a:endParaRPr lang="en-US" sz="800" dirty="0"/>
          </a:p>
        </p:txBody>
      </p:sp>
      <p:sp>
        <p:nvSpPr>
          <p:cNvPr id="32" name="Text 30"/>
          <p:cNvSpPr txBox="1"/>
          <p:nvPr/>
        </p:nvSpPr>
        <p:spPr>
          <a:xfrm>
            <a:off x="502920" y="2304669"/>
            <a:ext cx="1463040" cy="328422"/>
          </a:xfrm>
          <a:prstGeom prst="roundRect">
            <a:avLst>
              <a:gd name="adj" fmla="val 11137"/>
            </a:avLst>
          </a:prstGeom>
          <a:solidFill>
            <a:srgbClr val="FCEFD6"/>
          </a:solidFill>
          <a:ln w="15875">
            <a:solidFill>
              <a:srgbClr val="EF9F27"/>
            </a:solidFill>
            <a:prstDash val="dash"/>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Side track — not PD/LOEC, see 1.1</a:t>
            </a:r>
            <a:endParaRPr lang="en-US" sz="780" dirty="0"/>
          </a:p>
        </p:txBody>
      </p:sp>
      <p:sp>
        <p:nvSpPr>
          <p:cNvPr id="33" name="Text 31"/>
          <p:cNvSpPr txBox="1"/>
          <p:nvPr/>
        </p:nvSpPr>
        <p:spPr>
          <a:xfrm>
            <a:off x="3218688" y="2798064"/>
            <a:ext cx="219456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EASY / IDB auto-import</a:t>
            </a:r>
            <a:endParaRPr lang="en-US" sz="800" dirty="0"/>
          </a:p>
        </p:txBody>
      </p:sp>
      <p:sp>
        <p:nvSpPr>
          <p:cNvPr id="34" name="Shape 32"/>
          <p:cNvSpPr/>
          <p:nvPr/>
        </p:nvSpPr>
        <p:spPr>
          <a:xfrm>
            <a:off x="3108960" y="2788920"/>
            <a:ext cx="0" cy="457200"/>
          </a:xfrm>
          <a:prstGeom prst="line">
            <a:avLst/>
          </a:prstGeom>
          <a:noFill/>
          <a:ln w="12700">
            <a:solidFill>
              <a:srgbClr val="5B7D80"/>
            </a:solidFill>
            <a:prstDash val="solid"/>
            <a:tailEnd type="triangle"/>
          </a:ln>
        </p:spPr>
      </p:sp>
      <p:sp>
        <p:nvSpPr>
          <p:cNvPr id="35" name="Text 33"/>
          <p:cNvSpPr txBox="1"/>
          <p:nvPr/>
        </p:nvSpPr>
        <p:spPr>
          <a:xfrm>
            <a:off x="2240280" y="32461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Auto-import</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worked?</a:t>
            </a:r>
            <a:endParaRPr lang="en-US" sz="950" dirty="0"/>
          </a:p>
        </p:txBody>
      </p:sp>
      <p:sp>
        <p:nvSpPr>
          <p:cNvPr id="36" name="Shape 34"/>
          <p:cNvSpPr/>
          <p:nvPr/>
        </p:nvSpPr>
        <p:spPr>
          <a:xfrm flipH="1">
            <a:off x="1965960" y="3566160"/>
            <a:ext cx="274320" cy="0"/>
          </a:xfrm>
          <a:prstGeom prst="line">
            <a:avLst/>
          </a:prstGeom>
          <a:noFill/>
          <a:ln w="12700">
            <a:solidFill>
              <a:srgbClr val="5B7D80"/>
            </a:solidFill>
            <a:prstDash val="solid"/>
            <a:tailEnd type="triangle"/>
          </a:ln>
        </p:spPr>
      </p:sp>
      <p:sp>
        <p:nvSpPr>
          <p:cNvPr id="37" name="Text 35"/>
          <p:cNvSpPr txBox="1"/>
          <p:nvPr/>
        </p:nvSpPr>
        <p:spPr>
          <a:xfrm>
            <a:off x="411480" y="3234341"/>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38" name="Text 36"/>
          <p:cNvSpPr txBox="1"/>
          <p:nvPr/>
        </p:nvSpPr>
        <p:spPr>
          <a:xfrm>
            <a:off x="502920" y="3453797"/>
            <a:ext cx="1463040" cy="224727"/>
          </a:xfrm>
          <a:prstGeom prst="roundRect">
            <a:avLst>
              <a:gd name="adj" fmla="val 16276"/>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850" dirty="0">
                <a:solidFill>
                  <a:srgbClr val="6B4A10"/>
                </a:solidFill>
                <a:latin typeface="Arial" pitchFamily="34" charset="0"/>
                <a:ea typeface="Arial" pitchFamily="34" charset="-122"/>
                <a:cs typeface="Arial" pitchFamily="34" charset="-120"/>
              </a:rPr>
              <a:t>Manual claim creation</a:t>
            </a:r>
            <a:endParaRPr lang="en-US" sz="850" dirty="0"/>
          </a:p>
        </p:txBody>
      </p:sp>
      <p:sp>
        <p:nvSpPr>
          <p:cNvPr id="39" name="Shape 37"/>
          <p:cNvSpPr/>
          <p:nvPr/>
        </p:nvSpPr>
        <p:spPr>
          <a:xfrm>
            <a:off x="1965960" y="3678523"/>
            <a:ext cx="1143000" cy="481997"/>
          </a:xfrm>
          <a:prstGeom prst="line">
            <a:avLst/>
          </a:prstGeom>
          <a:noFill/>
          <a:ln w="12700">
            <a:solidFill>
              <a:srgbClr val="5B7D80"/>
            </a:solidFill>
            <a:prstDash val="solid"/>
            <a:tailEnd type="triangle"/>
          </a:ln>
        </p:spPr>
      </p:sp>
      <p:sp>
        <p:nvSpPr>
          <p:cNvPr id="40" name="Text 38"/>
          <p:cNvSpPr txBox="1"/>
          <p:nvPr/>
        </p:nvSpPr>
        <p:spPr>
          <a:xfrm>
            <a:off x="3218688" y="3913632"/>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41" name="Shape 39"/>
          <p:cNvSpPr/>
          <p:nvPr/>
        </p:nvSpPr>
        <p:spPr>
          <a:xfrm>
            <a:off x="3108960" y="3886200"/>
            <a:ext cx="0" cy="411480"/>
          </a:xfrm>
          <a:prstGeom prst="line">
            <a:avLst/>
          </a:prstGeom>
          <a:noFill/>
          <a:ln w="12700">
            <a:solidFill>
              <a:srgbClr val="5B7D80"/>
            </a:solidFill>
            <a:prstDash val="solid"/>
            <a:tailEnd type="triangle"/>
          </a:ln>
        </p:spPr>
      </p:sp>
      <p:sp>
        <p:nvSpPr>
          <p:cNvPr id="42" name="Shape 40"/>
          <p:cNvSpPr/>
          <p:nvPr/>
        </p:nvSpPr>
        <p:spPr>
          <a:xfrm>
            <a:off x="5715000" y="2685669"/>
            <a:ext cx="0" cy="1593723"/>
          </a:xfrm>
          <a:prstGeom prst="line">
            <a:avLst/>
          </a:prstGeom>
          <a:noFill/>
          <a:ln w="12700">
            <a:solidFill>
              <a:srgbClr val="5B7D80"/>
            </a:solidFill>
            <a:prstDash val="solid"/>
            <a:tailEnd type="triangle"/>
          </a:ln>
        </p:spPr>
      </p:sp>
      <p:sp>
        <p:nvSpPr>
          <p:cNvPr id="43" name="Shape 41"/>
          <p:cNvSpPr/>
          <p:nvPr/>
        </p:nvSpPr>
        <p:spPr>
          <a:xfrm flipH="1">
            <a:off x="3108960" y="4279392"/>
            <a:ext cx="2606040" cy="0"/>
          </a:xfrm>
          <a:prstGeom prst="line">
            <a:avLst/>
          </a:prstGeom>
          <a:noFill/>
          <a:ln w="12700">
            <a:solidFill>
              <a:srgbClr val="5B7D80"/>
            </a:solidFill>
            <a:prstDash val="solid"/>
            <a:tailEnd type="triangle"/>
          </a:ln>
        </p:spPr>
      </p:sp>
      <p:sp>
        <p:nvSpPr>
          <p:cNvPr id="44" name="Text 42"/>
          <p:cNvSpPr txBox="1"/>
          <p:nvPr/>
        </p:nvSpPr>
        <p:spPr>
          <a:xfrm>
            <a:off x="1645920" y="438912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2 · Data / Policy / Duplicate checks</a:t>
            </a:r>
            <a:endParaRPr lang="en-US" sz="830" dirty="0"/>
          </a:p>
        </p:txBody>
      </p:sp>
      <p:sp>
        <p:nvSpPr>
          <p:cNvPr id="45" name="Text 43"/>
          <p:cNvSpPr txBox="1"/>
          <p:nvPr/>
        </p:nvSpPr>
        <p:spPr>
          <a:xfrm>
            <a:off x="6583680" y="1417320"/>
            <a:ext cx="4937760" cy="239332"/>
          </a:xfrm>
          <a:prstGeom prst="roundRect">
            <a:avLst>
              <a:gd name="adj" fmla="val 15283"/>
            </a:avLst>
          </a:prstGeom>
          <a:solidFill>
            <a:srgbClr val="E6F8F7"/>
          </a:solidFill>
          <a:ln w="15875">
            <a:solidFill>
              <a:srgbClr val="007A82"/>
            </a:solidFill>
            <a:prstDash val="solid"/>
          </a:ln>
        </p:spPr>
        <p:txBody>
          <a:bodyPr wrap="square" lIns="38100" tIns="38100" rIns="38100" bIns="38100" rtlCol="0" anchor="ctr"/>
          <a:lstStyle/>
          <a:p>
            <a:pPr algn="ctr" indent="0" marL="0">
              <a:lnSpc>
                <a:spcPct val="108000"/>
              </a:lnSpc>
              <a:buNone/>
            </a:pPr>
            <a:r>
              <a:rPr lang="en-US" sz="950" dirty="0">
                <a:solidFill>
                  <a:srgbClr val="00373A"/>
                </a:solidFill>
                <a:latin typeface="Arial" pitchFamily="34" charset="0"/>
                <a:ea typeface="Arial" pitchFamily="34" charset="-122"/>
                <a:cs typeface="Arial" pitchFamily="34" charset="-120"/>
              </a:rPr>
              <a:t>Claim arrives — any channel, any format (EASY, AES secure mail, email)</a:t>
            </a:r>
            <a:endParaRPr lang="en-US" sz="950" dirty="0"/>
          </a:p>
        </p:txBody>
      </p:sp>
      <p:sp>
        <p:nvSpPr>
          <p:cNvPr id="46" name="Shape 44"/>
          <p:cNvSpPr/>
          <p:nvPr/>
        </p:nvSpPr>
        <p:spPr>
          <a:xfrm>
            <a:off x="9052560" y="1783080"/>
            <a:ext cx="0" cy="365760"/>
          </a:xfrm>
          <a:prstGeom prst="line">
            <a:avLst/>
          </a:prstGeom>
          <a:noFill/>
          <a:ln w="12700">
            <a:solidFill>
              <a:srgbClr val="5B7D80"/>
            </a:solidFill>
            <a:prstDash val="solid"/>
            <a:tailEnd type="triangle"/>
          </a:ln>
        </p:spPr>
      </p:sp>
      <p:sp>
        <p:nvSpPr>
          <p:cNvPr id="47" name="Text 45"/>
          <p:cNvSpPr txBox="1"/>
          <p:nvPr/>
        </p:nvSpPr>
        <p:spPr>
          <a:xfrm>
            <a:off x="6583680" y="2148840"/>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Extraction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reads any channel/format · extracts structured fields · matches CPR / CVR</a:t>
            </a:r>
            <a:endParaRPr lang="en-US" sz="1000" dirty="0"/>
          </a:p>
        </p:txBody>
      </p:sp>
      <p:sp>
        <p:nvSpPr>
          <p:cNvPr id="48" name="Shape 46"/>
          <p:cNvSpPr/>
          <p:nvPr/>
        </p:nvSpPr>
        <p:spPr>
          <a:xfrm>
            <a:off x="9052560" y="2687574"/>
            <a:ext cx="0" cy="182880"/>
          </a:xfrm>
          <a:prstGeom prst="line">
            <a:avLst/>
          </a:prstGeom>
          <a:noFill/>
          <a:ln w="12700">
            <a:solidFill>
              <a:srgbClr val="5B7D80"/>
            </a:solidFill>
            <a:prstDash val="solid"/>
            <a:tailEnd type="triangle"/>
          </a:ln>
        </p:spPr>
      </p:sp>
      <p:sp>
        <p:nvSpPr>
          <p:cNvPr id="49" name="Text 47"/>
          <p:cNvSpPr txBox="1"/>
          <p:nvPr/>
        </p:nvSpPr>
        <p:spPr>
          <a:xfrm>
            <a:off x="6583680" y="2870454"/>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Classification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labels claim type (standard, teeth, glasses, violence-cover) with a confidence score</a:t>
            </a:r>
            <a:endParaRPr lang="en-US" sz="1000" dirty="0"/>
          </a:p>
        </p:txBody>
      </p:sp>
      <p:sp>
        <p:nvSpPr>
          <p:cNvPr id="50" name="Shape 48"/>
          <p:cNvSpPr/>
          <p:nvPr/>
        </p:nvSpPr>
        <p:spPr>
          <a:xfrm>
            <a:off x="9052560" y="3409188"/>
            <a:ext cx="0" cy="320040"/>
          </a:xfrm>
          <a:prstGeom prst="line">
            <a:avLst/>
          </a:prstGeom>
          <a:noFill/>
          <a:ln w="12700">
            <a:solidFill>
              <a:srgbClr val="5B7D80"/>
            </a:solidFill>
            <a:prstDash val="solid"/>
            <a:tailEnd type="triangle"/>
          </a:ln>
        </p:spPr>
      </p:sp>
      <p:sp>
        <p:nvSpPr>
          <p:cNvPr id="51" name="Text 49"/>
          <p:cNvSpPr txBox="1"/>
          <p:nvPr/>
        </p:nvSpPr>
        <p:spPr>
          <a:xfrm>
            <a:off x="8183880" y="3729228"/>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Confidence ≥</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threshold?</a:t>
            </a:r>
            <a:endParaRPr lang="en-US" sz="950" dirty="0"/>
          </a:p>
        </p:txBody>
      </p:sp>
      <p:sp>
        <p:nvSpPr>
          <p:cNvPr id="52" name="Text 50"/>
          <p:cNvSpPr txBox="1"/>
          <p:nvPr/>
        </p:nvSpPr>
        <p:spPr>
          <a:xfrm>
            <a:off x="10058400" y="3838956"/>
            <a:ext cx="1691640" cy="420624"/>
          </a:xfrm>
          <a:prstGeom prst="rect">
            <a:avLst/>
          </a:prstGeom>
          <a:noFill/>
          <a:ln/>
        </p:spPr>
        <p:txBody>
          <a:bodyPr wrap="square" lIns="0" tIns="0" rIns="0" bIns="0" rtlCol="0" anchor="ctr"/>
          <a:lstStyle/>
          <a:p>
            <a:pPr algn="l" indent="0" marL="0">
              <a:buNone/>
            </a:pPr>
            <a:r>
              <a:rPr lang="en-US" sz="720" i="1" dirty="0">
                <a:solidFill>
                  <a:srgbClr val="5B6472"/>
                </a:solidFill>
                <a:latin typeface="Arial" pitchFamily="34" charset="0"/>
                <a:ea typeface="Arial" pitchFamily="34" charset="-122"/>
                <a:cs typeface="Arial" pitchFamily="34" charset="-120"/>
              </a:rPr>
              <a:t>threshold starts strict, loosens as override-rate data accumulates</a:t>
            </a:r>
            <a:endParaRPr lang="en-US" sz="720" dirty="0"/>
          </a:p>
        </p:txBody>
      </p:sp>
      <p:sp>
        <p:nvSpPr>
          <p:cNvPr id="53" name="Shape 51"/>
          <p:cNvSpPr/>
          <p:nvPr/>
        </p:nvSpPr>
        <p:spPr>
          <a:xfrm flipH="1">
            <a:off x="7909560" y="4049268"/>
            <a:ext cx="274320" cy="0"/>
          </a:xfrm>
          <a:prstGeom prst="line">
            <a:avLst/>
          </a:prstGeom>
          <a:noFill/>
          <a:ln w="12700">
            <a:solidFill>
              <a:srgbClr val="5B7D80"/>
            </a:solidFill>
            <a:prstDash val="solid"/>
            <a:tailEnd type="triangle"/>
          </a:ln>
        </p:spPr>
      </p:sp>
      <p:sp>
        <p:nvSpPr>
          <p:cNvPr id="54" name="Text 52"/>
          <p:cNvSpPr txBox="1"/>
          <p:nvPr/>
        </p:nvSpPr>
        <p:spPr>
          <a:xfrm>
            <a:off x="6355080" y="3608641"/>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55" name="Text 53"/>
          <p:cNvSpPr txBox="1"/>
          <p:nvPr/>
        </p:nvSpPr>
        <p:spPr>
          <a:xfrm>
            <a:off x="6446520" y="3828097"/>
            <a:ext cx="1463040" cy="442341"/>
          </a:xfrm>
          <a:prstGeom prst="roundRect">
            <a:avLst>
              <a:gd name="adj" fmla="val 8269"/>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Falls back to today's manual queue — never silently wrong</a:t>
            </a:r>
            <a:endParaRPr lang="en-US" sz="780" dirty="0"/>
          </a:p>
        </p:txBody>
      </p:sp>
      <p:sp>
        <p:nvSpPr>
          <p:cNvPr id="56" name="Text 54"/>
          <p:cNvSpPr txBox="1"/>
          <p:nvPr/>
        </p:nvSpPr>
        <p:spPr>
          <a:xfrm>
            <a:off x="9162288" y="439674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57" name="Shape 55"/>
          <p:cNvSpPr/>
          <p:nvPr/>
        </p:nvSpPr>
        <p:spPr>
          <a:xfrm>
            <a:off x="9052560" y="4369308"/>
            <a:ext cx="0" cy="411480"/>
          </a:xfrm>
          <a:prstGeom prst="line">
            <a:avLst/>
          </a:prstGeom>
          <a:noFill/>
          <a:ln w="12700">
            <a:solidFill>
              <a:srgbClr val="5B7D80"/>
            </a:solidFill>
            <a:prstDash val="solid"/>
            <a:tailEnd type="triangle"/>
          </a:ln>
        </p:spPr>
      </p:sp>
      <p:sp>
        <p:nvSpPr>
          <p:cNvPr id="58" name="Text 56"/>
          <p:cNvSpPr txBox="1"/>
          <p:nvPr/>
        </p:nvSpPr>
        <p:spPr>
          <a:xfrm>
            <a:off x="7589520" y="485394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2 · Parallel Validation</a:t>
            </a:r>
            <a:endParaRPr lang="en-US" sz="830" dirty="0"/>
          </a:p>
        </p:txBody>
      </p:sp>
      <p:sp>
        <p:nvSpPr>
          <p:cNvPr id="59" name="Shape 57"/>
          <p:cNvSpPr/>
          <p:nvPr/>
        </p:nvSpPr>
        <p:spPr>
          <a:xfrm>
            <a:off x="6400800" y="5146548"/>
            <a:ext cx="5303520" cy="566928"/>
          </a:xfrm>
          <a:prstGeom prst="roundRect">
            <a:avLst>
              <a:gd name="adj" fmla="val 8065"/>
            </a:avLst>
          </a:prstGeom>
          <a:solidFill>
            <a:srgbClr val="F7F7F5"/>
          </a:solidFill>
          <a:ln w="12700">
            <a:solidFill>
              <a:srgbClr val="D7DCE2"/>
            </a:solidFill>
            <a:prstDash val="solid"/>
          </a:ln>
        </p:spPr>
      </p:sp>
      <p:sp>
        <p:nvSpPr>
          <p:cNvPr id="60" name="Text 58"/>
          <p:cNvSpPr txBox="1"/>
          <p:nvPr/>
        </p:nvSpPr>
        <p:spPr>
          <a:xfrm>
            <a:off x="6537960" y="5146548"/>
            <a:ext cx="5029200" cy="566928"/>
          </a:xfrm>
          <a:prstGeom prst="rect">
            <a:avLst/>
          </a:prstGeom>
          <a:noFill/>
          <a:ln/>
        </p:spPr>
        <p:txBody>
          <a:bodyPr wrap="square" lIns="50800" tIns="50800" rIns="50800" bIns="50800" rtlCol="0" anchor="ctr"/>
          <a:lstStyle/>
          <a:p>
            <a:pPr algn="ctr" indent="0" marL="0">
              <a:lnSpc>
                <a:spcPct val="115000"/>
              </a:lnSpc>
              <a:buNone/>
            </a:pPr>
            <a:r>
              <a:rPr lang="en-US" sz="860" dirty="0">
                <a:solidFill>
                  <a:srgbClr val="3A4250"/>
                </a:solidFill>
                <a:latin typeface="Arial" pitchFamily="34" charset="0"/>
                <a:ea typeface="Arial" pitchFamily="34" charset="-122"/>
                <a:cs typeface="Arial" pitchFamily="34" charset="-120"/>
              </a:rPr>
              <a:t>These two agents together replace 3 entry channels, the auto-import failure path, and the entire 1.1 side-track diagram.</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Three checks done one after another become one check done all at once</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Is it complete, linked to the right policy, and not already in the system? None of the three depends on the others</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2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3 / 9</a:t>
            </a:r>
            <a:endParaRPr lang="en-US" sz="800" dirty="0"/>
          </a:p>
        </p:txBody>
      </p:sp>
      <p:sp>
        <p:nvSpPr>
          <p:cNvPr id="24" name="Text 22"/>
          <p:cNvSpPr txBox="1"/>
          <p:nvPr/>
        </p:nvSpPr>
        <p:spPr>
          <a:xfrm>
            <a:off x="16459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1</a:t>
            </a:r>
            <a:endParaRPr lang="en-US" sz="830" dirty="0"/>
          </a:p>
        </p:txBody>
      </p:sp>
      <p:sp>
        <p:nvSpPr>
          <p:cNvPr id="25" name="Shape 23"/>
          <p:cNvSpPr/>
          <p:nvPr/>
        </p:nvSpPr>
        <p:spPr>
          <a:xfrm>
            <a:off x="3108960" y="1481328"/>
            <a:ext cx="0" cy="164592"/>
          </a:xfrm>
          <a:prstGeom prst="line">
            <a:avLst/>
          </a:prstGeom>
          <a:noFill/>
          <a:ln w="12700">
            <a:solidFill>
              <a:srgbClr val="5B7D80"/>
            </a:solidFill>
            <a:prstDash val="solid"/>
            <a:tailEnd type="triangle"/>
          </a:ln>
        </p:spPr>
      </p:sp>
      <p:sp>
        <p:nvSpPr>
          <p:cNvPr id="26" name="Text 24"/>
          <p:cNvSpPr txBox="1"/>
          <p:nvPr/>
        </p:nvSpPr>
        <p:spPr>
          <a:xfrm>
            <a:off x="2240280" y="1645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Data correct</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and complete?</a:t>
            </a:r>
            <a:endParaRPr lang="en-US" sz="950" dirty="0"/>
          </a:p>
        </p:txBody>
      </p:sp>
      <p:sp>
        <p:nvSpPr>
          <p:cNvPr id="27" name="Shape 25"/>
          <p:cNvSpPr/>
          <p:nvPr/>
        </p:nvSpPr>
        <p:spPr>
          <a:xfrm flipH="1">
            <a:off x="1965960" y="1965960"/>
            <a:ext cx="274320" cy="0"/>
          </a:xfrm>
          <a:prstGeom prst="line">
            <a:avLst/>
          </a:prstGeom>
          <a:noFill/>
          <a:ln w="12700">
            <a:solidFill>
              <a:srgbClr val="5B7D80"/>
            </a:solidFill>
            <a:prstDash val="solid"/>
            <a:tailEnd type="triangle"/>
          </a:ln>
        </p:spPr>
      </p:sp>
      <p:sp>
        <p:nvSpPr>
          <p:cNvPr id="28" name="Text 26"/>
          <p:cNvSpPr txBox="1"/>
          <p:nvPr/>
        </p:nvSpPr>
        <p:spPr>
          <a:xfrm>
            <a:off x="411480" y="1582293"/>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Missing CPR</a:t>
            </a:r>
            <a:endParaRPr lang="en-US" sz="800" dirty="0"/>
          </a:p>
        </p:txBody>
      </p:sp>
      <p:sp>
        <p:nvSpPr>
          <p:cNvPr id="29" name="Text 27"/>
          <p:cNvSpPr txBox="1"/>
          <p:nvPr/>
        </p:nvSpPr>
        <p:spPr>
          <a:xfrm>
            <a:off x="502920" y="1801749"/>
            <a:ext cx="1463040" cy="328422"/>
          </a:xfrm>
          <a:prstGeom prst="roundRect">
            <a:avLst>
              <a:gd name="adj" fmla="val 11137"/>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Ask / fill fields (via questionnaire)</a:t>
            </a:r>
            <a:endParaRPr lang="en-US" sz="780" dirty="0"/>
          </a:p>
        </p:txBody>
      </p:sp>
      <p:sp>
        <p:nvSpPr>
          <p:cNvPr id="30" name="Shape 28"/>
          <p:cNvSpPr/>
          <p:nvPr/>
        </p:nvSpPr>
        <p:spPr>
          <a:xfrm>
            <a:off x="1965960" y="2130171"/>
            <a:ext cx="1143000" cy="521589"/>
          </a:xfrm>
          <a:prstGeom prst="line">
            <a:avLst/>
          </a:prstGeom>
          <a:noFill/>
          <a:ln w="12700">
            <a:solidFill>
              <a:srgbClr val="5B7D80"/>
            </a:solidFill>
            <a:prstDash val="solid"/>
            <a:tailEnd type="triangle"/>
          </a:ln>
        </p:spPr>
      </p:sp>
      <p:sp>
        <p:nvSpPr>
          <p:cNvPr id="31" name="Text 29"/>
          <p:cNvSpPr txBox="1"/>
          <p:nvPr/>
        </p:nvSpPr>
        <p:spPr>
          <a:xfrm>
            <a:off x="3218688" y="224028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OK</a:t>
            </a:r>
            <a:endParaRPr lang="en-US" sz="800" dirty="0"/>
          </a:p>
        </p:txBody>
      </p:sp>
      <p:sp>
        <p:nvSpPr>
          <p:cNvPr id="32" name="Shape 30"/>
          <p:cNvSpPr/>
          <p:nvPr/>
        </p:nvSpPr>
        <p:spPr>
          <a:xfrm>
            <a:off x="3108960" y="2212848"/>
            <a:ext cx="0" cy="438912"/>
          </a:xfrm>
          <a:prstGeom prst="line">
            <a:avLst/>
          </a:prstGeom>
          <a:noFill/>
          <a:ln w="12700">
            <a:solidFill>
              <a:srgbClr val="5B7D80"/>
            </a:solidFill>
            <a:prstDash val="solid"/>
            <a:tailEnd type="triangle"/>
          </a:ln>
        </p:spPr>
      </p:sp>
      <p:sp>
        <p:nvSpPr>
          <p:cNvPr id="33" name="Text 31"/>
          <p:cNvSpPr txBox="1"/>
          <p:nvPr/>
        </p:nvSpPr>
        <p:spPr>
          <a:xfrm>
            <a:off x="2240280" y="265176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Valid policy</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attached?</a:t>
            </a:r>
            <a:endParaRPr lang="en-US" sz="950" dirty="0"/>
          </a:p>
        </p:txBody>
      </p:sp>
      <p:sp>
        <p:nvSpPr>
          <p:cNvPr id="34" name="Shape 32"/>
          <p:cNvSpPr/>
          <p:nvPr/>
        </p:nvSpPr>
        <p:spPr>
          <a:xfrm flipH="1">
            <a:off x="1965960" y="2971800"/>
            <a:ext cx="274320" cy="0"/>
          </a:xfrm>
          <a:prstGeom prst="line">
            <a:avLst/>
          </a:prstGeom>
          <a:noFill/>
          <a:ln w="12700">
            <a:solidFill>
              <a:srgbClr val="5B7D80"/>
            </a:solidFill>
            <a:prstDash val="solid"/>
            <a:tailEnd type="triangle"/>
          </a:ln>
        </p:spPr>
      </p:sp>
      <p:sp>
        <p:nvSpPr>
          <p:cNvPr id="35" name="Text 33"/>
          <p:cNvSpPr txBox="1"/>
          <p:nvPr/>
        </p:nvSpPr>
        <p:spPr>
          <a:xfrm>
            <a:off x="411480" y="2643632"/>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Wrong / old policy</a:t>
            </a:r>
            <a:endParaRPr lang="en-US" sz="800" dirty="0"/>
          </a:p>
        </p:txBody>
      </p:sp>
      <p:sp>
        <p:nvSpPr>
          <p:cNvPr id="36" name="Text 34"/>
          <p:cNvSpPr txBox="1"/>
          <p:nvPr/>
        </p:nvSpPr>
        <p:spPr>
          <a:xfrm>
            <a:off x="502920" y="2863088"/>
            <a:ext cx="1463040" cy="217424"/>
          </a:xfrm>
          <a:prstGeom prst="roundRect">
            <a:avLst>
              <a:gd name="adj" fmla="val 16822"/>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800" dirty="0">
                <a:solidFill>
                  <a:srgbClr val="6B4A10"/>
                </a:solidFill>
                <a:latin typeface="Arial" pitchFamily="34" charset="0"/>
                <a:ea typeface="Arial" pitchFamily="34" charset="-122"/>
                <a:cs typeface="Arial" pitchFamily="34" charset="-120"/>
              </a:rPr>
              <a:t>Reattach correct policy</a:t>
            </a:r>
            <a:endParaRPr lang="en-US" sz="800" dirty="0"/>
          </a:p>
        </p:txBody>
      </p:sp>
      <p:sp>
        <p:nvSpPr>
          <p:cNvPr id="37" name="Shape 35"/>
          <p:cNvSpPr/>
          <p:nvPr/>
        </p:nvSpPr>
        <p:spPr>
          <a:xfrm>
            <a:off x="1965960" y="3080512"/>
            <a:ext cx="1143000" cy="650240"/>
          </a:xfrm>
          <a:prstGeom prst="line">
            <a:avLst/>
          </a:prstGeom>
          <a:noFill/>
          <a:ln w="12700">
            <a:solidFill>
              <a:srgbClr val="5B7D80"/>
            </a:solidFill>
            <a:prstDash val="solid"/>
            <a:tailEnd type="triangle"/>
          </a:ln>
        </p:spPr>
      </p:sp>
      <p:sp>
        <p:nvSpPr>
          <p:cNvPr id="38" name="Shape 36"/>
          <p:cNvSpPr/>
          <p:nvPr/>
        </p:nvSpPr>
        <p:spPr>
          <a:xfrm>
            <a:off x="3977640" y="2971800"/>
            <a:ext cx="274320" cy="0"/>
          </a:xfrm>
          <a:prstGeom prst="line">
            <a:avLst/>
          </a:prstGeom>
          <a:noFill/>
          <a:ln w="12700">
            <a:solidFill>
              <a:srgbClr val="5B7D80"/>
            </a:solidFill>
            <a:prstDash val="solid"/>
            <a:tailEnd type="triangle"/>
          </a:ln>
        </p:spPr>
      </p:sp>
      <p:sp>
        <p:nvSpPr>
          <p:cNvPr id="39" name="Text 37"/>
          <p:cNvSpPr txBox="1"/>
          <p:nvPr/>
        </p:nvSpPr>
        <p:spPr>
          <a:xfrm>
            <a:off x="4251960" y="2588133"/>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 valid policy</a:t>
            </a:r>
            <a:endParaRPr lang="en-US" sz="800" dirty="0"/>
          </a:p>
        </p:txBody>
      </p:sp>
      <p:sp>
        <p:nvSpPr>
          <p:cNvPr id="40" name="Text 38"/>
          <p:cNvSpPr txBox="1"/>
          <p:nvPr/>
        </p:nvSpPr>
        <p:spPr>
          <a:xfrm>
            <a:off x="4251960" y="2807589"/>
            <a:ext cx="1463040" cy="328422"/>
          </a:xfrm>
          <a:prstGeom prst="roundRect">
            <a:avLst>
              <a:gd name="adj" fmla="val 11137"/>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80" dirty="0">
                <a:solidFill>
                  <a:srgbClr val="33480A"/>
                </a:solidFill>
                <a:latin typeface="Arial" pitchFamily="34" charset="0"/>
                <a:ea typeface="Arial" pitchFamily="34" charset="-122"/>
                <a:cs typeface="Arial" pitchFamily="34" charset="-120"/>
              </a:rPr>
              <a:t>Back to employer: correct insurer</a:t>
            </a:r>
            <a:endParaRPr lang="en-US" sz="780" dirty="0"/>
          </a:p>
        </p:txBody>
      </p:sp>
      <p:sp>
        <p:nvSpPr>
          <p:cNvPr id="41" name="Text 39"/>
          <p:cNvSpPr txBox="1"/>
          <p:nvPr/>
        </p:nvSpPr>
        <p:spPr>
          <a:xfrm>
            <a:off x="3218688" y="3319272"/>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Yes</a:t>
            </a:r>
            <a:endParaRPr lang="en-US" sz="800" dirty="0"/>
          </a:p>
        </p:txBody>
      </p:sp>
      <p:sp>
        <p:nvSpPr>
          <p:cNvPr id="42" name="Shape 40"/>
          <p:cNvSpPr/>
          <p:nvPr/>
        </p:nvSpPr>
        <p:spPr>
          <a:xfrm>
            <a:off x="3108960" y="3291840"/>
            <a:ext cx="0" cy="438912"/>
          </a:xfrm>
          <a:prstGeom prst="line">
            <a:avLst/>
          </a:prstGeom>
          <a:noFill/>
          <a:ln w="12700">
            <a:solidFill>
              <a:srgbClr val="5B7D80"/>
            </a:solidFill>
            <a:prstDash val="solid"/>
            <a:tailEnd type="triangle"/>
          </a:ln>
        </p:spPr>
      </p:sp>
      <p:sp>
        <p:nvSpPr>
          <p:cNvPr id="43" name="Text 41"/>
          <p:cNvSpPr txBox="1"/>
          <p:nvPr/>
        </p:nvSpPr>
        <p:spPr>
          <a:xfrm>
            <a:off x="2240280" y="3730752"/>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Earlier or</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duplicate?</a:t>
            </a:r>
            <a:endParaRPr lang="en-US" sz="950" dirty="0"/>
          </a:p>
        </p:txBody>
      </p:sp>
      <p:sp>
        <p:nvSpPr>
          <p:cNvPr id="44" name="Shape 42"/>
          <p:cNvSpPr/>
          <p:nvPr/>
        </p:nvSpPr>
        <p:spPr>
          <a:xfrm flipH="1">
            <a:off x="1965960" y="4050792"/>
            <a:ext cx="274320" cy="0"/>
          </a:xfrm>
          <a:prstGeom prst="line">
            <a:avLst/>
          </a:prstGeom>
          <a:noFill/>
          <a:ln w="12700">
            <a:solidFill>
              <a:srgbClr val="5B7D80"/>
            </a:solidFill>
            <a:prstDash val="solid"/>
            <a:tailEnd type="triangle"/>
          </a:ln>
        </p:spPr>
      </p:sp>
      <p:sp>
        <p:nvSpPr>
          <p:cNvPr id="45" name="Text 43"/>
          <p:cNvSpPr txBox="1"/>
          <p:nvPr/>
        </p:nvSpPr>
        <p:spPr>
          <a:xfrm>
            <a:off x="411480" y="3667125"/>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Duplicate</a:t>
            </a:r>
            <a:endParaRPr lang="en-US" sz="800" dirty="0"/>
          </a:p>
        </p:txBody>
      </p:sp>
      <p:sp>
        <p:nvSpPr>
          <p:cNvPr id="46" name="Text 44"/>
          <p:cNvSpPr txBox="1"/>
          <p:nvPr/>
        </p:nvSpPr>
        <p:spPr>
          <a:xfrm>
            <a:off x="502920" y="3886581"/>
            <a:ext cx="1463040" cy="328422"/>
          </a:xfrm>
          <a:prstGeom prst="roundRect">
            <a:avLst>
              <a:gd name="adj" fmla="val 11137"/>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80" dirty="0">
                <a:solidFill>
                  <a:srgbClr val="6B4A10"/>
                </a:solidFill>
                <a:latin typeface="Arial" pitchFamily="34" charset="0"/>
                <a:ea typeface="Arial" pitchFamily="34" charset="-122"/>
                <a:cs typeface="Arial" pitchFamily="34" charset="-120"/>
              </a:rPr>
              <a:t>Dedup / connect same-CPR claims</a:t>
            </a:r>
            <a:endParaRPr lang="en-US" sz="780" dirty="0"/>
          </a:p>
        </p:txBody>
      </p:sp>
      <p:sp>
        <p:nvSpPr>
          <p:cNvPr id="47" name="Shape 45"/>
          <p:cNvSpPr/>
          <p:nvPr/>
        </p:nvSpPr>
        <p:spPr>
          <a:xfrm>
            <a:off x="1965960" y="4215003"/>
            <a:ext cx="1143000" cy="631317"/>
          </a:xfrm>
          <a:prstGeom prst="line">
            <a:avLst/>
          </a:prstGeom>
          <a:noFill/>
          <a:ln w="12700">
            <a:solidFill>
              <a:srgbClr val="5B7D80"/>
            </a:solidFill>
            <a:prstDash val="solid"/>
            <a:tailEnd type="triangle"/>
          </a:ln>
        </p:spPr>
      </p:sp>
      <p:sp>
        <p:nvSpPr>
          <p:cNvPr id="48" name="Text 46"/>
          <p:cNvSpPr txBox="1"/>
          <p:nvPr/>
        </p:nvSpPr>
        <p:spPr>
          <a:xfrm>
            <a:off x="3218688" y="4398264"/>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New</a:t>
            </a:r>
            <a:endParaRPr lang="en-US" sz="800" dirty="0"/>
          </a:p>
        </p:txBody>
      </p:sp>
      <p:sp>
        <p:nvSpPr>
          <p:cNvPr id="49" name="Shape 47"/>
          <p:cNvSpPr/>
          <p:nvPr/>
        </p:nvSpPr>
        <p:spPr>
          <a:xfrm>
            <a:off x="3108960" y="4370832"/>
            <a:ext cx="0" cy="475488"/>
          </a:xfrm>
          <a:prstGeom prst="line">
            <a:avLst/>
          </a:prstGeom>
          <a:noFill/>
          <a:ln w="12700">
            <a:solidFill>
              <a:srgbClr val="5B7D80"/>
            </a:solidFill>
            <a:prstDash val="solid"/>
            <a:tailEnd type="triangle"/>
          </a:ln>
        </p:spPr>
      </p:sp>
      <p:sp>
        <p:nvSpPr>
          <p:cNvPr id="50" name="Text 48"/>
          <p:cNvSpPr txBox="1"/>
          <p:nvPr/>
        </p:nvSpPr>
        <p:spPr>
          <a:xfrm>
            <a:off x="1645920" y="49377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3 · Escalation &amp; Close-Out</a:t>
            </a:r>
            <a:endParaRPr lang="en-US" sz="830" dirty="0"/>
          </a:p>
        </p:txBody>
      </p:sp>
      <p:sp>
        <p:nvSpPr>
          <p:cNvPr id="51" name="Text 49"/>
          <p:cNvSpPr txBox="1"/>
          <p:nvPr/>
        </p:nvSpPr>
        <p:spPr>
          <a:xfrm>
            <a:off x="75895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1</a:t>
            </a:r>
            <a:endParaRPr lang="en-US" sz="830" dirty="0"/>
          </a:p>
        </p:txBody>
      </p:sp>
      <p:sp>
        <p:nvSpPr>
          <p:cNvPr id="52" name="Shape 50"/>
          <p:cNvSpPr/>
          <p:nvPr/>
        </p:nvSpPr>
        <p:spPr>
          <a:xfrm>
            <a:off x="9052560" y="1481328"/>
            <a:ext cx="0" cy="164592"/>
          </a:xfrm>
          <a:prstGeom prst="line">
            <a:avLst/>
          </a:prstGeom>
          <a:noFill/>
          <a:ln w="12700">
            <a:solidFill>
              <a:srgbClr val="5B7D80"/>
            </a:solidFill>
            <a:prstDash val="solid"/>
            <a:tailEnd type="triangle"/>
          </a:ln>
        </p:spPr>
      </p:sp>
      <p:sp>
        <p:nvSpPr>
          <p:cNvPr id="53" name="Text 51"/>
          <p:cNvSpPr txBox="1"/>
          <p:nvPr/>
        </p:nvSpPr>
        <p:spPr>
          <a:xfrm>
            <a:off x="6583680" y="1645920"/>
            <a:ext cx="4937760" cy="538734"/>
          </a:xfrm>
          <a:prstGeom prst="roundRect">
            <a:avLst>
              <a:gd name="adj" fmla="val 6789"/>
            </a:avLst>
          </a:prstGeom>
          <a:solidFill>
            <a:srgbClr val="ECEFF3"/>
          </a:solidFill>
          <a:ln w="15875">
            <a:solidFill>
              <a:srgbClr val="6B7787"/>
            </a:solidFill>
            <a:prstDash val="solid"/>
          </a:ln>
        </p:spPr>
        <p:txBody>
          <a:bodyPr wrap="square" lIns="38100" tIns="38100" rIns="38100" bIns="38100" rtlCol="0" anchor="ctr"/>
          <a:lstStyle/>
          <a:p>
            <a:pPr algn="ctr" indent="0" marL="0">
              <a:lnSpc>
                <a:spcPct val="108000"/>
              </a:lnSpc>
              <a:buNone/>
            </a:pPr>
            <a:r>
              <a:rPr lang="en-US" sz="1000" b="1" dirty="0">
                <a:solidFill>
                  <a:srgbClr val="2A3340"/>
                </a:solidFill>
                <a:latin typeface="Arial" pitchFamily="34" charset="0"/>
                <a:ea typeface="Arial" pitchFamily="34" charset="-122"/>
                <a:cs typeface="Arial" pitchFamily="34" charset="-120"/>
              </a:rPr>
              <a:t>Validation Node — rules only</a:t>
            </a:r>
            <a:endParaRPr lang="en-US" sz="1000" dirty="0"/>
          </a:p>
          <a:p>
            <a:pPr algn="ctr" indent="0" marL="0">
              <a:lnSpc>
                <a:spcPct val="108000"/>
              </a:lnSpc>
              <a:buNone/>
            </a:pPr>
            <a:r>
              <a:rPr lang="en-US" sz="1000" b="1" dirty="0">
                <a:solidFill>
                  <a:srgbClr val="2A3340"/>
                </a:solidFill>
                <a:latin typeface="Arial" pitchFamily="34" charset="0"/>
                <a:ea typeface="Arial" pitchFamily="34" charset="-122"/>
                <a:cs typeface="Arial" pitchFamily="34" charset="-120"/>
              </a:rPr>
              <a:t>CPR dedup · policy in force · completeness — three lookups at once, no model call</a:t>
            </a:r>
            <a:endParaRPr lang="en-US" sz="1000" dirty="0"/>
          </a:p>
        </p:txBody>
      </p:sp>
      <p:sp>
        <p:nvSpPr>
          <p:cNvPr id="54" name="Shape 52"/>
          <p:cNvSpPr/>
          <p:nvPr/>
        </p:nvSpPr>
        <p:spPr>
          <a:xfrm>
            <a:off x="9052560" y="2184654"/>
            <a:ext cx="0" cy="320040"/>
          </a:xfrm>
          <a:prstGeom prst="line">
            <a:avLst/>
          </a:prstGeom>
          <a:noFill/>
          <a:ln w="12700">
            <a:solidFill>
              <a:srgbClr val="5B7D80"/>
            </a:solidFill>
            <a:prstDash val="solid"/>
            <a:tailEnd type="triangle"/>
          </a:ln>
        </p:spPr>
      </p:sp>
      <p:sp>
        <p:nvSpPr>
          <p:cNvPr id="55" name="Text 53"/>
          <p:cNvSpPr txBox="1"/>
          <p:nvPr/>
        </p:nvSpPr>
        <p:spPr>
          <a:xfrm>
            <a:off x="8183880" y="2504694"/>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Any check</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failed?</a:t>
            </a:r>
            <a:endParaRPr lang="en-US" sz="950" dirty="0"/>
          </a:p>
        </p:txBody>
      </p:sp>
      <p:sp>
        <p:nvSpPr>
          <p:cNvPr id="56" name="Shape 54"/>
          <p:cNvSpPr/>
          <p:nvPr/>
        </p:nvSpPr>
        <p:spPr>
          <a:xfrm>
            <a:off x="9921240" y="2824734"/>
            <a:ext cx="274320" cy="0"/>
          </a:xfrm>
          <a:prstGeom prst="line">
            <a:avLst/>
          </a:prstGeom>
          <a:noFill/>
          <a:ln w="12700">
            <a:solidFill>
              <a:srgbClr val="5B7D80"/>
            </a:solidFill>
            <a:prstDash val="solid"/>
            <a:tailEnd type="triangle"/>
          </a:ln>
        </p:spPr>
      </p:sp>
      <p:sp>
        <p:nvSpPr>
          <p:cNvPr id="57" name="Text 55"/>
          <p:cNvSpPr txBox="1"/>
          <p:nvPr/>
        </p:nvSpPr>
        <p:spPr>
          <a:xfrm>
            <a:off x="10195560" y="2388489"/>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58" name="Text 56"/>
          <p:cNvSpPr txBox="1"/>
          <p:nvPr/>
        </p:nvSpPr>
        <p:spPr>
          <a:xfrm>
            <a:off x="10195560" y="2607945"/>
            <a:ext cx="1463040" cy="433578"/>
          </a:xfrm>
          <a:prstGeom prst="roundRect">
            <a:avLst>
              <a:gd name="adj" fmla="val 8436"/>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60" dirty="0">
                <a:solidFill>
                  <a:srgbClr val="6B4A10"/>
                </a:solidFill>
                <a:latin typeface="Arial" pitchFamily="34" charset="0"/>
                <a:ea typeface="Arial" pitchFamily="34" charset="-122"/>
                <a:cs typeface="Arial" pitchFamily="34" charset="-120"/>
              </a:rPr>
              <a:t>Exception Research Agent — gathers CVR / fuzzy-match candidates as evidence</a:t>
            </a:r>
            <a:endParaRPr lang="en-US" sz="760" dirty="0"/>
          </a:p>
        </p:txBody>
      </p:sp>
      <p:sp>
        <p:nvSpPr>
          <p:cNvPr id="59" name="Shape 57"/>
          <p:cNvSpPr/>
          <p:nvPr/>
        </p:nvSpPr>
        <p:spPr>
          <a:xfrm>
            <a:off x="10927080" y="3041523"/>
            <a:ext cx="0" cy="219456"/>
          </a:xfrm>
          <a:prstGeom prst="line">
            <a:avLst/>
          </a:prstGeom>
          <a:noFill/>
          <a:ln w="12700">
            <a:solidFill>
              <a:srgbClr val="5B7D80"/>
            </a:solidFill>
            <a:prstDash val="solid"/>
            <a:tailEnd type="triangle"/>
          </a:ln>
        </p:spPr>
      </p:sp>
      <p:sp>
        <p:nvSpPr>
          <p:cNvPr id="60" name="Text 58"/>
          <p:cNvSpPr txBox="1"/>
          <p:nvPr/>
        </p:nvSpPr>
        <p:spPr>
          <a:xfrm>
            <a:off x="10195560" y="3260979"/>
            <a:ext cx="1463040" cy="433578"/>
          </a:xfrm>
          <a:prstGeom prst="roundRect">
            <a:avLst>
              <a:gd name="adj" fmla="val 8436"/>
            </a:avLst>
          </a:prstGeom>
          <a:solidFill>
            <a:srgbClr val="F1E6ED"/>
          </a:solidFill>
          <a:ln w="15875">
            <a:solidFill>
              <a:srgbClr val="7A4A66"/>
            </a:solidFill>
            <a:prstDash val="solid"/>
          </a:ln>
        </p:spPr>
        <p:txBody>
          <a:bodyPr wrap="square" lIns="38100" tIns="38100" rIns="38100" bIns="38100" rtlCol="0" anchor="ctr"/>
          <a:lstStyle/>
          <a:p>
            <a:pPr algn="ctr" indent="0" marL="0">
              <a:lnSpc>
                <a:spcPct val="108000"/>
              </a:lnSpc>
              <a:buNone/>
            </a:pPr>
            <a:r>
              <a:rPr lang="en-US" sz="760" dirty="0">
                <a:solidFill>
                  <a:srgbClr val="4A2C3B"/>
                </a:solidFill>
                <a:latin typeface="Arial" pitchFamily="34" charset="0"/>
                <a:ea typeface="Arial" pitchFamily="34" charset="-122"/>
                <a:cs typeface="Arial" pitchFamily="34" charset="-120"/>
              </a:rPr>
              <a:t>Underwriter decides</a:t>
            </a:r>
            <a:endParaRPr lang="en-US" sz="760" dirty="0"/>
          </a:p>
          <a:p>
            <a:pPr algn="ctr" indent="0" marL="0">
              <a:lnSpc>
                <a:spcPct val="108000"/>
              </a:lnSpc>
              <a:buNone/>
            </a:pPr>
            <a:r>
              <a:rPr lang="en-US" sz="760" dirty="0">
                <a:solidFill>
                  <a:srgbClr val="4A2C3B"/>
                </a:solidFill>
                <a:latin typeface="Arial" pitchFamily="34" charset="0"/>
                <a:ea typeface="Arial" pitchFamily="34" charset="-122"/>
                <a:cs typeface="Arial" pitchFamily="34" charset="-120"/>
              </a:rPr>
              <a:t>(AI prepares, never decides)</a:t>
            </a:r>
            <a:endParaRPr lang="en-US" sz="760" dirty="0"/>
          </a:p>
        </p:txBody>
      </p:sp>
      <p:sp>
        <p:nvSpPr>
          <p:cNvPr id="61" name="Text 59"/>
          <p:cNvSpPr txBox="1"/>
          <p:nvPr/>
        </p:nvSpPr>
        <p:spPr>
          <a:xfrm>
            <a:off x="9162288" y="3172206"/>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No</a:t>
            </a:r>
            <a:endParaRPr lang="en-US" sz="800" dirty="0"/>
          </a:p>
        </p:txBody>
      </p:sp>
      <p:sp>
        <p:nvSpPr>
          <p:cNvPr id="62" name="Shape 60"/>
          <p:cNvSpPr/>
          <p:nvPr/>
        </p:nvSpPr>
        <p:spPr>
          <a:xfrm>
            <a:off x="9052560" y="3144774"/>
            <a:ext cx="0" cy="1701546"/>
          </a:xfrm>
          <a:prstGeom prst="line">
            <a:avLst/>
          </a:prstGeom>
          <a:noFill/>
          <a:ln w="12700">
            <a:solidFill>
              <a:srgbClr val="5B7D80"/>
            </a:solidFill>
            <a:prstDash val="solid"/>
            <a:tailEnd type="triangle"/>
          </a:ln>
        </p:spPr>
      </p:sp>
      <p:sp>
        <p:nvSpPr>
          <p:cNvPr id="63" name="Text 61"/>
          <p:cNvSpPr txBox="1"/>
          <p:nvPr/>
        </p:nvSpPr>
        <p:spPr>
          <a:xfrm>
            <a:off x="7589520" y="49377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continues, part 3 · Outcome Drafting Agent</a:t>
            </a:r>
            <a:endParaRPr lang="en-US" sz="830" dirty="0"/>
          </a:p>
        </p:txBody>
      </p:sp>
      <p:sp>
        <p:nvSpPr>
          <p:cNvPr id="64" name="Shape 62"/>
          <p:cNvSpPr/>
          <p:nvPr/>
        </p:nvSpPr>
        <p:spPr>
          <a:xfrm>
            <a:off x="6309360" y="5532120"/>
            <a:ext cx="3017520" cy="658368"/>
          </a:xfrm>
          <a:prstGeom prst="roundRect">
            <a:avLst>
              <a:gd name="adj" fmla="val 6944"/>
            </a:avLst>
          </a:prstGeom>
          <a:solidFill>
            <a:srgbClr val="F7F7F5"/>
          </a:solidFill>
          <a:ln w="12700">
            <a:solidFill>
              <a:srgbClr val="D7DCE2"/>
            </a:solidFill>
            <a:prstDash val="solid"/>
          </a:ln>
        </p:spPr>
      </p:sp>
      <p:sp>
        <p:nvSpPr>
          <p:cNvPr id="65" name="Text 63"/>
          <p:cNvSpPr txBox="1"/>
          <p:nvPr/>
        </p:nvSpPr>
        <p:spPr>
          <a:xfrm>
            <a:off x="6400800" y="5532120"/>
            <a:ext cx="2834640" cy="658368"/>
          </a:xfrm>
          <a:prstGeom prst="rect">
            <a:avLst/>
          </a:prstGeom>
          <a:noFill/>
          <a:ln/>
        </p:spPr>
        <p:txBody>
          <a:bodyPr wrap="square" lIns="50800" tIns="50800" rIns="50800" bIns="50800" rtlCol="0" anchor="ctr"/>
          <a:lstStyle/>
          <a:p>
            <a:pPr algn="ctr" indent="0" marL="0">
              <a:lnSpc>
                <a:spcPct val="120000"/>
              </a:lnSpc>
              <a:buNone/>
            </a:pPr>
            <a:r>
              <a:rPr lang="en-US" sz="840" dirty="0">
                <a:solidFill>
                  <a:srgbClr val="3A4250"/>
                </a:solidFill>
                <a:latin typeface="Arial" pitchFamily="34" charset="0"/>
                <a:ea typeface="Arial" pitchFamily="34" charset="-122"/>
                <a:cs typeface="Arial" pitchFamily="34" charset="-120"/>
              </a:rPr>
              <a:t>3 sequential gates, each with its own rework loop, become 1 parallel check.</a:t>
            </a:r>
            <a:endParaRPr lang="en-US" sz="8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18872"/>
            <a:ext cx="813816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The AI writes the draft; the handler still makes the decision</a:t>
            </a:r>
            <a:endParaRPr lang="en-US" sz="1400" dirty="0"/>
          </a:p>
        </p:txBody>
      </p:sp>
      <p:sp>
        <p:nvSpPr>
          <p:cNvPr id="3" name="Text 1"/>
          <p:cNvSpPr txBox="1"/>
          <p:nvPr/>
        </p:nvSpPr>
        <p:spPr>
          <a:xfrm>
            <a:off x="365760" y="402336"/>
            <a:ext cx="1060704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From a system warning to a closed claim or a fully opened one — nothing that can go against a claimant is automated</a:t>
            </a:r>
            <a:endParaRPr lang="en-US" sz="950" dirty="0"/>
          </a:p>
        </p:txBody>
      </p:sp>
      <p:sp>
        <p:nvSpPr>
          <p:cNvPr id="4" name="Text 2"/>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FNOL REDESIGN · 3 OF 3</a:t>
            </a:r>
            <a:endParaRPr lang="en-US" sz="950" dirty="0"/>
          </a:p>
        </p:txBody>
      </p:sp>
      <p:sp>
        <p:nvSpPr>
          <p:cNvPr id="5" name="Shape 3"/>
          <p:cNvSpPr/>
          <p:nvPr/>
        </p:nvSpPr>
        <p:spPr>
          <a:xfrm>
            <a:off x="365760" y="713232"/>
            <a:ext cx="137160" cy="137160"/>
          </a:xfrm>
          <a:prstGeom prst="roundRect">
            <a:avLst>
              <a:gd name="adj" fmla="val 13333"/>
            </a:avLst>
          </a:prstGeom>
          <a:solidFill>
            <a:srgbClr val="E6F8F7"/>
          </a:solidFill>
          <a:ln w="12700">
            <a:solidFill>
              <a:srgbClr val="007A82"/>
            </a:solidFill>
            <a:prstDash val="solid"/>
          </a:ln>
        </p:spPr>
      </p:sp>
      <p:sp>
        <p:nvSpPr>
          <p:cNvPr id="6" name="Text 4"/>
          <p:cNvSpPr txBox="1"/>
          <p:nvPr/>
        </p:nvSpPr>
        <p:spPr>
          <a:xfrm>
            <a:off x="5669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Trigger / start</a:t>
            </a:r>
            <a:endParaRPr lang="en-US" sz="800" dirty="0"/>
          </a:p>
        </p:txBody>
      </p:sp>
      <p:sp>
        <p:nvSpPr>
          <p:cNvPr id="7" name="Shape 5"/>
          <p:cNvSpPr/>
          <p:nvPr/>
        </p:nvSpPr>
        <p:spPr>
          <a:xfrm>
            <a:off x="1691640" y="713232"/>
            <a:ext cx="137160" cy="137160"/>
          </a:xfrm>
          <a:prstGeom prst="roundRect">
            <a:avLst>
              <a:gd name="adj" fmla="val 13333"/>
            </a:avLst>
          </a:prstGeom>
          <a:solidFill>
            <a:srgbClr val="FFFFFF"/>
          </a:solidFill>
          <a:ln w="12700">
            <a:solidFill>
              <a:srgbClr val="5B7D80"/>
            </a:solidFill>
            <a:prstDash val="solid"/>
          </a:ln>
        </p:spPr>
      </p:sp>
      <p:sp>
        <p:nvSpPr>
          <p:cNvPr id="8" name="Text 6"/>
          <p:cNvSpPr txBox="1"/>
          <p:nvPr/>
        </p:nvSpPr>
        <p:spPr>
          <a:xfrm>
            <a:off x="18928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Step / decision</a:t>
            </a:r>
            <a:endParaRPr lang="en-US" sz="800" dirty="0"/>
          </a:p>
        </p:txBody>
      </p:sp>
      <p:sp>
        <p:nvSpPr>
          <p:cNvPr id="9" name="Shape 7"/>
          <p:cNvSpPr/>
          <p:nvPr/>
        </p:nvSpPr>
        <p:spPr>
          <a:xfrm>
            <a:off x="3063240" y="713232"/>
            <a:ext cx="137160" cy="137160"/>
          </a:xfrm>
          <a:prstGeom prst="roundRect">
            <a:avLst>
              <a:gd name="adj" fmla="val 13333"/>
            </a:avLst>
          </a:prstGeom>
          <a:solidFill>
            <a:srgbClr val="FCEFD6"/>
          </a:solidFill>
          <a:ln w="12700">
            <a:solidFill>
              <a:srgbClr val="EF9F27"/>
            </a:solidFill>
            <a:prstDash val="solid"/>
          </a:ln>
        </p:spPr>
      </p:sp>
      <p:sp>
        <p:nvSpPr>
          <p:cNvPr id="10" name="Text 8"/>
          <p:cNvSpPr txBox="1"/>
          <p:nvPr/>
        </p:nvSpPr>
        <p:spPr>
          <a:xfrm>
            <a:off x="3264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Exception / rework</a:t>
            </a:r>
            <a:endParaRPr lang="en-US" sz="800" dirty="0"/>
          </a:p>
        </p:txBody>
      </p:sp>
      <p:sp>
        <p:nvSpPr>
          <p:cNvPr id="11" name="Shape 9"/>
          <p:cNvSpPr/>
          <p:nvPr/>
        </p:nvSpPr>
        <p:spPr>
          <a:xfrm>
            <a:off x="4892040" y="713232"/>
            <a:ext cx="137160" cy="137160"/>
          </a:xfrm>
          <a:prstGeom prst="roundRect">
            <a:avLst>
              <a:gd name="adj" fmla="val 13333"/>
            </a:avLst>
          </a:prstGeom>
          <a:solidFill>
            <a:srgbClr val="EDF7DB"/>
          </a:solidFill>
          <a:ln w="12700">
            <a:solidFill>
              <a:srgbClr val="6FA01F"/>
            </a:solidFill>
            <a:prstDash val="solid"/>
          </a:ln>
        </p:spPr>
      </p:sp>
      <p:sp>
        <p:nvSpPr>
          <p:cNvPr id="12" name="Text 10"/>
          <p:cNvSpPr txBox="1"/>
          <p:nvPr/>
        </p:nvSpPr>
        <p:spPr>
          <a:xfrm>
            <a:off x="50932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Exit</a:t>
            </a:r>
            <a:endParaRPr lang="en-US" sz="800" dirty="0"/>
          </a:p>
        </p:txBody>
      </p:sp>
      <p:sp>
        <p:nvSpPr>
          <p:cNvPr id="13" name="Shape 11"/>
          <p:cNvSpPr/>
          <p:nvPr/>
        </p:nvSpPr>
        <p:spPr>
          <a:xfrm>
            <a:off x="6309360" y="713232"/>
            <a:ext cx="137160" cy="137160"/>
          </a:xfrm>
          <a:prstGeom prst="roundRect">
            <a:avLst>
              <a:gd name="adj" fmla="val 13333"/>
            </a:avLst>
          </a:prstGeom>
          <a:solidFill>
            <a:srgbClr val="E3EDF6"/>
          </a:solidFill>
          <a:ln w="12700">
            <a:solidFill>
              <a:srgbClr val="3B6FA0"/>
            </a:solidFill>
            <a:prstDash val="solid"/>
          </a:ln>
        </p:spPr>
      </p:sp>
      <p:sp>
        <p:nvSpPr>
          <p:cNvPr id="14" name="Text 12"/>
          <p:cNvSpPr txBox="1"/>
          <p:nvPr/>
        </p:nvSpPr>
        <p:spPr>
          <a:xfrm>
            <a:off x="651052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AI agent (LLM call)</a:t>
            </a:r>
            <a:endParaRPr lang="en-US" sz="800" dirty="0"/>
          </a:p>
        </p:txBody>
      </p:sp>
      <p:sp>
        <p:nvSpPr>
          <p:cNvPr id="15" name="Shape 13"/>
          <p:cNvSpPr/>
          <p:nvPr/>
        </p:nvSpPr>
        <p:spPr>
          <a:xfrm>
            <a:off x="8092440" y="713232"/>
            <a:ext cx="137160" cy="137160"/>
          </a:xfrm>
          <a:prstGeom prst="roundRect">
            <a:avLst>
              <a:gd name="adj" fmla="val 13333"/>
            </a:avLst>
          </a:prstGeom>
          <a:solidFill>
            <a:srgbClr val="ECEFF3"/>
          </a:solidFill>
          <a:ln w="12700">
            <a:solidFill>
              <a:srgbClr val="6B7787"/>
            </a:solidFill>
            <a:prstDash val="solid"/>
          </a:ln>
        </p:spPr>
      </p:sp>
      <p:sp>
        <p:nvSpPr>
          <p:cNvPr id="16" name="Text 14"/>
          <p:cNvSpPr txBox="1"/>
          <p:nvPr/>
        </p:nvSpPr>
        <p:spPr>
          <a:xfrm>
            <a:off x="82936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Rules only, no model</a:t>
            </a:r>
            <a:endParaRPr lang="en-US" sz="800" dirty="0"/>
          </a:p>
        </p:txBody>
      </p:sp>
      <p:sp>
        <p:nvSpPr>
          <p:cNvPr id="17" name="Shape 15"/>
          <p:cNvSpPr/>
          <p:nvPr/>
        </p:nvSpPr>
        <p:spPr>
          <a:xfrm>
            <a:off x="9921240" y="713232"/>
            <a:ext cx="137160" cy="137160"/>
          </a:xfrm>
          <a:prstGeom prst="roundRect">
            <a:avLst>
              <a:gd name="adj" fmla="val 13333"/>
            </a:avLst>
          </a:prstGeom>
          <a:solidFill>
            <a:srgbClr val="F1E6ED"/>
          </a:solidFill>
          <a:ln w="12700">
            <a:solidFill>
              <a:srgbClr val="7A4A66"/>
            </a:solidFill>
            <a:prstDash val="solid"/>
          </a:ln>
        </p:spPr>
      </p:sp>
      <p:sp>
        <p:nvSpPr>
          <p:cNvPr id="18" name="Text 16"/>
          <p:cNvSpPr txBox="1"/>
          <p:nvPr/>
        </p:nvSpPr>
        <p:spPr>
          <a:xfrm>
            <a:off x="10122408" y="667512"/>
            <a:ext cx="1325880" cy="228600"/>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Human checkpoint</a:t>
            </a:r>
            <a:endParaRPr lang="en-US" sz="800" dirty="0"/>
          </a:p>
        </p:txBody>
      </p:sp>
      <p:sp>
        <p:nvSpPr>
          <p:cNvPr id="19" name="Shape 17"/>
          <p:cNvSpPr/>
          <p:nvPr/>
        </p:nvSpPr>
        <p:spPr>
          <a:xfrm>
            <a:off x="6062472" y="1024128"/>
            <a:ext cx="0" cy="5440680"/>
          </a:xfrm>
          <a:prstGeom prst="line">
            <a:avLst/>
          </a:prstGeom>
          <a:noFill/>
          <a:ln w="9525">
            <a:solidFill>
              <a:srgbClr val="D7DCE2"/>
            </a:solidFill>
            <a:prstDash val="solid"/>
          </a:ln>
        </p:spPr>
      </p:sp>
      <p:sp>
        <p:nvSpPr>
          <p:cNvPr id="20" name="Text 18"/>
          <p:cNvSpPr txBox="1"/>
          <p:nvPr/>
        </p:nvSpPr>
        <p:spPr>
          <a:xfrm>
            <a:off x="365760" y="1005840"/>
            <a:ext cx="5486400" cy="237744"/>
          </a:xfrm>
          <a:prstGeom prst="rect">
            <a:avLst/>
          </a:prstGeom>
          <a:noFill/>
          <a:ln/>
        </p:spPr>
        <p:txBody>
          <a:bodyPr wrap="square" lIns="0" tIns="0" rIns="0" bIns="0" rtlCol="0" anchor="ctr"/>
          <a:lstStyle/>
          <a:p>
            <a:pPr indent="0" marL="0">
              <a:buNone/>
            </a:pPr>
            <a:r>
              <a:rPr lang="en-US" sz="1150" b="1" dirty="0">
                <a:solidFill>
                  <a:srgbClr val="5B6472"/>
                </a:solidFill>
                <a:latin typeface="Arial" pitchFamily="34" charset="0"/>
                <a:ea typeface="Arial" pitchFamily="34" charset="-122"/>
                <a:cs typeface="Arial" pitchFamily="34" charset="-120"/>
              </a:rPr>
              <a:t>TODAY</a:t>
            </a:r>
            <a:endParaRPr lang="en-US" sz="1150" dirty="0"/>
          </a:p>
        </p:txBody>
      </p:sp>
      <p:sp>
        <p:nvSpPr>
          <p:cNvPr id="21" name="Text 19"/>
          <p:cNvSpPr txBox="1"/>
          <p:nvPr/>
        </p:nvSpPr>
        <p:spPr>
          <a:xfrm>
            <a:off x="6309360" y="1005840"/>
            <a:ext cx="5486400" cy="237744"/>
          </a:xfrm>
          <a:prstGeom prst="rect">
            <a:avLst/>
          </a:prstGeom>
          <a:noFill/>
          <a:ln/>
        </p:spPr>
        <p:txBody>
          <a:bodyPr wrap="square" lIns="0" tIns="0" rIns="0" bIns="0" rtlCol="0" anchor="ctr"/>
          <a:lstStyle/>
          <a:p>
            <a:pPr indent="0" marL="0">
              <a:buNone/>
            </a:pPr>
            <a:r>
              <a:rPr lang="en-US" sz="1150" b="1" dirty="0">
                <a:solidFill>
                  <a:srgbClr val="3B6FA0"/>
                </a:solidFill>
                <a:latin typeface="Arial" pitchFamily="34" charset="0"/>
                <a:ea typeface="Arial" pitchFamily="34" charset="-122"/>
                <a:cs typeface="Arial" pitchFamily="34" charset="-120"/>
              </a:rPr>
              <a:t>AI-NATIVE  </a:t>
            </a:r>
            <a:pPr indent="0" marL="0">
              <a:buNone/>
            </a:pPr>
            <a:r>
              <a:rPr lang="en-US" sz="850" i="1" dirty="0">
                <a:solidFill>
                  <a:srgbClr val="5B6472"/>
                </a:solidFill>
                <a:latin typeface="Arial" pitchFamily="34" charset="0"/>
                <a:ea typeface="Arial" pitchFamily="34" charset="-122"/>
                <a:cs typeface="Arial" pitchFamily="34" charset="-120"/>
              </a:rPr>
              <a:t>— one LangGraph state graph · shared claim state carries the audit trail</a:t>
            </a:r>
            <a:endParaRPr lang="en-US" sz="1150" dirty="0"/>
          </a:p>
        </p:txBody>
      </p:sp>
      <p:sp>
        <p:nvSpPr>
          <p:cNvPr id="22" name="Text 20"/>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23" name="Text 21"/>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4 / 9</a:t>
            </a:r>
            <a:endParaRPr lang="en-US" sz="800" dirty="0"/>
          </a:p>
        </p:txBody>
      </p:sp>
      <p:sp>
        <p:nvSpPr>
          <p:cNvPr id="24" name="Text 22"/>
          <p:cNvSpPr txBox="1"/>
          <p:nvPr/>
        </p:nvSpPr>
        <p:spPr>
          <a:xfrm>
            <a:off x="16459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2</a:t>
            </a:r>
            <a:endParaRPr lang="en-US" sz="830" dirty="0"/>
          </a:p>
        </p:txBody>
      </p:sp>
      <p:sp>
        <p:nvSpPr>
          <p:cNvPr id="25" name="Shape 23"/>
          <p:cNvSpPr/>
          <p:nvPr/>
        </p:nvSpPr>
        <p:spPr>
          <a:xfrm>
            <a:off x="3108960" y="1481328"/>
            <a:ext cx="0" cy="164592"/>
          </a:xfrm>
          <a:prstGeom prst="line">
            <a:avLst/>
          </a:prstGeom>
          <a:noFill/>
          <a:ln w="12700">
            <a:solidFill>
              <a:srgbClr val="5B7D80"/>
            </a:solidFill>
            <a:prstDash val="solid"/>
            <a:tailEnd type="triangle"/>
          </a:ln>
        </p:spPr>
      </p:sp>
      <p:sp>
        <p:nvSpPr>
          <p:cNvPr id="26" name="Text 24"/>
          <p:cNvSpPr txBox="1"/>
          <p:nvPr/>
        </p:nvSpPr>
        <p:spPr>
          <a:xfrm>
            <a:off x="2240280" y="1645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Red warning</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on claim?</a:t>
            </a:r>
            <a:endParaRPr lang="en-US" sz="950" dirty="0"/>
          </a:p>
        </p:txBody>
      </p:sp>
      <p:sp>
        <p:nvSpPr>
          <p:cNvPr id="27" name="Shape 25"/>
          <p:cNvSpPr/>
          <p:nvPr/>
        </p:nvSpPr>
        <p:spPr>
          <a:xfrm flipH="1">
            <a:off x="1965960" y="1965960"/>
            <a:ext cx="274320" cy="0"/>
          </a:xfrm>
          <a:prstGeom prst="line">
            <a:avLst/>
          </a:prstGeom>
          <a:noFill/>
          <a:ln w="12700">
            <a:solidFill>
              <a:srgbClr val="5B7D80"/>
            </a:solidFill>
            <a:prstDash val="solid"/>
            <a:tailEnd type="triangle"/>
          </a:ln>
        </p:spPr>
      </p:sp>
      <p:sp>
        <p:nvSpPr>
          <p:cNvPr id="28" name="Text 26"/>
          <p:cNvSpPr txBox="1"/>
          <p:nvPr/>
        </p:nvSpPr>
        <p:spPr>
          <a:xfrm>
            <a:off x="411480" y="15852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29" name="Text 27"/>
          <p:cNvSpPr txBox="1"/>
          <p:nvPr/>
        </p:nvSpPr>
        <p:spPr>
          <a:xfrm>
            <a:off x="502920" y="1804670"/>
            <a:ext cx="1463040" cy="322580"/>
          </a:xfrm>
          <a:prstGeom prst="roundRect">
            <a:avLst>
              <a:gd name="adj" fmla="val 11339"/>
            </a:avLst>
          </a:prstGeom>
          <a:solidFill>
            <a:srgbClr val="FCEFD6"/>
          </a:solidFill>
          <a:ln w="15875">
            <a:solidFill>
              <a:srgbClr val="EF9F27"/>
            </a:solidFill>
            <a:prstDash val="solid"/>
          </a:ln>
        </p:spPr>
        <p:txBody>
          <a:bodyPr wrap="square" lIns="38100" tIns="38100" rIns="38100" bIns="38100" rtlCol="0" anchor="ctr"/>
          <a:lstStyle/>
          <a:p>
            <a:pPr algn="ctr" indent="0" marL="0">
              <a:lnSpc>
                <a:spcPct val="108000"/>
              </a:lnSpc>
              <a:buNone/>
            </a:pPr>
            <a:r>
              <a:rPr lang="en-US" sz="760" dirty="0">
                <a:solidFill>
                  <a:srgbClr val="6B4A10"/>
                </a:solidFill>
                <a:latin typeface="Arial" pitchFamily="34" charset="0"/>
                <a:ea typeface="Arial" pitchFamily="34" charset="-122"/>
                <a:cs typeface="Arial" pitchFamily="34" charset="-120"/>
              </a:rPr>
              <a:t>On hold: check with UW before it can move on</a:t>
            </a:r>
            <a:endParaRPr lang="en-US" sz="760" dirty="0"/>
          </a:p>
        </p:txBody>
      </p:sp>
      <p:sp>
        <p:nvSpPr>
          <p:cNvPr id="30" name="Shape 28"/>
          <p:cNvSpPr/>
          <p:nvPr/>
        </p:nvSpPr>
        <p:spPr>
          <a:xfrm>
            <a:off x="1965960" y="2127250"/>
            <a:ext cx="1143000" cy="661670"/>
          </a:xfrm>
          <a:prstGeom prst="line">
            <a:avLst/>
          </a:prstGeom>
          <a:noFill/>
          <a:ln w="12700">
            <a:solidFill>
              <a:srgbClr val="5B7D80"/>
            </a:solidFill>
            <a:prstDash val="solid"/>
            <a:tailEnd type="triangle"/>
          </a:ln>
        </p:spPr>
      </p:sp>
      <p:sp>
        <p:nvSpPr>
          <p:cNvPr id="31" name="Text 29"/>
          <p:cNvSpPr txBox="1"/>
          <p:nvPr/>
        </p:nvSpPr>
        <p:spPr>
          <a:xfrm>
            <a:off x="3218688" y="2240280"/>
            <a:ext cx="914400" cy="182880"/>
          </a:xfrm>
          <a:prstGeom prst="rect">
            <a:avLst/>
          </a:prstGeom>
          <a:noFill/>
          <a:ln/>
        </p:spPr>
        <p:txBody>
          <a:bodyPr wrap="square" lIns="0" tIns="0" rIns="0" bIns="0" rtlCol="0" anchor="ctr"/>
          <a:lstStyle/>
          <a:p>
            <a:pPr algn="l" indent="0" marL="0">
              <a:buNone/>
            </a:pPr>
            <a:r>
              <a:rPr lang="en-US" sz="800" dirty="0">
                <a:solidFill>
                  <a:srgbClr val="5B6472"/>
                </a:solidFill>
                <a:latin typeface="Arial" pitchFamily="34" charset="0"/>
                <a:ea typeface="Arial" pitchFamily="34" charset="-122"/>
                <a:cs typeface="Arial" pitchFamily="34" charset="-120"/>
              </a:rPr>
              <a:t>No</a:t>
            </a:r>
            <a:endParaRPr lang="en-US" sz="800" dirty="0"/>
          </a:p>
        </p:txBody>
      </p:sp>
      <p:sp>
        <p:nvSpPr>
          <p:cNvPr id="32" name="Shape 30"/>
          <p:cNvSpPr/>
          <p:nvPr/>
        </p:nvSpPr>
        <p:spPr>
          <a:xfrm>
            <a:off x="3108960" y="2212848"/>
            <a:ext cx="0" cy="576072"/>
          </a:xfrm>
          <a:prstGeom prst="line">
            <a:avLst/>
          </a:prstGeom>
          <a:noFill/>
          <a:ln w="12700">
            <a:solidFill>
              <a:srgbClr val="5B7D80"/>
            </a:solidFill>
            <a:prstDash val="solid"/>
            <a:tailEnd type="triangle"/>
          </a:ln>
        </p:spPr>
      </p:sp>
      <p:sp>
        <p:nvSpPr>
          <p:cNvPr id="33" name="Text 31"/>
          <p:cNvSpPr txBox="1"/>
          <p:nvPr/>
        </p:nvSpPr>
        <p:spPr>
          <a:xfrm>
            <a:off x="2240280" y="27889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Injury minor?</a:t>
            </a:r>
            <a:endParaRPr lang="en-US" sz="950" dirty="0"/>
          </a:p>
        </p:txBody>
      </p:sp>
      <p:sp>
        <p:nvSpPr>
          <p:cNvPr id="34" name="Shape 32"/>
          <p:cNvSpPr/>
          <p:nvPr/>
        </p:nvSpPr>
        <p:spPr>
          <a:xfrm flipH="1">
            <a:off x="1965960" y="3108960"/>
            <a:ext cx="274320" cy="0"/>
          </a:xfrm>
          <a:prstGeom prst="line">
            <a:avLst/>
          </a:prstGeom>
          <a:noFill/>
          <a:ln w="12700">
            <a:solidFill>
              <a:srgbClr val="5B7D80"/>
            </a:solidFill>
            <a:prstDash val="solid"/>
            <a:tailEnd type="triangle"/>
          </a:ln>
        </p:spPr>
      </p:sp>
      <p:sp>
        <p:nvSpPr>
          <p:cNvPr id="35" name="Text 33"/>
          <p:cNvSpPr txBox="1"/>
          <p:nvPr/>
        </p:nvSpPr>
        <p:spPr>
          <a:xfrm>
            <a:off x="411480" y="27282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 ~65% (likely more)</a:t>
            </a:r>
            <a:endParaRPr lang="en-US" sz="800" dirty="0"/>
          </a:p>
        </p:txBody>
      </p:sp>
      <p:sp>
        <p:nvSpPr>
          <p:cNvPr id="36" name="Text 34"/>
          <p:cNvSpPr txBox="1"/>
          <p:nvPr/>
        </p:nvSpPr>
        <p:spPr>
          <a:xfrm>
            <a:off x="502920" y="29476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Close at intake — letter, no permanent injury</a:t>
            </a:r>
            <a:endParaRPr lang="en-US" sz="760" dirty="0"/>
          </a:p>
        </p:txBody>
      </p:sp>
      <p:sp>
        <p:nvSpPr>
          <p:cNvPr id="37" name="Shape 35"/>
          <p:cNvSpPr/>
          <p:nvPr/>
        </p:nvSpPr>
        <p:spPr>
          <a:xfrm>
            <a:off x="3977640" y="3108960"/>
            <a:ext cx="274320" cy="0"/>
          </a:xfrm>
          <a:prstGeom prst="line">
            <a:avLst/>
          </a:prstGeom>
          <a:noFill/>
          <a:ln w="12700">
            <a:solidFill>
              <a:srgbClr val="5B7D80"/>
            </a:solidFill>
            <a:prstDash val="solid"/>
            <a:tailEnd type="triangle"/>
          </a:ln>
        </p:spPr>
      </p:sp>
      <p:sp>
        <p:nvSpPr>
          <p:cNvPr id="38" name="Text 36"/>
          <p:cNvSpPr txBox="1"/>
          <p:nvPr/>
        </p:nvSpPr>
        <p:spPr>
          <a:xfrm>
            <a:off x="4251960" y="2672715"/>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39" name="Text 37"/>
          <p:cNvSpPr txBox="1"/>
          <p:nvPr/>
        </p:nvSpPr>
        <p:spPr>
          <a:xfrm>
            <a:off x="4251960" y="2892171"/>
            <a:ext cx="1463040" cy="433578"/>
          </a:xfrm>
          <a:prstGeom prst="roundRect">
            <a:avLst>
              <a:gd name="adj" fmla="val 8436"/>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Claim in IDB: fields checked, task opened, questionnaire</a:t>
            </a:r>
            <a:endParaRPr lang="en-US" sz="760" dirty="0"/>
          </a:p>
        </p:txBody>
      </p:sp>
      <p:sp>
        <p:nvSpPr>
          <p:cNvPr id="40" name="Shape 38"/>
          <p:cNvSpPr/>
          <p:nvPr/>
        </p:nvSpPr>
        <p:spPr>
          <a:xfrm>
            <a:off x="365760" y="4160520"/>
            <a:ext cx="5486400" cy="685800"/>
          </a:xfrm>
          <a:prstGeom prst="roundRect">
            <a:avLst>
              <a:gd name="adj" fmla="val 6667"/>
            </a:avLst>
          </a:prstGeom>
          <a:solidFill>
            <a:srgbClr val="F7F7F5"/>
          </a:solidFill>
          <a:ln w="12700">
            <a:solidFill>
              <a:srgbClr val="D7DCE2"/>
            </a:solidFill>
            <a:prstDash val="solid"/>
          </a:ln>
        </p:spPr>
      </p:sp>
      <p:sp>
        <p:nvSpPr>
          <p:cNvPr id="41" name="Text 39"/>
          <p:cNvSpPr txBox="1"/>
          <p:nvPr/>
        </p:nvSpPr>
        <p:spPr>
          <a:xfrm>
            <a:off x="502920" y="4160520"/>
            <a:ext cx="5212080" cy="685800"/>
          </a:xfrm>
          <a:prstGeom prst="rect">
            <a:avLst/>
          </a:prstGeom>
          <a:noFill/>
          <a:ln/>
        </p:spPr>
        <p:txBody>
          <a:bodyPr wrap="square" lIns="50800" tIns="50800" rIns="50800" bIns="50800" rtlCol="0" anchor="ctr"/>
          <a:lstStyle/>
          <a:p>
            <a:pPr algn="ctr" indent="0" marL="0">
              <a:lnSpc>
                <a:spcPct val="120000"/>
              </a:lnSpc>
              <a:buNone/>
            </a:pPr>
            <a:r>
              <a:rPr lang="en-US" sz="900" dirty="0">
                <a:solidFill>
                  <a:srgbClr val="3A4250"/>
                </a:solidFill>
                <a:latin typeface="Arial" pitchFamily="34" charset="0"/>
                <a:ea typeface="Arial" pitchFamily="34" charset="-122"/>
                <a:cs typeface="Arial" pitchFamily="34" charset="-120"/>
              </a:rPr>
              <a:t>Today: 7 decision gates, 3 entry channels, 10 exception or exit branches across the full FNOL flow.</a:t>
            </a:r>
            <a:endParaRPr lang="en-US" sz="900" dirty="0"/>
          </a:p>
        </p:txBody>
      </p:sp>
      <p:sp>
        <p:nvSpPr>
          <p:cNvPr id="42" name="Text 40"/>
          <p:cNvSpPr txBox="1"/>
          <p:nvPr/>
        </p:nvSpPr>
        <p:spPr>
          <a:xfrm>
            <a:off x="7589520" y="1280160"/>
            <a:ext cx="2926080" cy="201168"/>
          </a:xfrm>
          <a:prstGeom prst="rect">
            <a:avLst/>
          </a:prstGeom>
          <a:noFill/>
          <a:ln/>
        </p:spPr>
        <p:txBody>
          <a:bodyPr wrap="square" lIns="0" tIns="0" rIns="0" bIns="0" rtlCol="0" anchor="ctr"/>
          <a:lstStyle/>
          <a:p>
            <a:pPr algn="ctr" indent="0" marL="0">
              <a:buNone/>
            </a:pPr>
            <a:r>
              <a:rPr lang="en-US" sz="830" i="1" dirty="0">
                <a:solidFill>
                  <a:srgbClr val="5B6472"/>
                </a:solidFill>
                <a:latin typeface="Arial" pitchFamily="34" charset="0"/>
                <a:ea typeface="Arial" pitchFamily="34" charset="-122"/>
                <a:cs typeface="Arial" pitchFamily="34" charset="-120"/>
              </a:rPr>
              <a:t>▲ continued from part 2</a:t>
            </a:r>
            <a:endParaRPr lang="en-US" sz="830" dirty="0"/>
          </a:p>
        </p:txBody>
      </p:sp>
      <p:sp>
        <p:nvSpPr>
          <p:cNvPr id="43" name="Shape 41"/>
          <p:cNvSpPr/>
          <p:nvPr/>
        </p:nvSpPr>
        <p:spPr>
          <a:xfrm>
            <a:off x="9052560" y="1481328"/>
            <a:ext cx="0" cy="164592"/>
          </a:xfrm>
          <a:prstGeom prst="line">
            <a:avLst/>
          </a:prstGeom>
          <a:noFill/>
          <a:ln w="12700">
            <a:solidFill>
              <a:srgbClr val="5B7D80"/>
            </a:solidFill>
            <a:prstDash val="solid"/>
            <a:tailEnd type="triangle"/>
          </a:ln>
        </p:spPr>
      </p:sp>
      <p:sp>
        <p:nvSpPr>
          <p:cNvPr id="44" name="Text 42"/>
          <p:cNvSpPr txBox="1"/>
          <p:nvPr/>
        </p:nvSpPr>
        <p:spPr>
          <a:xfrm>
            <a:off x="6583680" y="1645920"/>
            <a:ext cx="4937760" cy="538734"/>
          </a:xfrm>
          <a:prstGeom prst="roundRect">
            <a:avLst>
              <a:gd name="adj" fmla="val 6789"/>
            </a:avLst>
          </a:prstGeom>
          <a:solidFill>
            <a:srgbClr val="E3EDF6"/>
          </a:solidFill>
          <a:ln w="15875">
            <a:solidFill>
              <a:srgbClr val="3B6FA0"/>
            </a:solidFill>
            <a:prstDash val="solid"/>
          </a:ln>
        </p:spPr>
        <p:txBody>
          <a:bodyPr wrap="square" lIns="38100" tIns="38100" rIns="38100" bIns="38100" rtlCol="0" anchor="ctr"/>
          <a:lstStyle/>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Outcome Drafting Agent</a:t>
            </a:r>
            <a:endParaRPr lang="en-US" sz="1000" dirty="0"/>
          </a:p>
          <a:p>
            <a:pPr algn="ctr" indent="0" marL="0">
              <a:lnSpc>
                <a:spcPct val="108000"/>
              </a:lnSpc>
              <a:buNone/>
            </a:pPr>
            <a:r>
              <a:rPr lang="en-US" sz="1000" b="1" dirty="0">
                <a:solidFill>
                  <a:srgbClr val="1B2430"/>
                </a:solidFill>
                <a:latin typeface="Arial" pitchFamily="34" charset="0"/>
                <a:ea typeface="Arial" pitchFamily="34" charset="-122"/>
                <a:cs typeface="Arial" pitchFamily="34" charset="-120"/>
              </a:rPr>
              <a:t>drafts the close-out letter, or the full IDB record, with its reasoning attached</a:t>
            </a:r>
            <a:endParaRPr lang="en-US" sz="1000" dirty="0"/>
          </a:p>
        </p:txBody>
      </p:sp>
      <p:sp>
        <p:nvSpPr>
          <p:cNvPr id="45" name="Shape 43"/>
          <p:cNvSpPr/>
          <p:nvPr/>
        </p:nvSpPr>
        <p:spPr>
          <a:xfrm>
            <a:off x="9052560" y="2184654"/>
            <a:ext cx="0" cy="201168"/>
          </a:xfrm>
          <a:prstGeom prst="line">
            <a:avLst/>
          </a:prstGeom>
          <a:noFill/>
          <a:ln w="12700">
            <a:solidFill>
              <a:srgbClr val="5B7D80"/>
            </a:solidFill>
            <a:prstDash val="solid"/>
            <a:tailEnd type="triangle"/>
          </a:ln>
        </p:spPr>
      </p:sp>
      <p:sp>
        <p:nvSpPr>
          <p:cNvPr id="46" name="Text 44"/>
          <p:cNvSpPr txBox="1"/>
          <p:nvPr/>
        </p:nvSpPr>
        <p:spPr>
          <a:xfrm>
            <a:off x="7040880" y="2385822"/>
            <a:ext cx="4023360" cy="351790"/>
          </a:xfrm>
          <a:prstGeom prst="roundRect">
            <a:avLst>
              <a:gd name="adj" fmla="val 10397"/>
            </a:avLst>
          </a:prstGeom>
          <a:solidFill>
            <a:srgbClr val="F1E6ED"/>
          </a:solidFill>
          <a:ln w="15875">
            <a:solidFill>
              <a:srgbClr val="7A4A66"/>
            </a:solidFill>
            <a:prstDash val="solid"/>
          </a:ln>
        </p:spPr>
        <p:txBody>
          <a:bodyPr wrap="square" lIns="38100" tIns="38100" rIns="38100" bIns="38100" rtlCol="0" anchor="ctr"/>
          <a:lstStyle/>
          <a:p>
            <a:pPr algn="ctr" indent="0" marL="0">
              <a:lnSpc>
                <a:spcPct val="108000"/>
              </a:lnSpc>
              <a:buNone/>
            </a:pPr>
            <a:r>
              <a:rPr lang="en-US" sz="860" b="1" dirty="0">
                <a:solidFill>
                  <a:srgbClr val="4A2C3B"/>
                </a:solidFill>
                <a:latin typeface="Arial" pitchFamily="34" charset="0"/>
                <a:ea typeface="Arial" pitchFamily="34" charset="-122"/>
                <a:cs typeface="Arial" pitchFamily="34" charset="-120"/>
              </a:rPr>
              <a:t>Handler approves before anything sends — edit rate is the monitored metric, not model accuracy</a:t>
            </a:r>
            <a:endParaRPr lang="en-US" sz="860" dirty="0"/>
          </a:p>
        </p:txBody>
      </p:sp>
      <p:sp>
        <p:nvSpPr>
          <p:cNvPr id="47" name="Shape 45"/>
          <p:cNvSpPr/>
          <p:nvPr/>
        </p:nvSpPr>
        <p:spPr>
          <a:xfrm>
            <a:off x="9052560" y="2737612"/>
            <a:ext cx="0" cy="292608"/>
          </a:xfrm>
          <a:prstGeom prst="line">
            <a:avLst/>
          </a:prstGeom>
          <a:noFill/>
          <a:ln w="12700">
            <a:solidFill>
              <a:srgbClr val="5B7D80"/>
            </a:solidFill>
            <a:prstDash val="solid"/>
            <a:tailEnd type="triangle"/>
          </a:ln>
        </p:spPr>
      </p:sp>
      <p:sp>
        <p:nvSpPr>
          <p:cNvPr id="48" name="Text 46"/>
          <p:cNvSpPr txBox="1"/>
          <p:nvPr/>
        </p:nvSpPr>
        <p:spPr>
          <a:xfrm>
            <a:off x="8183880" y="3030220"/>
            <a:ext cx="1737360" cy="640080"/>
          </a:xfrm>
          <a:prstGeom prst="diamond">
            <a:avLst/>
          </a:prstGeom>
          <a:solidFill>
            <a:srgbClr val="FFFFFF"/>
          </a:solidFill>
          <a:ln w="15875">
            <a:solidFill>
              <a:srgbClr val="5B7D80"/>
            </a:solidFill>
          </a:ln>
        </p:spPr>
        <p:txBody>
          <a:bodyPr wrap="square" lIns="0" tIns="0" rIns="0" bIns="0" rtlCol="0" anchor="ctr"/>
          <a:lstStyle/>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Injury minor?</a:t>
            </a:r>
            <a:endParaRPr lang="en-US" sz="950" dirty="0"/>
          </a:p>
          <a:p>
            <a:pPr algn="ctr" indent="0" marL="0">
              <a:lnSpc>
                <a:spcPct val="100000"/>
              </a:lnSpc>
              <a:buNone/>
            </a:pPr>
            <a:r>
              <a:rPr lang="en-US" sz="950" b="1" dirty="0">
                <a:solidFill>
                  <a:srgbClr val="243038"/>
                </a:solidFill>
                <a:latin typeface="Arial" pitchFamily="34" charset="0"/>
                <a:ea typeface="Arial" pitchFamily="34" charset="-122"/>
                <a:cs typeface="Arial" pitchFamily="34" charset="-120"/>
              </a:rPr>
              <a:t>(~65%)</a:t>
            </a:r>
            <a:endParaRPr lang="en-US" sz="950" dirty="0"/>
          </a:p>
        </p:txBody>
      </p:sp>
      <p:sp>
        <p:nvSpPr>
          <p:cNvPr id="49" name="Shape 47"/>
          <p:cNvSpPr/>
          <p:nvPr/>
        </p:nvSpPr>
        <p:spPr>
          <a:xfrm flipH="1">
            <a:off x="7909560" y="3350260"/>
            <a:ext cx="274320" cy="0"/>
          </a:xfrm>
          <a:prstGeom prst="line">
            <a:avLst/>
          </a:prstGeom>
          <a:noFill/>
          <a:ln w="12700">
            <a:solidFill>
              <a:srgbClr val="5B7D80"/>
            </a:solidFill>
            <a:prstDash val="solid"/>
            <a:tailEnd type="triangle"/>
          </a:ln>
        </p:spPr>
      </p:sp>
      <p:sp>
        <p:nvSpPr>
          <p:cNvPr id="50" name="Text 48"/>
          <p:cNvSpPr txBox="1"/>
          <p:nvPr/>
        </p:nvSpPr>
        <p:spPr>
          <a:xfrm>
            <a:off x="6355080" y="2969514"/>
            <a:ext cx="1645920" cy="182880"/>
          </a:xfrm>
          <a:prstGeom prst="rect">
            <a:avLst/>
          </a:prstGeom>
          <a:noFill/>
          <a:ln/>
        </p:spPr>
        <p:txBody>
          <a:bodyPr wrap="square" lIns="0" tIns="0" rIns="0" bIns="0" rtlCol="0" anchor="ctr"/>
          <a:lstStyle/>
          <a:p>
            <a:pPr algn="r" indent="0" marL="0">
              <a:buNone/>
            </a:pPr>
            <a:r>
              <a:rPr lang="en-US" sz="800" i="1" dirty="0">
                <a:solidFill>
                  <a:srgbClr val="5B6472"/>
                </a:solidFill>
                <a:latin typeface="Arial" pitchFamily="34" charset="0"/>
                <a:ea typeface="Arial" pitchFamily="34" charset="-122"/>
                <a:cs typeface="Arial" pitchFamily="34" charset="-120"/>
              </a:rPr>
              <a:t>Yes</a:t>
            </a:r>
            <a:endParaRPr lang="en-US" sz="800" dirty="0"/>
          </a:p>
        </p:txBody>
      </p:sp>
      <p:sp>
        <p:nvSpPr>
          <p:cNvPr id="51" name="Text 49"/>
          <p:cNvSpPr txBox="1"/>
          <p:nvPr/>
        </p:nvSpPr>
        <p:spPr>
          <a:xfrm>
            <a:off x="6446520" y="31889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Close at intake — AI-drafted, handler approved</a:t>
            </a:r>
            <a:endParaRPr lang="en-US" sz="760" dirty="0"/>
          </a:p>
        </p:txBody>
      </p:sp>
      <p:sp>
        <p:nvSpPr>
          <p:cNvPr id="52" name="Shape 50"/>
          <p:cNvSpPr/>
          <p:nvPr/>
        </p:nvSpPr>
        <p:spPr>
          <a:xfrm>
            <a:off x="9921240" y="3350260"/>
            <a:ext cx="274320" cy="0"/>
          </a:xfrm>
          <a:prstGeom prst="line">
            <a:avLst/>
          </a:prstGeom>
          <a:noFill/>
          <a:ln w="12700">
            <a:solidFill>
              <a:srgbClr val="5B7D80"/>
            </a:solidFill>
            <a:prstDash val="solid"/>
            <a:tailEnd type="triangle"/>
          </a:ln>
        </p:spPr>
      </p:sp>
      <p:sp>
        <p:nvSpPr>
          <p:cNvPr id="53" name="Text 51"/>
          <p:cNvSpPr txBox="1"/>
          <p:nvPr/>
        </p:nvSpPr>
        <p:spPr>
          <a:xfrm>
            <a:off x="10195560" y="2969514"/>
            <a:ext cx="1645920" cy="182880"/>
          </a:xfrm>
          <a:prstGeom prst="rect">
            <a:avLst/>
          </a:prstGeom>
          <a:noFill/>
          <a:ln/>
        </p:spPr>
        <p:txBody>
          <a:bodyPr wrap="square" lIns="0" tIns="0" rIns="0" bIns="0" rtlCol="0" anchor="ctr"/>
          <a:lstStyle/>
          <a:p>
            <a:pPr algn="l" indent="0" marL="0">
              <a:buNone/>
            </a:pPr>
            <a:r>
              <a:rPr lang="en-US" sz="800" i="1" dirty="0">
                <a:solidFill>
                  <a:srgbClr val="5B6472"/>
                </a:solidFill>
                <a:latin typeface="Arial" pitchFamily="34" charset="0"/>
                <a:ea typeface="Arial" pitchFamily="34" charset="-122"/>
                <a:cs typeface="Arial" pitchFamily="34" charset="-120"/>
              </a:rPr>
              <a:t>No</a:t>
            </a:r>
            <a:endParaRPr lang="en-US" sz="800" dirty="0"/>
          </a:p>
        </p:txBody>
      </p:sp>
      <p:sp>
        <p:nvSpPr>
          <p:cNvPr id="54" name="Text 52"/>
          <p:cNvSpPr txBox="1"/>
          <p:nvPr/>
        </p:nvSpPr>
        <p:spPr>
          <a:xfrm>
            <a:off x="10195560" y="3188970"/>
            <a:ext cx="1463040" cy="322580"/>
          </a:xfrm>
          <a:prstGeom prst="roundRect">
            <a:avLst>
              <a:gd name="adj" fmla="val 11339"/>
            </a:avLst>
          </a:prstGeom>
          <a:solidFill>
            <a:srgbClr val="EDF7DB"/>
          </a:solidFill>
          <a:ln w="15875">
            <a:solidFill>
              <a:srgbClr val="6FA01F"/>
            </a:solidFill>
            <a:prstDash val="solid"/>
          </a:ln>
        </p:spPr>
        <p:txBody>
          <a:bodyPr wrap="square" lIns="38100" tIns="38100" rIns="38100" bIns="38100" rtlCol="0" anchor="ctr"/>
          <a:lstStyle/>
          <a:p>
            <a:pPr algn="ctr" indent="0" marL="0">
              <a:lnSpc>
                <a:spcPct val="108000"/>
              </a:lnSpc>
              <a:buNone/>
            </a:pPr>
            <a:r>
              <a:rPr lang="en-US" sz="760" dirty="0">
                <a:solidFill>
                  <a:srgbClr val="33480A"/>
                </a:solidFill>
                <a:latin typeface="Arial" pitchFamily="34" charset="0"/>
                <a:ea typeface="Arial" pitchFamily="34" charset="-122"/>
                <a:cs typeface="Arial" pitchFamily="34" charset="-120"/>
              </a:rPr>
              <a:t>Claim in IDB — runs parallel with Coverage Check</a:t>
            </a:r>
            <a:endParaRPr lang="en-US" sz="760" dirty="0"/>
          </a:p>
        </p:txBody>
      </p:sp>
      <p:sp>
        <p:nvSpPr>
          <p:cNvPr id="55" name="Shape 53"/>
          <p:cNvSpPr/>
          <p:nvPr/>
        </p:nvSpPr>
        <p:spPr>
          <a:xfrm>
            <a:off x="6400800" y="4081780"/>
            <a:ext cx="5303520" cy="914400"/>
          </a:xfrm>
          <a:prstGeom prst="roundRect">
            <a:avLst>
              <a:gd name="adj" fmla="val 5000"/>
            </a:avLst>
          </a:prstGeom>
          <a:solidFill>
            <a:srgbClr val="F7F7F5"/>
          </a:solidFill>
          <a:ln w="12700">
            <a:solidFill>
              <a:srgbClr val="D7DCE2"/>
            </a:solidFill>
            <a:prstDash val="solid"/>
          </a:ln>
        </p:spPr>
      </p:sp>
      <p:sp>
        <p:nvSpPr>
          <p:cNvPr id="56" name="Text 54"/>
          <p:cNvSpPr txBox="1"/>
          <p:nvPr/>
        </p:nvSpPr>
        <p:spPr>
          <a:xfrm>
            <a:off x="6537960" y="4081780"/>
            <a:ext cx="5029200" cy="914400"/>
          </a:xfrm>
          <a:prstGeom prst="rect">
            <a:avLst/>
          </a:prstGeom>
          <a:noFill/>
          <a:ln/>
        </p:spPr>
        <p:txBody>
          <a:bodyPr wrap="square" lIns="50800" tIns="50800" rIns="50800" bIns="50800" rtlCol="0" anchor="ctr"/>
          <a:lstStyle/>
          <a:p>
            <a:pPr algn="ctr" indent="0" marL="0">
              <a:lnSpc>
                <a:spcPct val="120000"/>
              </a:lnSpc>
              <a:buNone/>
            </a:pPr>
            <a:r>
              <a:rPr lang="en-US" sz="900" b="1" dirty="0">
                <a:solidFill>
                  <a:srgbClr val="1B2430"/>
                </a:solidFill>
                <a:latin typeface="Arial" pitchFamily="34" charset="0"/>
                <a:ea typeface="Arial" pitchFamily="34" charset="-122"/>
                <a:cs typeface="Arial" pitchFamily="34" charset="-120"/>
              </a:rPr>
              <a:t>Net result across all three parts:
</a:t>
            </a:r>
            <a:endParaRPr lang="en-US" sz="900" dirty="0"/>
          </a:p>
          <a:p>
            <a:pPr algn="ctr" indent="0" marL="0">
              <a:lnSpc>
                <a:spcPct val="120000"/>
              </a:lnSpc>
              <a:buNone/>
            </a:pPr>
            <a:r>
              <a:rPr lang="en-US" sz="900" dirty="0">
                <a:solidFill>
                  <a:srgbClr val="3A4250"/>
                </a:solidFill>
                <a:latin typeface="Arial" pitchFamily="34" charset="0"/>
                <a:ea typeface="Arial" pitchFamily="34" charset="-122"/>
                <a:cs typeface="Arial" pitchFamily="34" charset="-120"/>
              </a:rPr>
              <a:t>4 LLM agents + 1 rules-only node · 2 human checkpoints kept by design · 3 entry channels → 1 · 3 sequential gates → 1 parallel check · shared claim state carries the audit trail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Coverage Check stops being a second investigation — the evidence is already in the claim</a:t>
            </a:r>
            <a:endParaRPr lang="en-US" sz="1400" dirty="0"/>
          </a:p>
        </p:txBody>
      </p:sp>
      <p:sp>
        <p:nvSpPr>
          <p:cNvPr id="3" name="Text 1"/>
          <p:cNvSpPr txBox="1"/>
          <p:nvPr/>
        </p:nvSpPr>
        <p:spPr>
          <a:xfrm>
            <a:off x="8229600" y="146304"/>
            <a:ext cx="35935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COVERAGE CHECK &amp; HANDOFF</a:t>
            </a:r>
            <a:endParaRPr lang="en-US" sz="950" dirty="0"/>
          </a:p>
        </p:txBody>
      </p:sp>
      <p:sp>
        <p:nvSpPr>
          <p:cNvPr id="4" name="Text 2"/>
          <p:cNvSpPr txBox="1"/>
          <p:nvPr/>
        </p:nvSpPr>
        <p:spPr>
          <a:xfrm>
            <a:off x="365760" y="457200"/>
            <a:ext cx="7589520" cy="219456"/>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Every reason a claim can fail the coverage test, and where each one should be settled</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786384"/>
          <a:ext cx="7589520" cy="914400"/>
        </p:xfrm>
        <a:graphic>
          <a:graphicData uri="http://schemas.openxmlformats.org/drawingml/2006/table">
            <a:tbl>
              <a:tblPr/>
              <a:tblGrid>
                <a:gridCol w="2331720"/>
                <a:gridCol w="1508760"/>
                <a:gridCol w="2514600"/>
                <a:gridCol w="1234440"/>
              </a:tblGrid>
              <a:tr h="310896">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Why coverage looks missing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Today</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Redesigned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3A3A3A"/>
                          </a:solidFill>
                          <a:latin typeface="Arial" pitchFamily="34" charset="0"/>
                          <a:ea typeface="Arial" pitchFamily="34" charset="-122"/>
                          <a:cs typeface="Arial" pitchFamily="34" charset="-120"/>
                        </a:rPr>
                        <a:t>Who decides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Date sits inside a valid policy — no warning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quick manual check</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rules, no model call</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system</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 valid follow-up policy exists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find it, reattach</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registry lookup, reattach drafted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Self-employed, voluntary cover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manual self-check</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registry lookup, rules</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Group or branch policy not surfaced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ask 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agent gathers the evidence, drafts the question</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Company-name mismatch</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ask 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agent fuzzy-matches CVR, drafts the question</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underwriting</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Wrong, expired, or no policy at all</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back to employer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letter drafted, never sent unread</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800" dirty="0">
                          <a:solidFill>
                            <a:srgbClr val="3A3A3A"/>
                          </a:solidFill>
                          <a:latin typeface="Arial" pitchFamily="34" charset="0"/>
                          <a:ea typeface="Arial" pitchFamily="34" charset="-122"/>
                          <a:cs typeface="Arial" pitchFamily="34" charset="-120"/>
                        </a:rPr>
                        <a:t>handler</a:t>
                      </a:r>
                      <a:endParaRPr lang="en-US" sz="80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3310128"/>
            <a:ext cx="7589520" cy="841248"/>
          </a:xfrm>
          <a:prstGeom prst="roundRect">
            <a:avLst>
              <a:gd name="adj" fmla="val 6522"/>
            </a:avLst>
          </a:prstGeom>
          <a:solidFill>
            <a:srgbClr val="E4F4F8"/>
          </a:solidFill>
          <a:ln w="15240">
            <a:solidFill>
              <a:srgbClr val="0891B2"/>
            </a:solidFill>
            <a:prstDash val="solid"/>
          </a:ln>
        </p:spPr>
      </p:sp>
      <p:sp>
        <p:nvSpPr>
          <p:cNvPr id="7" name="Text 4"/>
          <p:cNvSpPr txBox="1"/>
          <p:nvPr/>
        </p:nvSpPr>
        <p:spPr>
          <a:xfrm>
            <a:off x="530352" y="3310128"/>
            <a:ext cx="7260336" cy="841248"/>
          </a:xfrm>
          <a:prstGeom prst="rect">
            <a:avLst/>
          </a:prstGeom>
          <a:noFill/>
          <a:ln/>
        </p:spPr>
        <p:txBody>
          <a:bodyPr wrap="square" lIns="0" tIns="0" rIns="0" bIns="0" rtlCol="0" anchor="ctr"/>
          <a:lstStyle/>
          <a:p>
            <a:pPr indent="0" marL="0">
              <a:lnSpc>
                <a:spcPct val="120000"/>
              </a:lnSpc>
              <a:buNone/>
            </a:pPr>
            <a:r>
              <a:rPr lang="en-US" sz="860" b="1" dirty="0">
                <a:solidFill>
                  <a:srgbClr val="0B5A66"/>
                </a:solidFill>
                <a:latin typeface="Arial" pitchFamily="34" charset="0"/>
                <a:ea typeface="Arial" pitchFamily="34" charset="-122"/>
                <a:cs typeface="Arial" pitchFamily="34" charset="-120"/>
              </a:rPr>
              <a:t>Only two rows change hands.  </a:t>
            </a:r>
            <a:pPr indent="0" marL="0">
              <a:lnSpc>
                <a:spcPct val="120000"/>
              </a:lnSpc>
              <a:buNone/>
            </a:pPr>
            <a:r>
              <a:rPr lang="en-US" sz="860" dirty="0">
                <a:solidFill>
                  <a:srgbClr val="34474A"/>
                </a:solidFill>
                <a:latin typeface="Arial" pitchFamily="34" charset="0"/>
                <a:ea typeface="Arial" pitchFamily="34" charset="-122"/>
                <a:cs typeface="Arial" pitchFamily="34" charset="-120"/>
              </a:rPr>
              <a:t>Four of the six are lookups against a register the insurer already queries — those become rules with no model call at all. The two that genuinely need judgement still go to underwriting, because that authority is not ours to take. The AI's job there is to arrive with the evidence assembled, not to answer the question.</a:t>
            </a:r>
            <a:endParaRPr lang="en-US" sz="860" dirty="0"/>
          </a:p>
        </p:txBody>
      </p:sp>
      <p:sp>
        <p:nvSpPr>
          <p:cNvPr id="8" name="Shape 5"/>
          <p:cNvSpPr/>
          <p:nvPr/>
        </p:nvSpPr>
        <p:spPr>
          <a:xfrm>
            <a:off x="365760" y="4261104"/>
            <a:ext cx="7589520" cy="1700784"/>
          </a:xfrm>
          <a:prstGeom prst="roundRect">
            <a:avLst>
              <a:gd name="adj" fmla="val 3226"/>
            </a:avLst>
          </a:prstGeom>
          <a:solidFill>
            <a:srgbClr val="FFFFFF"/>
          </a:solidFill>
          <a:ln w="12700">
            <a:solidFill>
              <a:srgbClr val="D7DCE2"/>
            </a:solidFill>
            <a:prstDash val="solid"/>
          </a:ln>
        </p:spPr>
      </p:sp>
      <p:sp>
        <p:nvSpPr>
          <p:cNvPr id="9" name="Text 6"/>
          <p:cNvSpPr txBox="1"/>
          <p:nvPr/>
        </p:nvSpPr>
        <p:spPr>
          <a:xfrm>
            <a:off x="548640" y="4370832"/>
            <a:ext cx="7223760" cy="201168"/>
          </a:xfrm>
          <a:prstGeom prst="rect">
            <a:avLst/>
          </a:prstGeom>
          <a:noFill/>
          <a:ln/>
        </p:spPr>
        <p:txBody>
          <a:bodyPr wrap="square" lIns="0" tIns="0" rIns="0" bIns="0" rtlCol="0" anchor="ctr"/>
          <a:lstStyle/>
          <a:p>
            <a:pPr indent="0" marL="0">
              <a:buNone/>
            </a:pPr>
            <a:r>
              <a:rPr lang="en-US" sz="900" b="1" spc="80" kern="0" dirty="0">
                <a:solidFill>
                  <a:srgbClr val="D97706"/>
                </a:solidFill>
                <a:latin typeface="Arial" pitchFamily="34" charset="0"/>
                <a:ea typeface="Arial" pitchFamily="34" charset="-122"/>
                <a:cs typeface="Arial" pitchFamily="34" charset="-120"/>
              </a:rPr>
              <a:t>WHAT THIS REMOVES</a:t>
            </a:r>
            <a:endParaRPr lang="en-US" sz="900" dirty="0"/>
          </a:p>
        </p:txBody>
      </p:sp>
      <p:sp>
        <p:nvSpPr>
          <p:cNvPr id="10" name="Shape 7"/>
          <p:cNvSpPr/>
          <p:nvPr/>
        </p:nvSpPr>
        <p:spPr>
          <a:xfrm>
            <a:off x="548640" y="4645152"/>
            <a:ext cx="36576" cy="347472"/>
          </a:xfrm>
          <a:prstGeom prst="rect">
            <a:avLst/>
          </a:prstGeom>
          <a:solidFill>
            <a:srgbClr val="D97706"/>
          </a:solidFill>
          <a:ln/>
        </p:spPr>
      </p:sp>
      <p:sp>
        <p:nvSpPr>
          <p:cNvPr id="11" name="Text 8"/>
          <p:cNvSpPr txBox="1"/>
          <p:nvPr/>
        </p:nvSpPr>
        <p:spPr>
          <a:xfrm>
            <a:off x="676656" y="4626864"/>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The second look at the policy</a:t>
            </a:r>
            <a:endParaRPr lang="en-US" sz="840" dirty="0"/>
          </a:p>
        </p:txBody>
      </p:sp>
      <p:sp>
        <p:nvSpPr>
          <p:cNvPr id="12" name="Text 9"/>
          <p:cNvSpPr txBox="1"/>
          <p:nvPr/>
        </p:nvSpPr>
        <p:spPr>
          <a:xfrm>
            <a:off x="3200400" y="4626864"/>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FNOL already asked “is a valid policy attached?”. Coverage Check asks it again, from the same documents.</a:t>
            </a:r>
            <a:endParaRPr lang="en-US" sz="800" dirty="0"/>
          </a:p>
        </p:txBody>
      </p:sp>
      <p:sp>
        <p:nvSpPr>
          <p:cNvPr id="13" name="Shape 10"/>
          <p:cNvSpPr/>
          <p:nvPr/>
        </p:nvSpPr>
        <p:spPr>
          <a:xfrm>
            <a:off x="548640" y="5065776"/>
            <a:ext cx="36576" cy="347472"/>
          </a:xfrm>
          <a:prstGeom prst="rect">
            <a:avLst/>
          </a:prstGeom>
          <a:solidFill>
            <a:srgbClr val="D97706"/>
          </a:solidFill>
          <a:ln/>
        </p:spPr>
      </p:sp>
      <p:sp>
        <p:nvSpPr>
          <p:cNvPr id="14" name="Text 11"/>
          <p:cNvSpPr txBox="1"/>
          <p:nvPr/>
        </p:nvSpPr>
        <p:spPr>
          <a:xfrm>
            <a:off x="676656" y="5047488"/>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The wait between the two</a:t>
            </a:r>
            <a:endParaRPr lang="en-US" sz="840" dirty="0"/>
          </a:p>
        </p:txBody>
      </p:sp>
      <p:sp>
        <p:nvSpPr>
          <p:cNvPr id="15" name="Text 12"/>
          <p:cNvSpPr txBox="1"/>
          <p:nvPr/>
        </p:nvSpPr>
        <p:spPr>
          <a:xfrm>
            <a:off x="3200400" y="5047488"/>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Today the claim sits in IDB until someone picks up the coverage step. It now runs beside claim creation, not after it.</a:t>
            </a:r>
            <a:endParaRPr lang="en-US" sz="800" dirty="0"/>
          </a:p>
        </p:txBody>
      </p:sp>
      <p:sp>
        <p:nvSpPr>
          <p:cNvPr id="16" name="Shape 13"/>
          <p:cNvSpPr/>
          <p:nvPr/>
        </p:nvSpPr>
        <p:spPr>
          <a:xfrm>
            <a:off x="548640" y="5486400"/>
            <a:ext cx="36576" cy="347472"/>
          </a:xfrm>
          <a:prstGeom prst="rect">
            <a:avLst/>
          </a:prstGeom>
          <a:solidFill>
            <a:srgbClr val="D97706"/>
          </a:solidFill>
          <a:ln/>
        </p:spPr>
      </p:sp>
      <p:sp>
        <p:nvSpPr>
          <p:cNvPr id="17" name="Text 14"/>
          <p:cNvSpPr txBox="1"/>
          <p:nvPr/>
        </p:nvSpPr>
        <p:spPr>
          <a:xfrm>
            <a:off x="676656" y="5468112"/>
            <a:ext cx="2468880" cy="365760"/>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Re-reading the file to ask underwriting</a:t>
            </a:r>
            <a:endParaRPr lang="en-US" sz="840" dirty="0"/>
          </a:p>
        </p:txBody>
      </p:sp>
      <p:sp>
        <p:nvSpPr>
          <p:cNvPr id="18" name="Text 15"/>
          <p:cNvSpPr txBox="1"/>
          <p:nvPr/>
        </p:nvSpPr>
        <p:spPr>
          <a:xfrm>
            <a:off x="3200400" y="5468112"/>
            <a:ext cx="4572000" cy="365760"/>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question arrives with the policy history, the CVR match and the dates already attached.</a:t>
            </a:r>
            <a:endParaRPr lang="en-US" sz="800" dirty="0"/>
          </a:p>
        </p:txBody>
      </p:sp>
      <p:sp>
        <p:nvSpPr>
          <p:cNvPr id="19" name="Shape 16"/>
          <p:cNvSpPr/>
          <p:nvPr/>
        </p:nvSpPr>
        <p:spPr>
          <a:xfrm>
            <a:off x="8138160" y="786384"/>
            <a:ext cx="3685032" cy="5175504"/>
          </a:xfrm>
          <a:prstGeom prst="roundRect">
            <a:avLst>
              <a:gd name="adj" fmla="val 1489"/>
            </a:avLst>
          </a:prstGeom>
          <a:solidFill>
            <a:srgbClr val="EDECFB"/>
          </a:solidFill>
          <a:ln w="16510">
            <a:solidFill>
              <a:srgbClr val="4338CA"/>
            </a:solidFill>
            <a:prstDash val="solid"/>
          </a:ln>
        </p:spPr>
      </p:sp>
      <p:sp>
        <p:nvSpPr>
          <p:cNvPr id="20" name="Text 17"/>
          <p:cNvSpPr txBox="1"/>
          <p:nvPr/>
        </p:nvSpPr>
        <p:spPr>
          <a:xfrm>
            <a:off x="8339328" y="914400"/>
            <a:ext cx="3282696" cy="219456"/>
          </a:xfrm>
          <a:prstGeom prst="rect">
            <a:avLst/>
          </a:prstGeom>
          <a:noFill/>
          <a:ln/>
        </p:spPr>
        <p:txBody>
          <a:bodyPr wrap="square" lIns="0" tIns="0" rIns="0" bIns="0" rtlCol="0" anchor="ctr"/>
          <a:lstStyle/>
          <a:p>
            <a:pPr indent="0" marL="0">
              <a:buNone/>
            </a:pPr>
            <a:r>
              <a:rPr lang="en-US" sz="1000" b="1" spc="90" kern="0" dirty="0">
                <a:solidFill>
                  <a:srgbClr val="4338CA"/>
                </a:solidFill>
                <a:latin typeface="Arial" pitchFamily="34" charset="0"/>
                <a:ea typeface="Arial" pitchFamily="34" charset="-122"/>
                <a:cs typeface="Arial" pitchFamily="34" charset="-120"/>
              </a:rPr>
              <a:t>THE HANDOFF</a:t>
            </a:r>
            <a:endParaRPr lang="en-US" sz="1000" dirty="0"/>
          </a:p>
        </p:txBody>
      </p:sp>
      <p:sp>
        <p:nvSpPr>
          <p:cNvPr id="21" name="Text 18"/>
          <p:cNvSpPr txBox="1"/>
          <p:nvPr/>
        </p:nvSpPr>
        <p:spPr>
          <a:xfrm>
            <a:off x="8339328" y="1152144"/>
            <a:ext cx="3282696" cy="475488"/>
          </a:xfrm>
          <a:prstGeom prst="rect">
            <a:avLst/>
          </a:prstGeom>
          <a:noFill/>
          <a:ln/>
        </p:spPr>
        <p:txBody>
          <a:bodyPr wrap="square" lIns="0" tIns="0" rIns="0" bIns="0" rtlCol="0" anchor="ctr"/>
          <a:lstStyle/>
          <a:p>
            <a:pPr indent="0" marL="0">
              <a:lnSpc>
                <a:spcPct val="115000"/>
              </a:lnSpc>
              <a:buNone/>
            </a:pPr>
            <a:r>
              <a:rPr lang="en-US" sz="820" i="1" dirty="0">
                <a:solidFill>
                  <a:srgbClr val="3A3A5E"/>
                </a:solidFill>
                <a:latin typeface="Arial" pitchFamily="34" charset="0"/>
                <a:ea typeface="Arial" pitchFamily="34" charset="-122"/>
                <a:cs typeface="Arial" pitchFamily="34" charset="-120"/>
              </a:rPr>
              <a:t>The brief asks about the join between the two workflows. Today it is a queue. In the redesign there is nothing to hand over.</a:t>
            </a:r>
            <a:endParaRPr lang="en-US" sz="820" dirty="0"/>
          </a:p>
        </p:txBody>
      </p:sp>
      <p:sp>
        <p:nvSpPr>
          <p:cNvPr id="22" name="Text 19"/>
          <p:cNvSpPr txBox="1"/>
          <p:nvPr/>
        </p:nvSpPr>
        <p:spPr>
          <a:xfrm>
            <a:off x="8339328" y="1700784"/>
            <a:ext cx="3282696" cy="182880"/>
          </a:xfrm>
          <a:prstGeom prst="rect">
            <a:avLst/>
          </a:prstGeom>
          <a:noFill/>
          <a:ln/>
        </p:spPr>
        <p:txBody>
          <a:bodyPr wrap="square" lIns="0" tIns="0" rIns="0" bIns="0" rtlCol="0" anchor="ctr"/>
          <a:lstStyle/>
          <a:p>
            <a:pPr indent="0" marL="0">
              <a:buNone/>
            </a:pPr>
            <a:r>
              <a:rPr lang="en-US" sz="840" b="1" spc="100" kern="0" dirty="0">
                <a:solidFill>
                  <a:srgbClr val="6A6A7E"/>
                </a:solidFill>
                <a:latin typeface="Arial" pitchFamily="34" charset="0"/>
                <a:ea typeface="Arial" pitchFamily="34" charset="-122"/>
                <a:cs typeface="Arial" pitchFamily="34" charset="-120"/>
              </a:rPr>
              <a:t>TODAY</a:t>
            </a:r>
            <a:endParaRPr lang="en-US" sz="840" dirty="0"/>
          </a:p>
        </p:txBody>
      </p:sp>
      <p:sp>
        <p:nvSpPr>
          <p:cNvPr id="23" name="Text 20"/>
          <p:cNvSpPr txBox="1"/>
          <p:nvPr/>
        </p:nvSpPr>
        <p:spPr>
          <a:xfrm>
            <a:off x="8339328" y="1920240"/>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FNOL closes. The claim is written to IDB.</a:t>
            </a:r>
            <a:endParaRPr lang="en-US" sz="820" dirty="0"/>
          </a:p>
        </p:txBody>
      </p:sp>
      <p:sp>
        <p:nvSpPr>
          <p:cNvPr id="24" name="Text 21"/>
          <p:cNvSpPr txBox="1"/>
          <p:nvPr/>
        </p:nvSpPr>
        <p:spPr>
          <a:xfrm>
            <a:off x="8339328" y="2231136"/>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It waits in a queue for the coverage step.</a:t>
            </a:r>
            <a:endParaRPr lang="en-US" sz="820" dirty="0"/>
          </a:p>
        </p:txBody>
      </p:sp>
      <p:sp>
        <p:nvSpPr>
          <p:cNvPr id="25" name="Text 22"/>
          <p:cNvSpPr txBox="1"/>
          <p:nvPr/>
        </p:nvSpPr>
        <p:spPr>
          <a:xfrm>
            <a:off x="8339328" y="2542032"/>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A second person opens the same documents.</a:t>
            </a:r>
            <a:endParaRPr lang="en-US" sz="820" dirty="0"/>
          </a:p>
        </p:txBody>
      </p:sp>
      <p:sp>
        <p:nvSpPr>
          <p:cNvPr id="26" name="Text 23"/>
          <p:cNvSpPr txBox="1"/>
          <p:nvPr/>
        </p:nvSpPr>
        <p:spPr>
          <a:xfrm>
            <a:off x="8339328" y="2852928"/>
            <a:ext cx="3282696" cy="292608"/>
          </a:xfrm>
          <a:prstGeom prst="rect">
            <a:avLst/>
          </a:prstGeom>
          <a:noFill/>
          <a:ln/>
        </p:spPr>
        <p:txBody>
          <a:bodyPr wrap="square" lIns="0" tIns="0" rIns="0" bIns="0" rtlCol="0" anchor="ctr"/>
          <a:lstStyle/>
          <a:p>
            <a:pPr indent="0" marL="0">
              <a:lnSpc>
                <a:spcPct val="115000"/>
              </a:lnSpc>
              <a:buNone/>
            </a:pPr>
            <a:r>
              <a:rPr lang="en-US" sz="820" dirty="0">
                <a:solidFill>
                  <a:srgbClr val="4A4A5E"/>
                </a:solidFill>
                <a:latin typeface="Arial" pitchFamily="34" charset="0"/>
                <a:ea typeface="Arial" pitchFamily="34" charset="-122"/>
                <a:cs typeface="Arial" pitchFamily="34" charset="-120"/>
              </a:rPr>
              <a:t>•  They re-ask a question FNOL already asked.</a:t>
            </a:r>
            <a:endParaRPr lang="en-US" sz="820" dirty="0"/>
          </a:p>
        </p:txBody>
      </p:sp>
      <p:sp>
        <p:nvSpPr>
          <p:cNvPr id="27" name="Text 24"/>
          <p:cNvSpPr txBox="1"/>
          <p:nvPr/>
        </p:nvSpPr>
        <p:spPr>
          <a:xfrm>
            <a:off x="8339328" y="3291840"/>
            <a:ext cx="3282696" cy="182880"/>
          </a:xfrm>
          <a:prstGeom prst="rect">
            <a:avLst/>
          </a:prstGeom>
          <a:noFill/>
          <a:ln/>
        </p:spPr>
        <p:txBody>
          <a:bodyPr wrap="square" lIns="0" tIns="0" rIns="0" bIns="0" rtlCol="0" anchor="ctr"/>
          <a:lstStyle/>
          <a:p>
            <a:pPr indent="0" marL="0">
              <a:buNone/>
            </a:pPr>
            <a:r>
              <a:rPr lang="en-US" sz="840" b="1" spc="100" kern="0" dirty="0">
                <a:solidFill>
                  <a:srgbClr val="4338CA"/>
                </a:solidFill>
                <a:latin typeface="Arial" pitchFamily="34" charset="0"/>
                <a:ea typeface="Arial" pitchFamily="34" charset="-122"/>
                <a:cs typeface="Arial" pitchFamily="34" charset="-120"/>
              </a:rPr>
              <a:t>REDESIGNED</a:t>
            </a:r>
            <a:endParaRPr lang="en-US" sz="840" dirty="0"/>
          </a:p>
        </p:txBody>
      </p:sp>
      <p:sp>
        <p:nvSpPr>
          <p:cNvPr id="28" name="Text 25"/>
          <p:cNvSpPr txBox="1"/>
          <p:nvPr/>
        </p:nvSpPr>
        <p:spPr>
          <a:xfrm>
            <a:off x="8339328" y="3511296"/>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One state graph spans both workflows.</a:t>
            </a:r>
            <a:endParaRPr lang="en-US" sz="820" dirty="0"/>
          </a:p>
        </p:txBody>
      </p:sp>
      <p:sp>
        <p:nvSpPr>
          <p:cNvPr id="29" name="Text 26"/>
          <p:cNvSpPr txBox="1"/>
          <p:nvPr/>
        </p:nvSpPr>
        <p:spPr>
          <a:xfrm>
            <a:off x="8339328" y="3895344"/>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Extraction captures policy, dates, CVR and employment status once.</a:t>
            </a:r>
            <a:endParaRPr lang="en-US" sz="820" dirty="0"/>
          </a:p>
        </p:txBody>
      </p:sp>
      <p:sp>
        <p:nvSpPr>
          <p:cNvPr id="30" name="Text 27"/>
          <p:cNvSpPr txBox="1"/>
          <p:nvPr/>
        </p:nvSpPr>
        <p:spPr>
          <a:xfrm>
            <a:off x="8339328" y="4279392"/>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Coverage is a rules pass over state that already exists.</a:t>
            </a:r>
            <a:endParaRPr lang="en-US" sz="820" dirty="0"/>
          </a:p>
        </p:txBody>
      </p:sp>
      <p:sp>
        <p:nvSpPr>
          <p:cNvPr id="31" name="Text 28"/>
          <p:cNvSpPr txBox="1"/>
          <p:nvPr/>
        </p:nvSpPr>
        <p:spPr>
          <a:xfrm>
            <a:off x="8339328" y="4663440"/>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It runs beside claim creation, not after it.</a:t>
            </a:r>
            <a:endParaRPr lang="en-US" sz="820" dirty="0"/>
          </a:p>
        </p:txBody>
      </p:sp>
      <p:sp>
        <p:nvSpPr>
          <p:cNvPr id="32" name="Text 29"/>
          <p:cNvSpPr txBox="1"/>
          <p:nvPr/>
        </p:nvSpPr>
        <p:spPr>
          <a:xfrm>
            <a:off x="8339328" y="5047488"/>
            <a:ext cx="3282696" cy="402336"/>
          </a:xfrm>
          <a:prstGeom prst="rect">
            <a:avLst/>
          </a:prstGeom>
          <a:noFill/>
          <a:ln/>
        </p:spPr>
        <p:txBody>
          <a:bodyPr wrap="square" lIns="0" tIns="0" rIns="0" bIns="0" rtlCol="0" anchor="ctr"/>
          <a:lstStyle/>
          <a:p>
            <a:pPr indent="0" marL="0">
              <a:lnSpc>
                <a:spcPct val="115000"/>
              </a:lnSpc>
              <a:buNone/>
            </a:pPr>
            <a:r>
              <a:rPr lang="en-US" sz="820" dirty="0">
                <a:solidFill>
                  <a:srgbClr val="2A2A3E"/>
                </a:solidFill>
                <a:latin typeface="Arial" pitchFamily="34" charset="0"/>
                <a:ea typeface="Arial" pitchFamily="34" charset="-122"/>
                <a:cs typeface="Arial" pitchFamily="34" charset="-120"/>
              </a:rPr>
              <a:t>•  Only the exceptions become anyone's work.</a:t>
            </a:r>
            <a:endParaRPr lang="en-US" sz="820" dirty="0"/>
          </a:p>
        </p:txBody>
      </p:sp>
      <p:sp>
        <p:nvSpPr>
          <p:cNvPr id="33" name="Shape 30"/>
          <p:cNvSpPr/>
          <p:nvPr/>
        </p:nvSpPr>
        <p:spPr>
          <a:xfrm>
            <a:off x="8339328" y="5431536"/>
            <a:ext cx="3282696" cy="402336"/>
          </a:xfrm>
          <a:prstGeom prst="roundRect">
            <a:avLst>
              <a:gd name="adj" fmla="val 11364"/>
            </a:avLst>
          </a:prstGeom>
          <a:solidFill>
            <a:srgbClr val="FFFFFF"/>
          </a:solidFill>
          <a:ln w="12700">
            <a:solidFill>
              <a:srgbClr val="4338CA"/>
            </a:solidFill>
            <a:prstDash val="solid"/>
          </a:ln>
        </p:spPr>
      </p:sp>
      <p:sp>
        <p:nvSpPr>
          <p:cNvPr id="34" name="Text 31"/>
          <p:cNvSpPr txBox="1"/>
          <p:nvPr/>
        </p:nvSpPr>
        <p:spPr>
          <a:xfrm>
            <a:off x="8430768" y="5431536"/>
            <a:ext cx="3099816" cy="402336"/>
          </a:xfrm>
          <a:prstGeom prst="rect">
            <a:avLst/>
          </a:prstGeom>
          <a:noFill/>
          <a:ln/>
        </p:spPr>
        <p:txBody>
          <a:bodyPr wrap="square" lIns="0" tIns="0" rIns="0" bIns="0" rtlCol="0" anchor="ctr"/>
          <a:lstStyle/>
          <a:p>
            <a:pPr algn="ctr" indent="0" marL="0">
              <a:buNone/>
            </a:pPr>
            <a:r>
              <a:rPr lang="en-US" sz="820" b="1" dirty="0">
                <a:solidFill>
                  <a:srgbClr val="4338CA"/>
                </a:solidFill>
                <a:latin typeface="Arial" pitchFamily="34" charset="0"/>
                <a:ea typeface="Arial" pitchFamily="34" charset="-122"/>
                <a:cs typeface="Arial" pitchFamily="34" charset="-120"/>
              </a:rPr>
              <a:t>A handoff you delete cannot be the thing that breaks.</a:t>
            </a:r>
            <a:endParaRPr lang="en-US" sz="820" dirty="0"/>
          </a:p>
        </p:txBody>
      </p:sp>
      <p:sp>
        <p:nvSpPr>
          <p:cNvPr id="35" name="Text 32"/>
          <p:cNvSpPr txBox="1"/>
          <p:nvPr/>
        </p:nvSpPr>
        <p:spPr>
          <a:xfrm>
            <a:off x="365760" y="6053328"/>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Causes and their handling are taken from Diagram 2 of the brief · “who decides” is the design choice, not an observation</a:t>
            </a:r>
            <a:endParaRPr lang="en-US" sz="700" dirty="0"/>
          </a:p>
        </p:txBody>
      </p:sp>
      <p:sp>
        <p:nvSpPr>
          <p:cNvPr id="36" name="Text 33"/>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37" name="Text 34"/>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5 / 9</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Start where a mistake is cheap — that is what earns the trust the bigger wins depend on</a:t>
            </a:r>
            <a:endParaRPr lang="en-US" sz="1400" dirty="0"/>
          </a:p>
        </p:txBody>
      </p:sp>
      <p:sp>
        <p:nvSpPr>
          <p:cNvPr id="3" name="Text 1"/>
          <p:cNvSpPr txBox="1"/>
          <p:nvPr/>
        </p:nvSpPr>
        <p:spPr>
          <a:xfrm>
            <a:off x="9509760" y="146304"/>
            <a:ext cx="23134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SEQUENCING</a:t>
            </a:r>
            <a:endParaRPr lang="en-US" sz="950" dirty="0"/>
          </a:p>
        </p:txBody>
      </p:sp>
      <p:sp>
        <p:nvSpPr>
          <p:cNvPr id="4" name="Text 2"/>
          <p:cNvSpPr txBox="1"/>
          <p:nvPr/>
        </p:nvSpPr>
        <p:spPr>
          <a:xfrm>
            <a:off x="365760" y="457200"/>
            <a:ext cx="11430000" cy="237744"/>
          </a:xfrm>
          <a:prstGeom prst="rect">
            <a:avLst/>
          </a:prstGeom>
          <a:noFill/>
          <a:ln/>
        </p:spPr>
        <p:txBody>
          <a:bodyPr wrap="square" lIns="0" tIns="0" rIns="0" bIns="0" rtlCol="0" anchor="ctr"/>
          <a:lstStyle/>
          <a:p>
            <a:pPr indent="0" marL="0">
              <a:buNone/>
            </a:pPr>
            <a:r>
              <a:rPr lang="en-US" sz="950" dirty="0">
                <a:solidFill>
                  <a:srgbClr val="5B6472"/>
                </a:solidFill>
                <a:latin typeface="Arial" pitchFamily="34" charset="0"/>
                <a:ea typeface="Arial" pitchFamily="34" charset="-122"/>
                <a:cs typeface="Arial" pitchFamily="34" charset="-120"/>
              </a:rPr>
              <a:t>“Hard” means build effort and regulatory exposure together, not just weeks of work</a:t>
            </a:r>
            <a:endParaRPr lang="en-US" sz="950" dirty="0"/>
          </a:p>
        </p:txBody>
      </p:sp>
      <p:sp>
        <p:nvSpPr>
          <p:cNvPr id="5" name="Text 3"/>
          <p:cNvSpPr txBox="1"/>
          <p:nvPr/>
        </p:nvSpPr>
        <p:spPr>
          <a:xfrm rot="16200000">
            <a:off x="18288" y="3072384"/>
            <a:ext cx="1600200" cy="256032"/>
          </a:xfrm>
          <a:prstGeom prst="rect">
            <a:avLst/>
          </a:prstGeom>
          <a:noFill/>
          <a:ln/>
        </p:spPr>
        <p:txBody>
          <a:bodyPr wrap="square" lIns="0" tIns="0" rIns="0" bIns="0" rtlCol="0" anchor="ctr"/>
          <a:lstStyle/>
          <a:p>
            <a:pPr algn="ctr" indent="0" marL="0">
              <a:buNone/>
            </a:pPr>
            <a:r>
              <a:rPr lang="en-US" sz="800" b="1" dirty="0">
                <a:solidFill>
                  <a:srgbClr val="5B6472"/>
                </a:solidFill>
                <a:latin typeface="Arial" pitchFamily="34" charset="0"/>
                <a:ea typeface="Arial" pitchFamily="34" charset="-122"/>
                <a:cs typeface="Arial" pitchFamily="34" charset="-120"/>
              </a:rPr>
              <a:t>HOW OFTEN IT HAPPENS  →</a:t>
            </a:r>
            <a:endParaRPr lang="en-US" sz="800" dirty="0"/>
          </a:p>
        </p:txBody>
      </p:sp>
      <p:sp>
        <p:nvSpPr>
          <p:cNvPr id="6" name="Text 4"/>
          <p:cNvSpPr txBox="1"/>
          <p:nvPr/>
        </p:nvSpPr>
        <p:spPr>
          <a:xfrm>
            <a:off x="1051560" y="5577840"/>
            <a:ext cx="7863840" cy="219456"/>
          </a:xfrm>
          <a:prstGeom prst="rect">
            <a:avLst/>
          </a:prstGeom>
          <a:noFill/>
          <a:ln/>
        </p:spPr>
        <p:txBody>
          <a:bodyPr wrap="square" lIns="0" tIns="0" rIns="0" bIns="0" rtlCol="0" anchor="ctr"/>
          <a:lstStyle/>
          <a:p>
            <a:pPr algn="ctr" indent="0" marL="0">
              <a:buNone/>
            </a:pPr>
            <a:r>
              <a:rPr lang="en-US" sz="800" b="1" dirty="0">
                <a:solidFill>
                  <a:srgbClr val="5B6472"/>
                </a:solidFill>
                <a:latin typeface="Arial" pitchFamily="34" charset="0"/>
                <a:ea typeface="Arial" pitchFamily="34" charset="-122"/>
                <a:cs typeface="Arial" pitchFamily="34" charset="-120"/>
              </a:rPr>
              <a:t>HOW HARD AND HOW RISKY IT IS  →</a:t>
            </a:r>
            <a:endParaRPr lang="en-US" sz="800" dirty="0"/>
          </a:p>
        </p:txBody>
      </p:sp>
      <p:sp>
        <p:nvSpPr>
          <p:cNvPr id="7" name="Shape 5"/>
          <p:cNvSpPr/>
          <p:nvPr/>
        </p:nvSpPr>
        <p:spPr>
          <a:xfrm>
            <a:off x="1051560" y="914400"/>
            <a:ext cx="3931920" cy="2286000"/>
          </a:xfrm>
          <a:prstGeom prst="rect">
            <a:avLst/>
          </a:prstGeom>
          <a:solidFill>
            <a:srgbClr val="FDF3E3"/>
          </a:solidFill>
          <a:ln w="31750">
            <a:solidFill>
              <a:srgbClr val="FFFFFF"/>
            </a:solidFill>
            <a:prstDash val="solid"/>
          </a:ln>
        </p:spPr>
      </p:sp>
      <p:sp>
        <p:nvSpPr>
          <p:cNvPr id="8" name="Text 6"/>
          <p:cNvSpPr txBox="1"/>
          <p:nvPr/>
        </p:nvSpPr>
        <p:spPr>
          <a:xfrm>
            <a:off x="1234440" y="1060704"/>
            <a:ext cx="3566160" cy="237744"/>
          </a:xfrm>
          <a:prstGeom prst="rect">
            <a:avLst/>
          </a:prstGeom>
          <a:noFill/>
          <a:ln/>
        </p:spPr>
        <p:txBody>
          <a:bodyPr wrap="square" lIns="0" tIns="0" rIns="0" bIns="0" rtlCol="0" anchor="ctr"/>
          <a:lstStyle/>
          <a:p>
            <a:pPr indent="0" marL="0">
              <a:buNone/>
            </a:pPr>
            <a:r>
              <a:rPr lang="en-US" sz="1000" b="1" spc="80" kern="0" dirty="0">
                <a:solidFill>
                  <a:srgbClr val="D97706"/>
                </a:solidFill>
                <a:latin typeface="Arial" pitchFamily="34" charset="0"/>
                <a:ea typeface="Arial" pitchFamily="34" charset="-122"/>
                <a:cs typeface="Arial" pitchFamily="34" charset="-120"/>
              </a:rPr>
              <a:t>WAVE 1 — START HERE</a:t>
            </a:r>
            <a:endParaRPr lang="en-US" sz="1000" dirty="0"/>
          </a:p>
        </p:txBody>
      </p:sp>
      <p:sp>
        <p:nvSpPr>
          <p:cNvPr id="9" name="Text 7"/>
          <p:cNvSpPr txBox="1"/>
          <p:nvPr/>
        </p:nvSpPr>
        <p:spPr>
          <a:xfrm>
            <a:off x="1234440" y="1298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cheap to get wrong, happens constantly</a:t>
            </a:r>
            <a:endParaRPr lang="en-US" sz="800" dirty="0"/>
          </a:p>
        </p:txBody>
      </p:sp>
      <p:sp>
        <p:nvSpPr>
          <p:cNvPr id="10" name="Shape 8"/>
          <p:cNvSpPr/>
          <p:nvPr/>
        </p:nvSpPr>
        <p:spPr>
          <a:xfrm>
            <a:off x="1280160" y="1627632"/>
            <a:ext cx="3474720" cy="566928"/>
          </a:xfrm>
          <a:prstGeom prst="roundRect">
            <a:avLst>
              <a:gd name="adj" fmla="val 8065"/>
            </a:avLst>
          </a:prstGeom>
          <a:solidFill>
            <a:srgbClr val="FFFFFF"/>
          </a:solidFill>
          <a:ln w="15240">
            <a:solidFill>
              <a:srgbClr val="D97706"/>
            </a:solidFill>
            <a:prstDash val="solid"/>
          </a:ln>
        </p:spPr>
      </p:sp>
      <p:sp>
        <p:nvSpPr>
          <p:cNvPr id="11" name="Text 9"/>
          <p:cNvSpPr txBox="1"/>
          <p:nvPr/>
        </p:nvSpPr>
        <p:spPr>
          <a:xfrm>
            <a:off x="1417320" y="1627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Read the claim and classify it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ends the one-person dependency on teeth claims</a:t>
            </a:r>
            <a:endParaRPr lang="en-US" sz="920" dirty="0"/>
          </a:p>
        </p:txBody>
      </p:sp>
      <p:sp>
        <p:nvSpPr>
          <p:cNvPr id="12" name="Shape 10"/>
          <p:cNvSpPr/>
          <p:nvPr/>
        </p:nvSpPr>
        <p:spPr>
          <a:xfrm>
            <a:off x="1280160" y="2322576"/>
            <a:ext cx="3474720" cy="566928"/>
          </a:xfrm>
          <a:prstGeom prst="roundRect">
            <a:avLst>
              <a:gd name="adj" fmla="val 8065"/>
            </a:avLst>
          </a:prstGeom>
          <a:solidFill>
            <a:srgbClr val="FFFFFF"/>
          </a:solidFill>
          <a:ln w="15240">
            <a:solidFill>
              <a:srgbClr val="D97706"/>
            </a:solidFill>
            <a:prstDash val="solid"/>
          </a:ln>
        </p:spPr>
      </p:sp>
      <p:sp>
        <p:nvSpPr>
          <p:cNvPr id="13" name="Text 11"/>
          <p:cNvSpPr txBox="1"/>
          <p:nvPr/>
        </p:nvSpPr>
        <p:spPr>
          <a:xfrm>
            <a:off x="1417320" y="2322576"/>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Check CPR, policy and duplicates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plain rules, no AI model</a:t>
            </a:r>
            <a:endParaRPr lang="en-US" sz="920" dirty="0"/>
          </a:p>
        </p:txBody>
      </p:sp>
      <p:sp>
        <p:nvSpPr>
          <p:cNvPr id="14" name="Shape 12"/>
          <p:cNvSpPr/>
          <p:nvPr/>
        </p:nvSpPr>
        <p:spPr>
          <a:xfrm>
            <a:off x="4983480" y="914400"/>
            <a:ext cx="3931920" cy="2286000"/>
          </a:xfrm>
          <a:prstGeom prst="rect">
            <a:avLst/>
          </a:prstGeom>
          <a:solidFill>
            <a:srgbClr val="E4F4F8"/>
          </a:solidFill>
          <a:ln w="31750">
            <a:solidFill>
              <a:srgbClr val="FFFFFF"/>
            </a:solidFill>
            <a:prstDash val="solid"/>
          </a:ln>
        </p:spPr>
      </p:sp>
      <p:sp>
        <p:nvSpPr>
          <p:cNvPr id="15" name="Text 13"/>
          <p:cNvSpPr txBox="1"/>
          <p:nvPr/>
        </p:nvSpPr>
        <p:spPr>
          <a:xfrm>
            <a:off x="5166360" y="1060704"/>
            <a:ext cx="3566160" cy="237744"/>
          </a:xfrm>
          <a:prstGeom prst="rect">
            <a:avLst/>
          </a:prstGeom>
          <a:noFill/>
          <a:ln/>
        </p:spPr>
        <p:txBody>
          <a:bodyPr wrap="square" lIns="0" tIns="0" rIns="0" bIns="0" rtlCol="0" anchor="ctr"/>
          <a:lstStyle/>
          <a:p>
            <a:pPr indent="0" marL="0">
              <a:buNone/>
            </a:pPr>
            <a:r>
              <a:rPr lang="en-US" sz="1000" b="1" spc="80" kern="0" dirty="0">
                <a:solidFill>
                  <a:srgbClr val="0891B2"/>
                </a:solidFill>
                <a:latin typeface="Arial" pitchFamily="34" charset="0"/>
                <a:ea typeface="Arial" pitchFamily="34" charset="-122"/>
                <a:cs typeface="Arial" pitchFamily="34" charset="-120"/>
              </a:rPr>
              <a:t>WAVE 2 — ONCE TRUSTED</a:t>
            </a:r>
            <a:endParaRPr lang="en-US" sz="1000" dirty="0"/>
          </a:p>
        </p:txBody>
      </p:sp>
      <p:sp>
        <p:nvSpPr>
          <p:cNvPr id="16" name="Text 14"/>
          <p:cNvSpPr txBox="1"/>
          <p:nvPr/>
        </p:nvSpPr>
        <p:spPr>
          <a:xfrm>
            <a:off x="5166360" y="1298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the real prize, but needs the audit trail live</a:t>
            </a:r>
            <a:endParaRPr lang="en-US" sz="800" dirty="0"/>
          </a:p>
        </p:txBody>
      </p:sp>
      <p:sp>
        <p:nvSpPr>
          <p:cNvPr id="17" name="Shape 15"/>
          <p:cNvSpPr/>
          <p:nvPr/>
        </p:nvSpPr>
        <p:spPr>
          <a:xfrm>
            <a:off x="5212080" y="1627632"/>
            <a:ext cx="3474720" cy="566928"/>
          </a:xfrm>
          <a:prstGeom prst="roundRect">
            <a:avLst>
              <a:gd name="adj" fmla="val 8065"/>
            </a:avLst>
          </a:prstGeom>
          <a:solidFill>
            <a:srgbClr val="FFFFFF"/>
          </a:solidFill>
          <a:ln w="15240">
            <a:solidFill>
              <a:srgbClr val="0891B2"/>
            </a:solidFill>
            <a:prstDash val="solid"/>
          </a:ln>
        </p:spPr>
      </p:sp>
      <p:sp>
        <p:nvSpPr>
          <p:cNvPr id="18" name="Text 16"/>
          <p:cNvSpPr txBox="1"/>
          <p:nvPr/>
        </p:nvSpPr>
        <p:spPr>
          <a:xfrm>
            <a:off x="5349240" y="1627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Draft the close-out letter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~65% of claims · a handler still approves</a:t>
            </a:r>
            <a:endParaRPr lang="en-US" sz="920" dirty="0"/>
          </a:p>
        </p:txBody>
      </p:sp>
      <p:sp>
        <p:nvSpPr>
          <p:cNvPr id="19" name="Shape 17"/>
          <p:cNvSpPr/>
          <p:nvPr/>
        </p:nvSpPr>
        <p:spPr>
          <a:xfrm>
            <a:off x="5212080" y="2322576"/>
            <a:ext cx="3474720" cy="566928"/>
          </a:xfrm>
          <a:prstGeom prst="roundRect">
            <a:avLst>
              <a:gd name="adj" fmla="val 8065"/>
            </a:avLst>
          </a:prstGeom>
          <a:solidFill>
            <a:srgbClr val="FFFFFF"/>
          </a:solidFill>
          <a:ln w="15240">
            <a:solidFill>
              <a:srgbClr val="0891B2"/>
            </a:solidFill>
            <a:prstDash val="solid"/>
          </a:ln>
        </p:spPr>
      </p:sp>
      <p:sp>
        <p:nvSpPr>
          <p:cNvPr id="20" name="Text 18"/>
          <p:cNvSpPr txBox="1"/>
          <p:nvPr/>
        </p:nvSpPr>
        <p:spPr>
          <a:xfrm>
            <a:off x="5349240" y="2322576"/>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Read AES secure mail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the only channel with no automation today</a:t>
            </a:r>
            <a:endParaRPr lang="en-US" sz="920" dirty="0"/>
          </a:p>
        </p:txBody>
      </p:sp>
      <p:sp>
        <p:nvSpPr>
          <p:cNvPr id="21" name="Shape 19"/>
          <p:cNvSpPr/>
          <p:nvPr/>
        </p:nvSpPr>
        <p:spPr>
          <a:xfrm>
            <a:off x="1051560" y="3200400"/>
            <a:ext cx="3931920" cy="2286000"/>
          </a:xfrm>
          <a:prstGeom prst="rect">
            <a:avLst/>
          </a:prstGeom>
          <a:solidFill>
            <a:srgbClr val="EDECFB"/>
          </a:solidFill>
          <a:ln w="31750">
            <a:solidFill>
              <a:srgbClr val="FFFFFF"/>
            </a:solidFill>
            <a:prstDash val="solid"/>
          </a:ln>
        </p:spPr>
      </p:sp>
      <p:sp>
        <p:nvSpPr>
          <p:cNvPr id="22" name="Text 20"/>
          <p:cNvSpPr txBox="1"/>
          <p:nvPr/>
        </p:nvSpPr>
        <p:spPr>
          <a:xfrm>
            <a:off x="1234440" y="3346704"/>
            <a:ext cx="3566160" cy="237744"/>
          </a:xfrm>
          <a:prstGeom prst="rect">
            <a:avLst/>
          </a:prstGeom>
          <a:noFill/>
          <a:ln/>
        </p:spPr>
        <p:txBody>
          <a:bodyPr wrap="square" lIns="0" tIns="0" rIns="0" bIns="0" rtlCol="0" anchor="ctr"/>
          <a:lstStyle/>
          <a:p>
            <a:pPr indent="0" marL="0">
              <a:buNone/>
            </a:pPr>
            <a:r>
              <a:rPr lang="en-US" sz="1000" b="1" spc="80" kern="0" dirty="0">
                <a:solidFill>
                  <a:srgbClr val="4338CA"/>
                </a:solidFill>
                <a:latin typeface="Arial" pitchFamily="34" charset="0"/>
                <a:ea typeface="Arial" pitchFamily="34" charset="-122"/>
                <a:cs typeface="Arial" pitchFamily="34" charset="-120"/>
              </a:rPr>
              <a:t>FIX WHEN CONVENIENT</a:t>
            </a:r>
            <a:endParaRPr lang="en-US" sz="1000" dirty="0"/>
          </a:p>
        </p:txBody>
      </p:sp>
      <p:sp>
        <p:nvSpPr>
          <p:cNvPr id="23" name="Text 21"/>
          <p:cNvSpPr txBox="1"/>
          <p:nvPr/>
        </p:nvSpPr>
        <p:spPr>
          <a:xfrm>
            <a:off x="1234440" y="3584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worth doing, but it is an IT defect</a:t>
            </a:r>
            <a:endParaRPr lang="en-US" sz="800" dirty="0"/>
          </a:p>
        </p:txBody>
      </p:sp>
      <p:sp>
        <p:nvSpPr>
          <p:cNvPr id="24" name="Shape 22"/>
          <p:cNvSpPr/>
          <p:nvPr/>
        </p:nvSpPr>
        <p:spPr>
          <a:xfrm>
            <a:off x="1280160" y="3913632"/>
            <a:ext cx="3474720" cy="566928"/>
          </a:xfrm>
          <a:prstGeom prst="roundRect">
            <a:avLst>
              <a:gd name="adj" fmla="val 8065"/>
            </a:avLst>
          </a:prstGeom>
          <a:solidFill>
            <a:srgbClr val="FFFFFF"/>
          </a:solidFill>
          <a:ln w="15240">
            <a:solidFill>
              <a:srgbClr val="4338CA"/>
            </a:solidFill>
            <a:prstDash val="solid"/>
          </a:ln>
        </p:spPr>
      </p:sp>
      <p:sp>
        <p:nvSpPr>
          <p:cNvPr id="25" name="Text 23"/>
          <p:cNvSpPr txBox="1"/>
          <p:nvPr/>
        </p:nvSpPr>
        <p:spPr>
          <a:xfrm>
            <a:off x="1417320" y="3913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EASY → IDB import retries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an integration bug, not an AI job</a:t>
            </a:r>
            <a:endParaRPr lang="en-US" sz="920" dirty="0"/>
          </a:p>
        </p:txBody>
      </p:sp>
      <p:sp>
        <p:nvSpPr>
          <p:cNvPr id="26" name="Shape 24"/>
          <p:cNvSpPr/>
          <p:nvPr/>
        </p:nvSpPr>
        <p:spPr>
          <a:xfrm>
            <a:off x="4983480" y="3200400"/>
            <a:ext cx="3931920" cy="2286000"/>
          </a:xfrm>
          <a:prstGeom prst="rect">
            <a:avLst/>
          </a:prstGeom>
          <a:solidFill>
            <a:srgbClr val="FBE9F1"/>
          </a:solidFill>
          <a:ln w="31750">
            <a:solidFill>
              <a:srgbClr val="FFFFFF"/>
            </a:solidFill>
            <a:prstDash val="solid"/>
          </a:ln>
        </p:spPr>
      </p:sp>
      <p:sp>
        <p:nvSpPr>
          <p:cNvPr id="27" name="Text 25"/>
          <p:cNvSpPr txBox="1"/>
          <p:nvPr/>
        </p:nvSpPr>
        <p:spPr>
          <a:xfrm>
            <a:off x="5166360" y="3346704"/>
            <a:ext cx="3566160" cy="237744"/>
          </a:xfrm>
          <a:prstGeom prst="rect">
            <a:avLst/>
          </a:prstGeom>
          <a:noFill/>
          <a:ln/>
        </p:spPr>
        <p:txBody>
          <a:bodyPr wrap="square" lIns="0" tIns="0" rIns="0" bIns="0" rtlCol="0" anchor="ctr"/>
          <a:lstStyle/>
          <a:p>
            <a:pPr indent="0" marL="0">
              <a:buNone/>
            </a:pPr>
            <a:r>
              <a:rPr lang="en-US" sz="1000" b="1" spc="80" kern="0" dirty="0">
                <a:solidFill>
                  <a:srgbClr val="BE185D"/>
                </a:solidFill>
                <a:latin typeface="Arial" pitchFamily="34" charset="0"/>
                <a:ea typeface="Arial" pitchFamily="34" charset="-122"/>
                <a:cs typeface="Arial" pitchFamily="34" charset="-120"/>
              </a:rPr>
              <a:t>LEAVE MANUAL</a:t>
            </a:r>
            <a:endParaRPr lang="en-US" sz="1000" dirty="0"/>
          </a:p>
        </p:txBody>
      </p:sp>
      <p:sp>
        <p:nvSpPr>
          <p:cNvPr id="28" name="Text 26"/>
          <p:cNvSpPr txBox="1"/>
          <p:nvPr/>
        </p:nvSpPr>
        <p:spPr>
          <a:xfrm>
            <a:off x="5166360" y="3584448"/>
            <a:ext cx="3566160" cy="219456"/>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too rare to earn the effort</a:t>
            </a:r>
            <a:endParaRPr lang="en-US" sz="800" dirty="0"/>
          </a:p>
        </p:txBody>
      </p:sp>
      <p:sp>
        <p:nvSpPr>
          <p:cNvPr id="29" name="Shape 27"/>
          <p:cNvSpPr/>
          <p:nvPr/>
        </p:nvSpPr>
        <p:spPr>
          <a:xfrm>
            <a:off x="5212080" y="3913632"/>
            <a:ext cx="3474720" cy="566928"/>
          </a:xfrm>
          <a:prstGeom prst="roundRect">
            <a:avLst>
              <a:gd name="adj" fmla="val 8065"/>
            </a:avLst>
          </a:prstGeom>
          <a:solidFill>
            <a:srgbClr val="FFFFFF"/>
          </a:solidFill>
          <a:ln w="15240">
            <a:solidFill>
              <a:srgbClr val="BE185D"/>
            </a:solidFill>
            <a:prstDash val="solid"/>
          </a:ln>
        </p:spPr>
      </p:sp>
      <p:sp>
        <p:nvSpPr>
          <p:cNvPr id="30" name="Text 28"/>
          <p:cNvSpPr txBox="1"/>
          <p:nvPr/>
        </p:nvSpPr>
        <p:spPr>
          <a:xfrm>
            <a:off x="5349240" y="3913632"/>
            <a:ext cx="3200400" cy="566928"/>
          </a:xfrm>
          <a:prstGeom prst="rect">
            <a:avLst/>
          </a:prstGeom>
          <a:noFill/>
          <a:ln/>
        </p:spPr>
        <p:txBody>
          <a:bodyPr wrap="square" lIns="0" tIns="0" rIns="0" bIns="0" rtlCol="0" anchor="ctr"/>
          <a:lstStyle/>
          <a:p>
            <a:pPr indent="0" marL="0">
              <a:lnSpc>
                <a:spcPct val="115000"/>
              </a:lnSpc>
              <a:buNone/>
            </a:pPr>
            <a:r>
              <a:rPr lang="en-US" sz="920" b="1" dirty="0">
                <a:solidFill>
                  <a:srgbClr val="1B2430"/>
                </a:solidFill>
                <a:latin typeface="Arial" pitchFamily="34" charset="0"/>
                <a:ea typeface="Arial" pitchFamily="34" charset="-122"/>
                <a:cs typeface="Arial" pitchFamily="34" charset="-120"/>
              </a:rPr>
              <a:t>"Violence cover" entitlement letter
</a:t>
            </a:r>
            <a:endParaRPr lang="en-US" sz="920" dirty="0"/>
          </a:p>
          <a:p>
            <a:pPr indent="0" marL="0">
              <a:lnSpc>
                <a:spcPct val="115000"/>
              </a:lnSpc>
              <a:buNone/>
            </a:pPr>
            <a:r>
              <a:rPr lang="en-US" sz="800" dirty="0">
                <a:solidFill>
                  <a:srgbClr val="5B6472"/>
                </a:solidFill>
                <a:latin typeface="Arial" pitchFamily="34" charset="0"/>
                <a:ea typeface="Arial" pitchFamily="34" charset="-122"/>
                <a:cs typeface="Arial" pitchFamily="34" charset="-120"/>
              </a:rPr>
              <a:t>~2 claims ever · a checklist beats a model</a:t>
            </a:r>
            <a:endParaRPr lang="en-US" sz="920" dirty="0"/>
          </a:p>
        </p:txBody>
      </p:sp>
      <p:sp>
        <p:nvSpPr>
          <p:cNvPr id="31" name="Shape 29"/>
          <p:cNvSpPr/>
          <p:nvPr/>
        </p:nvSpPr>
        <p:spPr>
          <a:xfrm>
            <a:off x="9189720" y="914400"/>
            <a:ext cx="2633472" cy="4572000"/>
          </a:xfrm>
          <a:prstGeom prst="roundRect">
            <a:avLst>
              <a:gd name="adj" fmla="val 2083"/>
            </a:avLst>
          </a:prstGeom>
          <a:solidFill>
            <a:srgbClr val="EDECFB"/>
          </a:solidFill>
          <a:ln w="16510">
            <a:solidFill>
              <a:srgbClr val="4338CA"/>
            </a:solidFill>
            <a:prstDash val="solid"/>
          </a:ln>
        </p:spPr>
      </p:sp>
      <p:sp>
        <p:nvSpPr>
          <p:cNvPr id="32" name="Text 30"/>
          <p:cNvSpPr txBox="1"/>
          <p:nvPr/>
        </p:nvSpPr>
        <p:spPr>
          <a:xfrm>
            <a:off x="9390888" y="1060704"/>
            <a:ext cx="2231136" cy="219456"/>
          </a:xfrm>
          <a:prstGeom prst="rect">
            <a:avLst/>
          </a:prstGeom>
          <a:noFill/>
          <a:ln/>
        </p:spPr>
        <p:txBody>
          <a:bodyPr wrap="square" lIns="0" tIns="0" rIns="0" bIns="0" rtlCol="0" anchor="ctr"/>
          <a:lstStyle/>
          <a:p>
            <a:pPr indent="0" marL="0">
              <a:buNone/>
            </a:pPr>
            <a:r>
              <a:rPr lang="en-US" sz="900" b="1" spc="70" kern="0" dirty="0">
                <a:solidFill>
                  <a:srgbClr val="4338CA"/>
                </a:solidFill>
                <a:latin typeface="Arial" pitchFamily="34" charset="0"/>
                <a:ea typeface="Arial" pitchFamily="34" charset="-122"/>
                <a:cs typeface="Arial" pitchFamily="34" charset="-120"/>
              </a:rPr>
              <a:t>FIXING THE IMPORT FAILURES</a:t>
            </a:r>
            <a:endParaRPr lang="en-US" sz="900" dirty="0"/>
          </a:p>
        </p:txBody>
      </p:sp>
      <p:sp>
        <p:nvSpPr>
          <p:cNvPr id="33" name="Text 31"/>
          <p:cNvSpPr txBox="1"/>
          <p:nvPr/>
        </p:nvSpPr>
        <p:spPr>
          <a:xfrm>
            <a:off x="9390888" y="1298448"/>
            <a:ext cx="2231136" cy="329184"/>
          </a:xfrm>
          <a:prstGeom prst="rect">
            <a:avLst/>
          </a:prstGeom>
          <a:noFill/>
          <a:ln/>
        </p:spPr>
        <p:txBody>
          <a:bodyPr wrap="square" lIns="0" tIns="0" rIns="0" bIns="0" rtlCol="0" anchor="ctr"/>
          <a:lstStyle/>
          <a:p>
            <a:pPr indent="0" marL="0">
              <a:lnSpc>
                <a:spcPct val="115000"/>
              </a:lnSpc>
              <a:buNone/>
            </a:pPr>
            <a:r>
              <a:rPr lang="en-US" sz="800" i="1" dirty="0">
                <a:solidFill>
                  <a:srgbClr val="4A4A5E"/>
                </a:solidFill>
                <a:latin typeface="Arial" pitchFamily="34" charset="0"/>
                <a:ea typeface="Arial" pitchFamily="34" charset="-122"/>
                <a:cs typeface="Arial" pitchFamily="34" charset="-120"/>
              </a:rPr>
              <a:t>The one item that is not an AI problem. How it is actually fixed:</a:t>
            </a:r>
            <a:endParaRPr lang="en-US" sz="800" dirty="0"/>
          </a:p>
        </p:txBody>
      </p:sp>
      <p:sp>
        <p:nvSpPr>
          <p:cNvPr id="34" name="Text 32"/>
          <p:cNvSpPr txBox="1"/>
          <p:nvPr/>
        </p:nvSpPr>
        <p:spPr>
          <a:xfrm>
            <a:off x="9390888" y="1755648"/>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Sort the failure first</a:t>
            </a:r>
            <a:endParaRPr lang="en-US" sz="840" dirty="0"/>
          </a:p>
        </p:txBody>
      </p:sp>
      <p:sp>
        <p:nvSpPr>
          <p:cNvPr id="35" name="Text 33"/>
          <p:cNvSpPr txBox="1"/>
          <p:nvPr/>
        </p:nvSpPr>
        <p:spPr>
          <a:xfrm>
            <a:off x="9390888" y="1929384"/>
            <a:ext cx="2231136" cy="51206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A timeout is worth retrying. A missing field never is — retrying it just fails again.</a:t>
            </a:r>
            <a:endParaRPr lang="en-US" sz="760" dirty="0"/>
          </a:p>
        </p:txBody>
      </p:sp>
      <p:sp>
        <p:nvSpPr>
          <p:cNvPr id="36" name="Text 34"/>
          <p:cNvSpPr txBox="1"/>
          <p:nvPr/>
        </p:nvSpPr>
        <p:spPr>
          <a:xfrm>
            <a:off x="9390888" y="2478024"/>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Retry with growing gaps</a:t>
            </a:r>
            <a:endParaRPr lang="en-US" sz="840" dirty="0"/>
          </a:p>
        </p:txBody>
      </p:sp>
      <p:sp>
        <p:nvSpPr>
          <p:cNvPr id="37" name="Text 35"/>
          <p:cNvSpPr txBox="1"/>
          <p:nvPr/>
        </p:nvSpPr>
        <p:spPr>
          <a:xfrm>
            <a:off x="9390888" y="2651760"/>
            <a:ext cx="2231136" cy="51206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1s, 2s, 4s, plus a random offset, so 50 stuck claims do not all retry at once.</a:t>
            </a:r>
            <a:endParaRPr lang="en-US" sz="760" dirty="0"/>
          </a:p>
        </p:txBody>
      </p:sp>
      <p:sp>
        <p:nvSpPr>
          <p:cNvPr id="38" name="Text 36"/>
          <p:cNvSpPr txBox="1"/>
          <p:nvPr/>
        </p:nvSpPr>
        <p:spPr>
          <a:xfrm>
            <a:off x="9390888" y="3200400"/>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One reference per claim</a:t>
            </a:r>
            <a:endParaRPr lang="en-US" sz="840" dirty="0"/>
          </a:p>
        </p:txBody>
      </p:sp>
      <p:sp>
        <p:nvSpPr>
          <p:cNvPr id="39" name="Text 37"/>
          <p:cNvSpPr txBox="1"/>
          <p:nvPr/>
        </p:nvSpPr>
        <p:spPr>
          <a:xfrm>
            <a:off x="9390888" y="3374136"/>
            <a:ext cx="2231136" cy="51206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The same key on every attempt, so a replay cannot create the claim twice.</a:t>
            </a:r>
            <a:endParaRPr lang="en-US" sz="760" dirty="0"/>
          </a:p>
        </p:txBody>
      </p:sp>
      <p:sp>
        <p:nvSpPr>
          <p:cNvPr id="40" name="Text 38"/>
          <p:cNvSpPr txBox="1"/>
          <p:nvPr/>
        </p:nvSpPr>
        <p:spPr>
          <a:xfrm>
            <a:off x="9390888" y="3922776"/>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Park failures, never drop them</a:t>
            </a:r>
            <a:endParaRPr lang="en-US" sz="840" dirty="0"/>
          </a:p>
        </p:txBody>
      </p:sp>
      <p:sp>
        <p:nvSpPr>
          <p:cNvPr id="41" name="Text 39"/>
          <p:cNvSpPr txBox="1"/>
          <p:nvPr/>
        </p:nvSpPr>
        <p:spPr>
          <a:xfrm>
            <a:off x="9390888" y="4096512"/>
            <a:ext cx="2231136" cy="51206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They go to a holding queue with the error, so someone can fix and replay.</a:t>
            </a:r>
            <a:endParaRPr lang="en-US" sz="760" dirty="0"/>
          </a:p>
        </p:txBody>
      </p:sp>
      <p:sp>
        <p:nvSpPr>
          <p:cNvPr id="42" name="Text 40"/>
          <p:cNvSpPr txBox="1"/>
          <p:nvPr/>
        </p:nvSpPr>
        <p:spPr>
          <a:xfrm>
            <a:off x="9390888" y="4645152"/>
            <a:ext cx="2231136" cy="182880"/>
          </a:xfrm>
          <a:prstGeom prst="rect">
            <a:avLst/>
          </a:prstGeom>
          <a:noFill/>
          <a:ln/>
        </p:spPr>
        <p:txBody>
          <a:bodyPr wrap="square" lIns="0" tIns="0" rIns="0" bIns="0" rtlCol="0" anchor="ctr"/>
          <a:lstStyle/>
          <a:p>
            <a:pPr indent="0" marL="0">
              <a:buNone/>
            </a:pPr>
            <a:r>
              <a:rPr lang="en-US" sz="840" b="1" dirty="0">
                <a:solidFill>
                  <a:srgbClr val="2A2A3E"/>
                </a:solidFill>
                <a:latin typeface="Arial" pitchFamily="34" charset="0"/>
                <a:ea typeface="Arial" pitchFamily="34" charset="-122"/>
                <a:cs typeface="Arial" pitchFamily="34" charset="-120"/>
              </a:rPr>
              <a:t>Alert on the rate, not the count</a:t>
            </a:r>
            <a:endParaRPr lang="en-US" sz="840" dirty="0"/>
          </a:p>
        </p:txBody>
      </p:sp>
      <p:sp>
        <p:nvSpPr>
          <p:cNvPr id="43" name="Text 41"/>
          <p:cNvSpPr txBox="1"/>
          <p:nvPr/>
        </p:nvSpPr>
        <p:spPr>
          <a:xfrm>
            <a:off x="9390888" y="4818888"/>
            <a:ext cx="2231136" cy="512064"/>
          </a:xfrm>
          <a:prstGeom prst="rect">
            <a:avLst/>
          </a:prstGeom>
          <a:noFill/>
          <a:ln/>
        </p:spPr>
        <p:txBody>
          <a:bodyPr wrap="square" lIns="0" tIns="0" rIns="0" bIns="0" rtlCol="0" anchor="ctr"/>
          <a:lstStyle/>
          <a:p>
            <a:pPr indent="0" marL="0">
              <a:lnSpc>
                <a:spcPct val="115000"/>
              </a:lnSpc>
              <a:buNone/>
            </a:pPr>
            <a:r>
              <a:rPr lang="en-US" sz="760" dirty="0">
                <a:solidFill>
                  <a:srgbClr val="4A4A5E"/>
                </a:solidFill>
                <a:latin typeface="Arial" pitchFamily="34" charset="0"/>
                <a:ea typeface="Arial" pitchFamily="34" charset="-122"/>
                <a:cs typeface="Arial" pitchFamily="34" charset="-120"/>
              </a:rPr>
              <a:t>One stuck claim is normal. Twenty in an hour means something broke.</a:t>
            </a:r>
            <a:endParaRPr lang="en-US" sz="760" dirty="0"/>
          </a:p>
        </p:txBody>
      </p:sp>
      <p:sp>
        <p:nvSpPr>
          <p:cNvPr id="44" name="Text 42"/>
          <p:cNvSpPr txBox="1"/>
          <p:nvPr/>
        </p:nvSpPr>
        <p:spPr>
          <a:xfrm>
            <a:off x="365760" y="6035040"/>
            <a:ext cx="11430000" cy="256032"/>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AES rulings and underwriting authority are deliberately absent — those decisions are not ours to make · frequencies from the case study</a:t>
            </a:r>
            <a:endParaRPr lang="en-US" sz="700" dirty="0"/>
          </a:p>
        </p:txBody>
      </p:sp>
      <p:sp>
        <p:nvSpPr>
          <p:cNvPr id="45" name="Text 43"/>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46" name="Text 44"/>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6 / 9</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Nothing goes live decided — it goes live watched, then suggesting, then trusted</a:t>
            </a:r>
            <a:endParaRPr lang="en-US" sz="1400" dirty="0"/>
          </a:p>
        </p:txBody>
      </p:sp>
      <p:sp>
        <p:nvSpPr>
          <p:cNvPr id="3" name="Text 1"/>
          <p:cNvSpPr txBox="1"/>
          <p:nvPr/>
        </p:nvSpPr>
        <p:spPr>
          <a:xfrm>
            <a:off x="8229600" y="146304"/>
            <a:ext cx="359359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RUNNING IT IN PRODUCTION</a:t>
            </a:r>
            <a:endParaRPr lang="en-US" sz="950" dirty="0"/>
          </a:p>
        </p:txBody>
      </p:sp>
      <p:sp>
        <p:nvSpPr>
          <p:cNvPr id="4" name="Shape 2"/>
          <p:cNvSpPr/>
          <p:nvPr/>
        </p:nvSpPr>
        <p:spPr>
          <a:xfrm>
            <a:off x="365760" y="566928"/>
            <a:ext cx="2697023" cy="2139696"/>
          </a:xfrm>
          <a:prstGeom prst="roundRect">
            <a:avLst>
              <a:gd name="adj" fmla="val 2564"/>
            </a:avLst>
          </a:prstGeom>
          <a:solidFill>
            <a:srgbClr val="FDF3E3"/>
          </a:solidFill>
          <a:ln w="16510">
            <a:solidFill>
              <a:srgbClr val="D97706"/>
            </a:solidFill>
            <a:prstDash val="solid"/>
          </a:ln>
        </p:spPr>
      </p:sp>
      <p:sp>
        <p:nvSpPr>
          <p:cNvPr id="5" name="Text 3"/>
          <p:cNvSpPr txBox="1"/>
          <p:nvPr/>
        </p:nvSpPr>
        <p:spPr>
          <a:xfrm>
            <a:off x="530352" y="676656"/>
            <a:ext cx="2367839" cy="219456"/>
          </a:xfrm>
          <a:prstGeom prst="rect">
            <a:avLst/>
          </a:prstGeom>
          <a:noFill/>
          <a:ln/>
        </p:spPr>
        <p:txBody>
          <a:bodyPr wrap="square" lIns="0" tIns="0" rIns="0" bIns="0" rtlCol="0" anchor="ctr"/>
          <a:lstStyle/>
          <a:p>
            <a:pPr indent="0" marL="0">
              <a:buNone/>
            </a:pPr>
            <a:r>
              <a:rPr lang="en-US" sz="960" b="1" spc="80" kern="0" dirty="0">
                <a:solidFill>
                  <a:srgbClr val="D97706"/>
                </a:solidFill>
                <a:latin typeface="Arial" pitchFamily="34" charset="0"/>
                <a:ea typeface="Arial" pitchFamily="34" charset="-122"/>
                <a:cs typeface="Arial" pitchFamily="34" charset="-120"/>
              </a:rPr>
              <a:t>1 · SHADOW</a:t>
            </a:r>
            <a:endParaRPr lang="en-US" sz="960" dirty="0"/>
          </a:p>
        </p:txBody>
      </p:sp>
      <p:sp>
        <p:nvSpPr>
          <p:cNvPr id="6" name="Text 4"/>
          <p:cNvSpPr txBox="1"/>
          <p:nvPr/>
        </p:nvSpPr>
        <p:spPr>
          <a:xfrm>
            <a:off x="530352"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wks 1–8</a:t>
            </a:r>
            <a:endParaRPr lang="en-US" sz="800" dirty="0"/>
          </a:p>
        </p:txBody>
      </p:sp>
      <p:sp>
        <p:nvSpPr>
          <p:cNvPr id="7" name="Text 5"/>
          <p:cNvSpPr txBox="1"/>
          <p:nvPr/>
        </p:nvSpPr>
        <p:spPr>
          <a:xfrm>
            <a:off x="530352"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Agents run on live claims. Output is stored and compared with what the handler did. Nobody sees it.</a:t>
            </a:r>
            <a:endParaRPr lang="en-US" sz="840" dirty="0"/>
          </a:p>
        </p:txBody>
      </p:sp>
      <p:sp>
        <p:nvSpPr>
          <p:cNvPr id="8" name="Shape 6"/>
          <p:cNvSpPr/>
          <p:nvPr/>
        </p:nvSpPr>
        <p:spPr>
          <a:xfrm>
            <a:off x="530352" y="1956816"/>
            <a:ext cx="2367839" cy="10973"/>
          </a:xfrm>
          <a:prstGeom prst="rect">
            <a:avLst/>
          </a:prstGeom>
          <a:solidFill>
            <a:srgbClr val="D97706"/>
          </a:solidFill>
          <a:ln/>
        </p:spPr>
      </p:sp>
      <p:sp>
        <p:nvSpPr>
          <p:cNvPr id="9" name="Text 7"/>
          <p:cNvSpPr txBox="1"/>
          <p:nvPr/>
        </p:nvSpPr>
        <p:spPr>
          <a:xfrm>
            <a:off x="530352"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when extraction agrees with the handler on 95% of fields.</a:t>
            </a:r>
            <a:endParaRPr lang="en-US" sz="800" dirty="0"/>
          </a:p>
        </p:txBody>
      </p:sp>
      <p:sp>
        <p:nvSpPr>
          <p:cNvPr id="10" name="Shape 8"/>
          <p:cNvSpPr/>
          <p:nvPr/>
        </p:nvSpPr>
        <p:spPr>
          <a:xfrm>
            <a:off x="3286811" y="566928"/>
            <a:ext cx="2697023" cy="2139696"/>
          </a:xfrm>
          <a:prstGeom prst="roundRect">
            <a:avLst>
              <a:gd name="adj" fmla="val 2564"/>
            </a:avLst>
          </a:prstGeom>
          <a:solidFill>
            <a:srgbClr val="E4F4F8"/>
          </a:solidFill>
          <a:ln w="16510">
            <a:solidFill>
              <a:srgbClr val="0891B2"/>
            </a:solidFill>
            <a:prstDash val="solid"/>
          </a:ln>
        </p:spPr>
      </p:sp>
      <p:sp>
        <p:nvSpPr>
          <p:cNvPr id="11" name="Text 9"/>
          <p:cNvSpPr txBox="1"/>
          <p:nvPr/>
        </p:nvSpPr>
        <p:spPr>
          <a:xfrm>
            <a:off x="3451403" y="676656"/>
            <a:ext cx="2367839" cy="219456"/>
          </a:xfrm>
          <a:prstGeom prst="rect">
            <a:avLst/>
          </a:prstGeom>
          <a:noFill/>
          <a:ln/>
        </p:spPr>
        <p:txBody>
          <a:bodyPr wrap="square" lIns="0" tIns="0" rIns="0" bIns="0" rtlCol="0" anchor="ctr"/>
          <a:lstStyle/>
          <a:p>
            <a:pPr indent="0" marL="0">
              <a:buNone/>
            </a:pPr>
            <a:r>
              <a:rPr lang="en-US" sz="960" b="1" spc="80" kern="0" dirty="0">
                <a:solidFill>
                  <a:srgbClr val="0891B2"/>
                </a:solidFill>
                <a:latin typeface="Arial" pitchFamily="34" charset="0"/>
                <a:ea typeface="Arial" pitchFamily="34" charset="-122"/>
                <a:cs typeface="Arial" pitchFamily="34" charset="-120"/>
              </a:rPr>
              <a:t>2 · SUGGEST</a:t>
            </a:r>
            <a:endParaRPr lang="en-US" sz="960" dirty="0"/>
          </a:p>
        </p:txBody>
      </p:sp>
      <p:sp>
        <p:nvSpPr>
          <p:cNvPr id="12" name="Text 10"/>
          <p:cNvSpPr txBox="1"/>
          <p:nvPr/>
        </p:nvSpPr>
        <p:spPr>
          <a:xfrm>
            <a:off x="3451403"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wks 9–16</a:t>
            </a:r>
            <a:endParaRPr lang="en-US" sz="800" dirty="0"/>
          </a:p>
        </p:txBody>
      </p:sp>
      <p:sp>
        <p:nvSpPr>
          <p:cNvPr id="13" name="Text 11"/>
          <p:cNvSpPr txBox="1"/>
          <p:nvPr/>
        </p:nvSpPr>
        <p:spPr>
          <a:xfrm>
            <a:off x="3451403"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The handler sees the draft and must edit or approve it. Nothing sends itself.</a:t>
            </a:r>
            <a:endParaRPr lang="en-US" sz="840" dirty="0"/>
          </a:p>
        </p:txBody>
      </p:sp>
      <p:sp>
        <p:nvSpPr>
          <p:cNvPr id="14" name="Shape 12"/>
          <p:cNvSpPr/>
          <p:nvPr/>
        </p:nvSpPr>
        <p:spPr>
          <a:xfrm>
            <a:off x="3451403" y="1956816"/>
            <a:ext cx="2367839" cy="10973"/>
          </a:xfrm>
          <a:prstGeom prst="rect">
            <a:avLst/>
          </a:prstGeom>
          <a:solidFill>
            <a:srgbClr val="0891B2"/>
          </a:solidFill>
          <a:ln/>
        </p:spPr>
      </p:sp>
      <p:sp>
        <p:nvSpPr>
          <p:cNvPr id="15" name="Text 13"/>
          <p:cNvSpPr txBox="1"/>
          <p:nvPr/>
        </p:nvSpPr>
        <p:spPr>
          <a:xfrm>
            <a:off x="3451403"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when the edit rate on minor claims settles below 20%.</a:t>
            </a:r>
            <a:endParaRPr lang="en-US" sz="800" dirty="0"/>
          </a:p>
        </p:txBody>
      </p:sp>
      <p:sp>
        <p:nvSpPr>
          <p:cNvPr id="16" name="Shape 14"/>
          <p:cNvSpPr/>
          <p:nvPr/>
        </p:nvSpPr>
        <p:spPr>
          <a:xfrm>
            <a:off x="6207862" y="566928"/>
            <a:ext cx="2697023" cy="2139696"/>
          </a:xfrm>
          <a:prstGeom prst="roundRect">
            <a:avLst>
              <a:gd name="adj" fmla="val 2564"/>
            </a:avLst>
          </a:prstGeom>
          <a:solidFill>
            <a:srgbClr val="EDECFB"/>
          </a:solidFill>
          <a:ln w="16510">
            <a:solidFill>
              <a:srgbClr val="4338CA"/>
            </a:solidFill>
            <a:prstDash val="solid"/>
          </a:ln>
        </p:spPr>
      </p:sp>
      <p:sp>
        <p:nvSpPr>
          <p:cNvPr id="17" name="Text 15"/>
          <p:cNvSpPr txBox="1"/>
          <p:nvPr/>
        </p:nvSpPr>
        <p:spPr>
          <a:xfrm>
            <a:off x="6372454" y="676656"/>
            <a:ext cx="2367839" cy="219456"/>
          </a:xfrm>
          <a:prstGeom prst="rect">
            <a:avLst/>
          </a:prstGeom>
          <a:noFill/>
          <a:ln/>
        </p:spPr>
        <p:txBody>
          <a:bodyPr wrap="square" lIns="0" tIns="0" rIns="0" bIns="0" rtlCol="0" anchor="ctr"/>
          <a:lstStyle/>
          <a:p>
            <a:pPr indent="0" marL="0">
              <a:buNone/>
            </a:pPr>
            <a:r>
              <a:rPr lang="en-US" sz="960" b="1" spc="80" kern="0" dirty="0">
                <a:solidFill>
                  <a:srgbClr val="4338CA"/>
                </a:solidFill>
                <a:latin typeface="Arial" pitchFamily="34" charset="0"/>
                <a:ea typeface="Arial" pitchFamily="34" charset="-122"/>
                <a:cs typeface="Arial" pitchFamily="34" charset="-120"/>
              </a:rPr>
              <a:t>3 · APPROVE</a:t>
            </a:r>
            <a:endParaRPr lang="en-US" sz="960" dirty="0"/>
          </a:p>
        </p:txBody>
      </p:sp>
      <p:sp>
        <p:nvSpPr>
          <p:cNvPr id="18" name="Text 16"/>
          <p:cNvSpPr txBox="1"/>
          <p:nvPr/>
        </p:nvSpPr>
        <p:spPr>
          <a:xfrm>
            <a:off x="6372454"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mths 5–6</a:t>
            </a:r>
            <a:endParaRPr lang="en-US" sz="800" dirty="0"/>
          </a:p>
        </p:txBody>
      </p:sp>
      <p:sp>
        <p:nvSpPr>
          <p:cNvPr id="19" name="Text 17"/>
          <p:cNvSpPr txBox="1"/>
          <p:nvPr/>
        </p:nvSpPr>
        <p:spPr>
          <a:xfrm>
            <a:off x="6372454"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Minor claims arrive pre-filled. One click accepts. Everything else still drafted only.</a:t>
            </a:r>
            <a:endParaRPr lang="en-US" sz="840" dirty="0"/>
          </a:p>
        </p:txBody>
      </p:sp>
      <p:sp>
        <p:nvSpPr>
          <p:cNvPr id="20" name="Shape 18"/>
          <p:cNvSpPr/>
          <p:nvPr/>
        </p:nvSpPr>
        <p:spPr>
          <a:xfrm>
            <a:off x="6372454" y="1956816"/>
            <a:ext cx="2367839" cy="10973"/>
          </a:xfrm>
          <a:prstGeom prst="rect">
            <a:avLst/>
          </a:prstGeom>
          <a:solidFill>
            <a:srgbClr val="4338CA"/>
          </a:solidFill>
          <a:ln/>
        </p:spPr>
      </p:sp>
      <p:sp>
        <p:nvSpPr>
          <p:cNvPr id="21" name="Text 19"/>
          <p:cNvSpPr txBox="1"/>
          <p:nvPr/>
        </p:nvSpPr>
        <p:spPr>
          <a:xfrm>
            <a:off x="6372454"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4A4A4A"/>
                </a:solidFill>
                <a:latin typeface="Arial" pitchFamily="34" charset="0"/>
                <a:ea typeface="Arial" pitchFamily="34" charset="-122"/>
                <a:cs typeface="Arial" pitchFamily="34" charset="-120"/>
              </a:rPr>
              <a:t>Exit criteria reviewed monthly with the claims lead.</a:t>
            </a:r>
            <a:endParaRPr lang="en-US" sz="800" dirty="0"/>
          </a:p>
        </p:txBody>
      </p:sp>
      <p:sp>
        <p:nvSpPr>
          <p:cNvPr id="22" name="Shape 20"/>
          <p:cNvSpPr/>
          <p:nvPr/>
        </p:nvSpPr>
        <p:spPr>
          <a:xfrm>
            <a:off x="9128912" y="566928"/>
            <a:ext cx="2697023" cy="2139696"/>
          </a:xfrm>
          <a:prstGeom prst="roundRect">
            <a:avLst>
              <a:gd name="adj" fmla="val 2564"/>
            </a:avLst>
          </a:prstGeom>
          <a:solidFill>
            <a:srgbClr val="FBE9F1"/>
          </a:solidFill>
          <a:ln w="16510">
            <a:solidFill>
              <a:srgbClr val="BE185D"/>
            </a:solidFill>
            <a:prstDash val="solid"/>
          </a:ln>
        </p:spPr>
      </p:sp>
      <p:sp>
        <p:nvSpPr>
          <p:cNvPr id="23" name="Text 21"/>
          <p:cNvSpPr txBox="1"/>
          <p:nvPr/>
        </p:nvSpPr>
        <p:spPr>
          <a:xfrm>
            <a:off x="9293504" y="676656"/>
            <a:ext cx="2367839" cy="219456"/>
          </a:xfrm>
          <a:prstGeom prst="rect">
            <a:avLst/>
          </a:prstGeom>
          <a:noFill/>
          <a:ln/>
        </p:spPr>
        <p:txBody>
          <a:bodyPr wrap="square" lIns="0" tIns="0" rIns="0" bIns="0" rtlCol="0" anchor="ctr"/>
          <a:lstStyle/>
          <a:p>
            <a:pPr indent="0" marL="0">
              <a:buNone/>
            </a:pPr>
            <a:r>
              <a:rPr lang="en-US" sz="960" b="1" spc="80" kern="0" dirty="0">
                <a:solidFill>
                  <a:srgbClr val="BE185D"/>
                </a:solidFill>
                <a:latin typeface="Arial" pitchFamily="34" charset="0"/>
                <a:ea typeface="Arial" pitchFamily="34" charset="-122"/>
                <a:cs typeface="Arial" pitchFamily="34" charset="-120"/>
              </a:rPr>
              <a:t>NEVER</a:t>
            </a:r>
            <a:endParaRPr lang="en-US" sz="960" dirty="0"/>
          </a:p>
        </p:txBody>
      </p:sp>
      <p:sp>
        <p:nvSpPr>
          <p:cNvPr id="24" name="Text 22"/>
          <p:cNvSpPr txBox="1"/>
          <p:nvPr/>
        </p:nvSpPr>
        <p:spPr>
          <a:xfrm>
            <a:off x="9293504" y="896112"/>
            <a:ext cx="2367839" cy="182880"/>
          </a:xfrm>
          <a:prstGeom prst="rect">
            <a:avLst/>
          </a:prstGeom>
          <a:noFill/>
          <a:ln/>
        </p:spPr>
        <p:txBody>
          <a:bodyPr wrap="square" lIns="0" tIns="0" rIns="0" bIns="0" rtlCol="0" anchor="ctr"/>
          <a:lstStyle/>
          <a:p>
            <a:pPr indent="0" marL="0">
              <a:buNone/>
            </a:pPr>
            <a:r>
              <a:rPr lang="en-US" sz="800" i="1" dirty="0">
                <a:solidFill>
                  <a:srgbClr val="5B6472"/>
                </a:solidFill>
                <a:latin typeface="Arial" pitchFamily="34" charset="0"/>
                <a:ea typeface="Arial" pitchFamily="34" charset="-122"/>
                <a:cs typeface="Arial" pitchFamily="34" charset="-120"/>
              </a:rPr>
              <a:t>—</a:t>
            </a:r>
            <a:endParaRPr lang="en-US" sz="800" dirty="0"/>
          </a:p>
        </p:txBody>
      </p:sp>
      <p:sp>
        <p:nvSpPr>
          <p:cNvPr id="25" name="Text 23"/>
          <p:cNvSpPr txBox="1"/>
          <p:nvPr/>
        </p:nvSpPr>
        <p:spPr>
          <a:xfrm>
            <a:off x="9293504" y="1133856"/>
            <a:ext cx="2367839" cy="786384"/>
          </a:xfrm>
          <a:prstGeom prst="rect">
            <a:avLst/>
          </a:prstGeom>
          <a:noFill/>
          <a:ln/>
        </p:spPr>
        <p:txBody>
          <a:bodyPr wrap="square" lIns="0" tIns="0" rIns="0" bIns="0" rtlCol="0" anchor="ctr"/>
          <a:lstStyle/>
          <a:p>
            <a:pPr indent="0" marL="0">
              <a:lnSpc>
                <a:spcPct val="118000"/>
              </a:lnSpc>
              <a:buNone/>
            </a:pPr>
            <a:r>
              <a:rPr lang="en-US" sz="840" dirty="0">
                <a:solidFill>
                  <a:srgbClr val="3A3A3A"/>
                </a:solidFill>
                <a:latin typeface="Arial" pitchFamily="34" charset="0"/>
                <a:ea typeface="Arial" pitchFamily="34" charset="-122"/>
                <a:cs typeface="Arial" pitchFamily="34" charset="-120"/>
              </a:rPr>
              <a:t>No automatic decision on anything adverse to a claimant, on an AES ruling, or on underwriting authority.</a:t>
            </a:r>
            <a:endParaRPr lang="en-US" sz="840" dirty="0"/>
          </a:p>
        </p:txBody>
      </p:sp>
      <p:sp>
        <p:nvSpPr>
          <p:cNvPr id="26" name="Shape 24"/>
          <p:cNvSpPr/>
          <p:nvPr/>
        </p:nvSpPr>
        <p:spPr>
          <a:xfrm>
            <a:off x="9293504" y="1956816"/>
            <a:ext cx="2367839" cy="10973"/>
          </a:xfrm>
          <a:prstGeom prst="rect">
            <a:avLst/>
          </a:prstGeom>
          <a:solidFill>
            <a:srgbClr val="BE185D"/>
          </a:solidFill>
          <a:ln/>
        </p:spPr>
      </p:sp>
      <p:sp>
        <p:nvSpPr>
          <p:cNvPr id="27" name="Text 25"/>
          <p:cNvSpPr txBox="1"/>
          <p:nvPr/>
        </p:nvSpPr>
        <p:spPr>
          <a:xfrm>
            <a:off x="9293504" y="2011680"/>
            <a:ext cx="2367839" cy="585216"/>
          </a:xfrm>
          <a:prstGeom prst="rect">
            <a:avLst/>
          </a:prstGeom>
          <a:noFill/>
          <a:ln/>
        </p:spPr>
        <p:txBody>
          <a:bodyPr wrap="square" lIns="0" tIns="0" rIns="0" bIns="0" rtlCol="0" anchor="ctr"/>
          <a:lstStyle/>
          <a:p>
            <a:pPr indent="0" marL="0">
              <a:lnSpc>
                <a:spcPct val="115000"/>
              </a:lnSpc>
              <a:buNone/>
            </a:pPr>
            <a:r>
              <a:rPr lang="en-US" sz="800" i="1" dirty="0">
                <a:solidFill>
                  <a:srgbClr val="6A1F42"/>
                </a:solidFill>
                <a:latin typeface="Arial" pitchFamily="34" charset="0"/>
                <a:ea typeface="Arial" pitchFamily="34" charset="-122"/>
                <a:cs typeface="Arial" pitchFamily="34" charset="-120"/>
              </a:rPr>
              <a:t>This is a design boundary, not a phase.</a:t>
            </a:r>
            <a:endParaRPr lang="en-US" sz="800" dirty="0"/>
          </a:p>
        </p:txBody>
      </p:sp>
      <p:sp>
        <p:nvSpPr>
          <p:cNvPr id="28" name="Shape 26"/>
          <p:cNvSpPr/>
          <p:nvPr/>
        </p:nvSpPr>
        <p:spPr>
          <a:xfrm>
            <a:off x="365760" y="2889504"/>
            <a:ext cx="5751576" cy="2889504"/>
          </a:xfrm>
          <a:prstGeom prst="roundRect">
            <a:avLst>
              <a:gd name="adj" fmla="val 1899"/>
            </a:avLst>
          </a:prstGeom>
          <a:solidFill>
            <a:srgbClr val="FFFFFF"/>
          </a:solidFill>
          <a:ln w="12700">
            <a:solidFill>
              <a:srgbClr val="D7DCE2"/>
            </a:solidFill>
            <a:prstDash val="solid"/>
          </a:ln>
        </p:spPr>
      </p:sp>
      <p:sp>
        <p:nvSpPr>
          <p:cNvPr id="29" name="Text 27"/>
          <p:cNvSpPr txBox="1"/>
          <p:nvPr/>
        </p:nvSpPr>
        <p:spPr>
          <a:xfrm>
            <a:off x="548640" y="3017520"/>
            <a:ext cx="5385816"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WHAT WE WATCH — AND WHY THAT METRIC</a:t>
            </a:r>
            <a:endParaRPr lang="en-US" sz="900" dirty="0"/>
          </a:p>
        </p:txBody>
      </p:sp>
      <p:sp>
        <p:nvSpPr>
          <p:cNvPr id="30" name="Text 28"/>
          <p:cNvSpPr txBox="1"/>
          <p:nvPr/>
        </p:nvSpPr>
        <p:spPr>
          <a:xfrm>
            <a:off x="548640" y="3273552"/>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Edit rate on drafts</a:t>
            </a:r>
            <a:endParaRPr lang="en-US" sz="840" dirty="0"/>
          </a:p>
        </p:txBody>
      </p:sp>
      <p:sp>
        <p:nvSpPr>
          <p:cNvPr id="31" name="Text 29"/>
          <p:cNvSpPr txBox="1"/>
          <p:nvPr/>
        </p:nvSpPr>
        <p:spPr>
          <a:xfrm>
            <a:off x="2907792" y="3273552"/>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trust signal. A model can be accurate and still not be used.</a:t>
            </a:r>
            <a:endParaRPr lang="en-US" sz="800" dirty="0"/>
          </a:p>
        </p:txBody>
      </p:sp>
      <p:sp>
        <p:nvSpPr>
          <p:cNvPr id="32" name="Text 30"/>
          <p:cNvSpPr txBox="1"/>
          <p:nvPr/>
        </p:nvSpPr>
        <p:spPr>
          <a:xfrm>
            <a:off x="548640" y="3712464"/>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Field-level extraction precision</a:t>
            </a:r>
            <a:endParaRPr lang="en-US" sz="840" dirty="0"/>
          </a:p>
        </p:txBody>
      </p:sp>
      <p:sp>
        <p:nvSpPr>
          <p:cNvPr id="33" name="Text 31"/>
          <p:cNvSpPr txBox="1"/>
          <p:nvPr/>
        </p:nvSpPr>
        <p:spPr>
          <a:xfrm>
            <a:off x="2907792" y="3712464"/>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Checked against the source document, per field, not per claim.</a:t>
            </a:r>
            <a:endParaRPr lang="en-US" sz="800" dirty="0"/>
          </a:p>
        </p:txBody>
      </p:sp>
      <p:sp>
        <p:nvSpPr>
          <p:cNvPr id="34" name="Text 32"/>
          <p:cNvSpPr txBox="1"/>
          <p:nvPr/>
        </p:nvSpPr>
        <p:spPr>
          <a:xfrm>
            <a:off x="548640" y="4151376"/>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Exception rate, by node</a:t>
            </a:r>
            <a:endParaRPr lang="en-US" sz="840" dirty="0"/>
          </a:p>
        </p:txBody>
      </p:sp>
      <p:sp>
        <p:nvSpPr>
          <p:cNvPr id="35" name="Text 33"/>
          <p:cNvSpPr txBox="1"/>
          <p:nvPr/>
        </p:nvSpPr>
        <p:spPr>
          <a:xfrm>
            <a:off x="2907792" y="4151376"/>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Says which step is actually struggling, not that “the AI” is.</a:t>
            </a:r>
            <a:endParaRPr lang="en-US" sz="800" dirty="0"/>
          </a:p>
        </p:txBody>
      </p:sp>
      <p:sp>
        <p:nvSpPr>
          <p:cNvPr id="36" name="Text 34"/>
          <p:cNvSpPr txBox="1"/>
          <p:nvPr/>
        </p:nvSpPr>
        <p:spPr>
          <a:xfrm>
            <a:off x="548640" y="4590288"/>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Override rate by claim type</a:t>
            </a:r>
            <a:endParaRPr lang="en-US" sz="840" dirty="0"/>
          </a:p>
        </p:txBody>
      </p:sp>
      <p:sp>
        <p:nvSpPr>
          <p:cNvPr id="37" name="Text 35"/>
          <p:cNvSpPr txBox="1"/>
          <p:nvPr/>
        </p:nvSpPr>
        <p:spPr>
          <a:xfrm>
            <a:off x="2907792" y="4590288"/>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Feeds the confidence threshold. Teeth claims will differ from the rest.</a:t>
            </a:r>
            <a:endParaRPr lang="en-US" sz="800" dirty="0"/>
          </a:p>
        </p:txBody>
      </p:sp>
      <p:sp>
        <p:nvSpPr>
          <p:cNvPr id="38" name="Text 36"/>
          <p:cNvSpPr txBox="1"/>
          <p:nvPr/>
        </p:nvSpPr>
        <p:spPr>
          <a:xfrm>
            <a:off x="548640" y="5029200"/>
            <a:ext cx="2286000" cy="420624"/>
          </a:xfrm>
          <a:prstGeom prst="rect">
            <a:avLst/>
          </a:prstGeom>
          <a:noFill/>
          <a:ln/>
        </p:spPr>
        <p:txBody>
          <a:bodyPr wrap="square" lIns="0" tIns="0" rIns="0" bIns="0" rtlCol="0" anchor="ctr"/>
          <a:lstStyle/>
          <a:p>
            <a:pPr indent="0" marL="0">
              <a:lnSpc>
                <a:spcPct val="110000"/>
              </a:lnSpc>
              <a:buNone/>
            </a:pPr>
            <a:r>
              <a:rPr lang="en-US" sz="840" b="1" dirty="0">
                <a:solidFill>
                  <a:srgbClr val="1B2430"/>
                </a:solidFill>
                <a:latin typeface="Arial" pitchFamily="34" charset="0"/>
                <a:ea typeface="Arial" pitchFamily="34" charset="-122"/>
                <a:cs typeface="Arial" pitchFamily="34" charset="-120"/>
              </a:rPr>
              <a:t>First report to linked claim</a:t>
            </a:r>
            <a:endParaRPr lang="en-US" sz="840" dirty="0"/>
          </a:p>
        </p:txBody>
      </p:sp>
      <p:sp>
        <p:nvSpPr>
          <p:cNvPr id="39" name="Text 37"/>
          <p:cNvSpPr txBox="1"/>
          <p:nvPr/>
        </p:nvSpPr>
        <p:spPr>
          <a:xfrm>
            <a:off x="2907792" y="5029200"/>
            <a:ext cx="3026664" cy="420624"/>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only number the business asked for. Everything else is diagnostic.</a:t>
            </a:r>
            <a:endParaRPr lang="en-US" sz="800" dirty="0"/>
          </a:p>
        </p:txBody>
      </p:sp>
      <p:sp>
        <p:nvSpPr>
          <p:cNvPr id="40" name="Text 38"/>
          <p:cNvSpPr txBox="1"/>
          <p:nvPr/>
        </p:nvSpPr>
        <p:spPr>
          <a:xfrm>
            <a:off x="548640" y="5504688"/>
            <a:ext cx="5385816" cy="182880"/>
          </a:xfrm>
          <a:prstGeom prst="rect">
            <a:avLst/>
          </a:prstGeom>
          <a:noFill/>
          <a:ln/>
        </p:spPr>
        <p:txBody>
          <a:bodyPr wrap="square" lIns="0" tIns="0" rIns="0" bIns="0" rtlCol="0" anchor="ctr"/>
          <a:lstStyle/>
          <a:p>
            <a:pPr indent="0" marL="0">
              <a:buNone/>
            </a:pPr>
            <a:r>
              <a:rPr lang="en-US" sz="780" i="1" dirty="0">
                <a:solidFill>
                  <a:srgbClr val="0891B2"/>
                </a:solidFill>
                <a:latin typeface="Arial" pitchFamily="34" charset="0"/>
                <a:ea typeface="Arial" pitchFamily="34" charset="-122"/>
                <a:cs typeface="Arial" pitchFamily="34" charset="-120"/>
              </a:rPr>
              <a:t>Alert on the rate, not the count — one stuck claim is normal, twenty in an hour is not.</a:t>
            </a:r>
            <a:endParaRPr lang="en-US" sz="780" dirty="0"/>
          </a:p>
        </p:txBody>
      </p:sp>
      <p:sp>
        <p:nvSpPr>
          <p:cNvPr id="41" name="Shape 39"/>
          <p:cNvSpPr/>
          <p:nvPr/>
        </p:nvSpPr>
        <p:spPr>
          <a:xfrm>
            <a:off x="6300216" y="2889504"/>
            <a:ext cx="5522976" cy="2889504"/>
          </a:xfrm>
          <a:prstGeom prst="roundRect">
            <a:avLst>
              <a:gd name="adj" fmla="val 1899"/>
            </a:avLst>
          </a:prstGeom>
          <a:solidFill>
            <a:srgbClr val="FFFFFF"/>
          </a:solidFill>
          <a:ln w="15240">
            <a:solidFill>
              <a:srgbClr val="BE185D"/>
            </a:solidFill>
            <a:prstDash val="solid"/>
          </a:ln>
        </p:spPr>
      </p:sp>
      <p:sp>
        <p:nvSpPr>
          <p:cNvPr id="42" name="Text 40"/>
          <p:cNvSpPr txBox="1"/>
          <p:nvPr/>
        </p:nvSpPr>
        <p:spPr>
          <a:xfrm>
            <a:off x="6483096" y="3017520"/>
            <a:ext cx="5157216"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WHEN IT BREAKS</a:t>
            </a:r>
            <a:endParaRPr lang="en-US" sz="900" dirty="0"/>
          </a:p>
        </p:txBody>
      </p:sp>
      <p:sp>
        <p:nvSpPr>
          <p:cNvPr id="43" name="Text 41"/>
          <p:cNvSpPr txBox="1"/>
          <p:nvPr/>
        </p:nvSpPr>
        <p:spPr>
          <a:xfrm>
            <a:off x="6483096" y="3273552"/>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An agent fails, or confidence is low</a:t>
            </a:r>
            <a:endParaRPr lang="en-US" sz="840" dirty="0"/>
          </a:p>
        </p:txBody>
      </p:sp>
      <p:sp>
        <p:nvSpPr>
          <p:cNvPr id="44" name="Text 42"/>
          <p:cNvSpPr txBox="1"/>
          <p:nvPr/>
        </p:nvSpPr>
        <p:spPr>
          <a:xfrm>
            <a:off x="6483096" y="3447288"/>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The claim drops into today's manual queue. The old path is never removed, so the failure mode is a slower claim, never a wrong one.</a:t>
            </a:r>
            <a:endParaRPr lang="en-US" sz="800" dirty="0"/>
          </a:p>
        </p:txBody>
      </p:sp>
      <p:sp>
        <p:nvSpPr>
          <p:cNvPr id="45" name="Text 43"/>
          <p:cNvSpPr txBox="1"/>
          <p:nvPr/>
        </p:nvSpPr>
        <p:spPr>
          <a:xfrm>
            <a:off x="6483096" y="3840480"/>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A prompt or model version changes</a:t>
            </a:r>
            <a:endParaRPr lang="en-US" sz="840" dirty="0"/>
          </a:p>
        </p:txBody>
      </p:sp>
      <p:sp>
        <p:nvSpPr>
          <p:cNvPr id="46" name="Text 44"/>
          <p:cNvSpPr txBox="1"/>
          <p:nvPr/>
        </p:nvSpPr>
        <p:spPr>
          <a:xfrm>
            <a:off x="6483096" y="4014216"/>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200 historical claims are replayed first. A regression against the recorded outcome blocks the deploy.</a:t>
            </a:r>
            <a:endParaRPr lang="en-US" sz="800" dirty="0"/>
          </a:p>
        </p:txBody>
      </p:sp>
      <p:sp>
        <p:nvSpPr>
          <p:cNvPr id="47" name="Text 45"/>
          <p:cNvSpPr txBox="1"/>
          <p:nvPr/>
        </p:nvSpPr>
        <p:spPr>
          <a:xfrm>
            <a:off x="6483096" y="4407408"/>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One agent misbehaves in the wild</a:t>
            </a:r>
            <a:endParaRPr lang="en-US" sz="840" dirty="0"/>
          </a:p>
        </p:txBody>
      </p:sp>
      <p:sp>
        <p:nvSpPr>
          <p:cNvPr id="48" name="Text 46"/>
          <p:cNvSpPr txBox="1"/>
          <p:nvPr/>
        </p:nvSpPr>
        <p:spPr>
          <a:xfrm>
            <a:off x="6483096" y="4581144"/>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Each is behind its own switch. Turn off drafting and extraction keeps running.</a:t>
            </a:r>
            <a:endParaRPr lang="en-US" sz="800" dirty="0"/>
          </a:p>
        </p:txBody>
      </p:sp>
      <p:sp>
        <p:nvSpPr>
          <p:cNvPr id="49" name="Text 47"/>
          <p:cNvSpPr txBox="1"/>
          <p:nvPr/>
        </p:nvSpPr>
        <p:spPr>
          <a:xfrm>
            <a:off x="6483096" y="4974336"/>
            <a:ext cx="5157216" cy="182880"/>
          </a:xfrm>
          <a:prstGeom prst="rect">
            <a:avLst/>
          </a:prstGeom>
          <a:noFill/>
          <a:ln/>
        </p:spPr>
        <p:txBody>
          <a:bodyPr wrap="square" lIns="0" tIns="0" rIns="0" bIns="0" rtlCol="0" anchor="ctr"/>
          <a:lstStyle/>
          <a:p>
            <a:pPr indent="0" marL="0">
              <a:buNone/>
            </a:pPr>
            <a:r>
              <a:rPr lang="en-US" sz="840" b="1" dirty="0">
                <a:solidFill>
                  <a:srgbClr val="6A1F42"/>
                </a:solidFill>
                <a:latin typeface="Arial" pitchFamily="34" charset="0"/>
                <a:ea typeface="Arial" pitchFamily="34" charset="-122"/>
                <a:cs typeface="Arial" pitchFamily="34" charset="-120"/>
              </a:rPr>
              <a:t>The run dies half way</a:t>
            </a:r>
            <a:endParaRPr lang="en-US" sz="840" dirty="0"/>
          </a:p>
        </p:txBody>
      </p:sp>
      <p:sp>
        <p:nvSpPr>
          <p:cNvPr id="50" name="Text 48"/>
          <p:cNvSpPr txBox="1"/>
          <p:nvPr/>
        </p:nvSpPr>
        <p:spPr>
          <a:xfrm>
            <a:off x="6483096" y="5148072"/>
            <a:ext cx="5157216" cy="384048"/>
          </a:xfrm>
          <a:prstGeom prst="rect">
            <a:avLst/>
          </a:prstGeom>
          <a:noFill/>
          <a:ln/>
        </p:spPr>
        <p:txBody>
          <a:bodyPr wrap="square" lIns="0" tIns="0" rIns="0" bIns="0" rtlCol="0" anchor="ctr"/>
          <a:lstStyle/>
          <a:p>
            <a:pPr indent="0" marL="0">
              <a:lnSpc>
                <a:spcPct val="115000"/>
              </a:lnSpc>
              <a:buNone/>
            </a:pPr>
            <a:r>
              <a:rPr lang="en-US" sz="800" dirty="0">
                <a:solidFill>
                  <a:srgbClr val="5A5A5A"/>
                </a:solidFill>
                <a:latin typeface="Arial" pitchFamily="34" charset="0"/>
                <a:ea typeface="Arial" pitchFamily="34" charset="-122"/>
                <a:cs typeface="Arial" pitchFamily="34" charset="-120"/>
              </a:rPr>
              <a:t>Graph state is checkpointed, so the claim resumes at the last good node instead of starting again.</a:t>
            </a:r>
            <a:endParaRPr lang="en-US" sz="800" dirty="0"/>
          </a:p>
        </p:txBody>
      </p:sp>
      <p:sp>
        <p:nvSpPr>
          <p:cNvPr id="51" name="Text 49"/>
          <p:cNvSpPr txBox="1"/>
          <p:nvPr/>
        </p:nvSpPr>
        <p:spPr>
          <a:xfrm>
            <a:off x="6483096" y="5559552"/>
            <a:ext cx="5157216" cy="182880"/>
          </a:xfrm>
          <a:prstGeom prst="rect">
            <a:avLst/>
          </a:prstGeom>
          <a:noFill/>
          <a:ln/>
        </p:spPr>
        <p:txBody>
          <a:bodyPr wrap="square" lIns="0" tIns="0" rIns="0" bIns="0" rtlCol="0" anchor="ctr"/>
          <a:lstStyle/>
          <a:p>
            <a:pPr indent="0" marL="0">
              <a:buNone/>
            </a:pPr>
            <a:r>
              <a:rPr lang="en-US" sz="780" i="1" dirty="0">
                <a:solidFill>
                  <a:srgbClr val="BE185D"/>
                </a:solidFill>
                <a:latin typeface="Arial" pitchFamily="34" charset="0"/>
                <a:ea typeface="Arial" pitchFamily="34" charset="-122"/>
                <a:cs typeface="Arial" pitchFamily="34" charset="-120"/>
              </a:rPr>
              <a:t>Every decision, its inputs and its confidence are written to the audit log — that is what makes an adverse outcome defensible later.</a:t>
            </a:r>
            <a:endParaRPr lang="en-US" sz="780" dirty="0"/>
          </a:p>
        </p:txBody>
      </p:sp>
      <p:sp>
        <p:nvSpPr>
          <p:cNvPr id="52" name="Text 50"/>
          <p:cNvSpPr txBox="1"/>
          <p:nvPr/>
        </p:nvSpPr>
        <p:spPr>
          <a:xfrm>
            <a:off x="365760" y="6053328"/>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Thresholds shown are the ones we would propose and then argue about with the claims lead — they are starting points, not findings</a:t>
            </a:r>
            <a:endParaRPr lang="en-US" sz="700" dirty="0"/>
          </a:p>
        </p:txBody>
      </p:sp>
      <p:sp>
        <p:nvSpPr>
          <p:cNvPr id="53" name="Text 51"/>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4" name="Text 52"/>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7 / 9</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Every figure is built from observed steps and list prices — none of it is a best case</a:t>
            </a:r>
            <a:endParaRPr lang="en-US" sz="1400" dirty="0"/>
          </a:p>
        </p:txBody>
      </p:sp>
      <p:sp>
        <p:nvSpPr>
          <p:cNvPr id="3" name="Text 1"/>
          <p:cNvSpPr txBox="1"/>
          <p:nvPr/>
        </p:nvSpPr>
        <p:spPr>
          <a:xfrm>
            <a:off x="8138160" y="146304"/>
            <a:ext cx="36850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HOW THE NUMBERS ARE BUILT</a:t>
            </a:r>
            <a:endParaRPr lang="en-US" sz="950" dirty="0"/>
          </a:p>
        </p:txBody>
      </p:sp>
      <p:sp>
        <p:nvSpPr>
          <p:cNvPr id="4" name="Text 2"/>
          <p:cNvSpPr txBox="1"/>
          <p:nvPr/>
        </p:nvSpPr>
        <p:spPr>
          <a:xfrm>
            <a:off x="365760" y="530352"/>
            <a:ext cx="5486400" cy="219456"/>
          </a:xfrm>
          <a:prstGeom prst="rect">
            <a:avLst/>
          </a:prstGeom>
          <a:noFill/>
          <a:ln/>
        </p:spPr>
        <p:txBody>
          <a:bodyPr wrap="square" lIns="0" tIns="0" rIns="0" bIns="0" rtlCol="0" anchor="ctr"/>
          <a:lstStyle/>
          <a:p>
            <a:pPr indent="0" marL="0">
              <a:buNone/>
            </a:pPr>
            <a:r>
              <a:rPr lang="en-US" sz="900" b="1" spc="80" kern="0" dirty="0">
                <a:solidFill>
                  <a:srgbClr val="D97706"/>
                </a:solidFill>
                <a:latin typeface="Arial" pitchFamily="34" charset="0"/>
                <a:ea typeface="Arial" pitchFamily="34" charset="-122"/>
                <a:cs typeface="Arial" pitchFamily="34" charset="-120"/>
              </a:rPr>
              <a:t>A · HANDLER TIME — MINUTES PER CLAIM, PER HANDLER</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786384"/>
          <a:ext cx="5486400" cy="914400"/>
        </p:xfrm>
        <a:graphic>
          <a:graphicData uri="http://schemas.openxmlformats.org/drawingml/2006/table">
            <a:tbl>
              <a:tblPr/>
              <a:tblGrid>
                <a:gridCol w="3566160"/>
                <a:gridCol w="960120"/>
                <a:gridCol w="960120"/>
              </a:tblGrid>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Step</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Redesigned</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Read the report, re-read it, open attachments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Take notes, check fields, chase a missing CPR</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6.1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Attach policy · duplicate check · coverage date</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Decide, draft and send / open the full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Work an escalation or an underwriting hold</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0.6</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Switch between EASY, IDB, e-mail and paper</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Touch time</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30.8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7.8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Breaks, fatigue, interruptions, rework (+30%)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9.2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2.3</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Standard time — what the design allows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10.1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187452">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What the business case actually banks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19.0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365760" y="3127248"/>
            <a:ext cx="5486400" cy="329184"/>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The design allows 10.1 min a claim. We do not bank that. The case uses a three-point estimate — (best 30 + 4 × likely 21 + worst 12) ÷ 6 = 21.0 min saved a claim — which is the 19.0 min above, and the 19 minutes on slide 1. In plain terms: we assume handlers capture 70% of the saving the design allows.</a:t>
            </a:r>
            <a:endParaRPr lang="en-US" sz="740" dirty="0"/>
          </a:p>
        </p:txBody>
      </p:sp>
      <p:sp>
        <p:nvSpPr>
          <p:cNvPr id="7" name="Shape 4"/>
          <p:cNvSpPr/>
          <p:nvPr/>
        </p:nvSpPr>
        <p:spPr>
          <a:xfrm>
            <a:off x="365760" y="3493008"/>
            <a:ext cx="5486400" cy="548640"/>
          </a:xfrm>
          <a:prstGeom prst="roundRect">
            <a:avLst>
              <a:gd name="adj" fmla="val 8333"/>
            </a:avLst>
          </a:prstGeom>
          <a:solidFill>
            <a:srgbClr val="FDF3E3"/>
          </a:solidFill>
          <a:ln w="12700">
            <a:solidFill>
              <a:srgbClr val="D97706"/>
            </a:solidFill>
            <a:prstDash val="solid"/>
          </a:ln>
        </p:spPr>
      </p:sp>
      <p:sp>
        <p:nvSpPr>
          <p:cNvPr id="8" name="Text 5"/>
          <p:cNvSpPr txBox="1"/>
          <p:nvPr/>
        </p:nvSpPr>
        <p:spPr>
          <a:xfrm>
            <a:off x="530352" y="3493008"/>
            <a:ext cx="5157216" cy="548640"/>
          </a:xfrm>
          <a:prstGeom prst="rect">
            <a:avLst/>
          </a:prstGeom>
          <a:noFill/>
          <a:ln/>
        </p:spPr>
        <p:txBody>
          <a:bodyPr wrap="square" lIns="0" tIns="0" rIns="0" bIns="0" rtlCol="0" anchor="ctr"/>
          <a:lstStyle/>
          <a:p>
            <a:pPr indent="0" marL="0">
              <a:lnSpc>
                <a:spcPct val="115000"/>
              </a:lnSpc>
              <a:buNone/>
            </a:pPr>
            <a:r>
              <a:rPr lang="en-US" sz="820" b="1" dirty="0">
                <a:solidFill>
                  <a:srgbClr val="9A5A0A"/>
                </a:solidFill>
                <a:latin typeface="Arial" pitchFamily="34" charset="0"/>
                <a:ea typeface="Arial" pitchFamily="34" charset="-122"/>
                <a:cs typeface="Arial" pitchFamily="34" charset="-120"/>
              </a:rPr>
              <a:t>Cross-check:  </a:t>
            </a:r>
            <a:pPr indent="0" marL="0">
              <a:lnSpc>
                <a:spcPct val="115000"/>
              </a:lnSpc>
              <a:buNone/>
            </a:pPr>
            <a:r>
              <a:rPr lang="en-US" sz="820" dirty="0">
                <a:solidFill>
                  <a:srgbClr val="44403A"/>
                </a:solidFill>
                <a:latin typeface="Arial" pitchFamily="34" charset="0"/>
                <a:ea typeface="Arial" pitchFamily="34" charset="-122"/>
                <a:cs typeface="Arial" pitchFamily="34" charset="-120"/>
              </a:rPr>
              <a:t>40 min × 12,500 claims a year = 8,332 handler-hours — 17% of a 30-person team's yearly capacity. Plausible for the front end of a claims process. Had it come out at 60%, the model would be wrong.</a:t>
            </a:r>
            <a:endParaRPr lang="en-US" sz="820" dirty="0"/>
          </a:p>
        </p:txBody>
      </p:sp>
      <p:sp>
        <p:nvSpPr>
          <p:cNvPr id="9" name="Shape 6"/>
          <p:cNvSpPr/>
          <p:nvPr/>
        </p:nvSpPr>
        <p:spPr>
          <a:xfrm>
            <a:off x="365760" y="4114800"/>
            <a:ext cx="5486400" cy="2395728"/>
          </a:xfrm>
          <a:prstGeom prst="roundRect">
            <a:avLst>
              <a:gd name="adj" fmla="val 2290"/>
            </a:avLst>
          </a:prstGeom>
          <a:solidFill>
            <a:srgbClr val="FFFFFF"/>
          </a:solidFill>
          <a:ln w="15240">
            <a:solidFill>
              <a:srgbClr val="BE185D"/>
            </a:solidFill>
            <a:prstDash val="solid"/>
          </a:ln>
        </p:spPr>
      </p:sp>
      <p:sp>
        <p:nvSpPr>
          <p:cNvPr id="10" name="Text 7"/>
          <p:cNvSpPr txBox="1"/>
          <p:nvPr/>
        </p:nvSpPr>
        <p:spPr>
          <a:xfrm>
            <a:off x="548640" y="4206240"/>
            <a:ext cx="5120640"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D · THE BUSINESS CASE</a:t>
            </a:r>
            <a:endParaRPr lang="en-US" sz="900" dirty="0"/>
          </a:p>
        </p:txBody>
      </p:sp>
      <p:sp>
        <p:nvSpPr>
          <p:cNvPr id="11" name="Text 8"/>
          <p:cNvSpPr txBox="1"/>
          <p:nvPr/>
        </p:nvSpPr>
        <p:spPr>
          <a:xfrm>
            <a:off x="548640" y="4425696"/>
            <a:ext cx="5120640" cy="182880"/>
          </a:xfrm>
          <a:prstGeom prst="rect">
            <a:avLst/>
          </a:prstGeom>
          <a:noFill/>
          <a:ln/>
        </p:spPr>
        <p:txBody>
          <a:bodyPr wrap="square" lIns="0" tIns="0" rIns="0" bIns="0" rtlCol="0" anchor="ctr"/>
          <a:lstStyle/>
          <a:p>
            <a:pPr indent="0" marL="0">
              <a:buNone/>
            </a:pPr>
            <a:r>
              <a:rPr lang="en-US" sz="760" b="1" spc="120" kern="0" dirty="0">
                <a:solidFill>
                  <a:srgbClr val="BE185D"/>
                </a:solidFill>
                <a:latin typeface="Arial" pitchFamily="34" charset="0"/>
                <a:ea typeface="Arial" pitchFamily="34" charset="-122"/>
                <a:cs typeface="Arial" pitchFamily="34" charset="-120"/>
              </a:rPr>
              <a:t>EVERY YEAR</a:t>
            </a:r>
            <a:endParaRPr lang="en-US" sz="760" dirty="0"/>
          </a:p>
        </p:txBody>
      </p:sp>
      <p:sp>
        <p:nvSpPr>
          <p:cNvPr id="12" name="Text 9"/>
          <p:cNvSpPr txBox="1"/>
          <p:nvPr/>
        </p:nvSpPr>
        <p:spPr>
          <a:xfrm>
            <a:off x="548640" y="4608576"/>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Capacity released</a:t>
            </a:r>
            <a:endParaRPr lang="en-US" sz="840" dirty="0"/>
          </a:p>
        </p:txBody>
      </p:sp>
      <p:sp>
        <p:nvSpPr>
          <p:cNvPr id="13" name="Text 10"/>
          <p:cNvSpPr txBox="1"/>
          <p:nvPr/>
        </p:nvSpPr>
        <p:spPr>
          <a:xfrm>
            <a:off x="4069080" y="4608576"/>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4,370 handler-h · 2.8 FTE</a:t>
            </a:r>
            <a:endParaRPr lang="en-US" sz="840" dirty="0"/>
          </a:p>
        </p:txBody>
      </p:sp>
      <p:sp>
        <p:nvSpPr>
          <p:cNvPr id="14" name="Text 11"/>
          <p:cNvSpPr txBox="1"/>
          <p:nvPr/>
        </p:nvSpPr>
        <p:spPr>
          <a:xfrm>
            <a:off x="548640" y="4805172"/>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Worth, at €34.92 per handler-hour</a:t>
            </a:r>
            <a:endParaRPr lang="en-US" sz="840" dirty="0"/>
          </a:p>
        </p:txBody>
      </p:sp>
      <p:sp>
        <p:nvSpPr>
          <p:cNvPr id="15" name="Text 12"/>
          <p:cNvSpPr txBox="1"/>
          <p:nvPr/>
        </p:nvSpPr>
        <p:spPr>
          <a:xfrm>
            <a:off x="4069080" y="4805172"/>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€152,600 a year</a:t>
            </a:r>
            <a:endParaRPr lang="en-US" sz="840" dirty="0"/>
          </a:p>
        </p:txBody>
      </p:sp>
      <p:sp>
        <p:nvSpPr>
          <p:cNvPr id="16" name="Text 13"/>
          <p:cNvSpPr txBox="1"/>
          <p:nvPr/>
        </p:nvSpPr>
        <p:spPr>
          <a:xfrm>
            <a:off x="548640" y="5001768"/>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Cost to run it — AI models and Azure</a:t>
            </a:r>
            <a:endParaRPr lang="en-US" sz="840" dirty="0"/>
          </a:p>
        </p:txBody>
      </p:sp>
      <p:sp>
        <p:nvSpPr>
          <p:cNvPr id="17" name="Text 14"/>
          <p:cNvSpPr txBox="1"/>
          <p:nvPr/>
        </p:nvSpPr>
        <p:spPr>
          <a:xfrm>
            <a:off x="4069080" y="5001768"/>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 €2,400</a:t>
            </a:r>
            <a:endParaRPr lang="en-US" sz="840" dirty="0"/>
          </a:p>
        </p:txBody>
      </p:sp>
      <p:sp>
        <p:nvSpPr>
          <p:cNvPr id="18" name="Text 15"/>
          <p:cNvSpPr txBox="1"/>
          <p:nvPr/>
        </p:nvSpPr>
        <p:spPr>
          <a:xfrm>
            <a:off x="548640" y="5198364"/>
            <a:ext cx="3520440" cy="192024"/>
          </a:xfrm>
          <a:prstGeom prst="rect">
            <a:avLst/>
          </a:prstGeom>
          <a:noFill/>
          <a:ln/>
        </p:spPr>
        <p:txBody>
          <a:bodyPr wrap="square" lIns="0" tIns="0" rIns="0" bIns="0" rtlCol="0" anchor="ctr"/>
          <a:lstStyle/>
          <a:p>
            <a:pPr indent="0" marL="0">
              <a:buNone/>
            </a:pPr>
            <a:r>
              <a:rPr lang="en-US" sz="840" dirty="0">
                <a:solidFill>
                  <a:srgbClr val="3A3A3A"/>
                </a:solidFill>
                <a:latin typeface="Arial" pitchFamily="34" charset="0"/>
                <a:ea typeface="Arial" pitchFamily="34" charset="-122"/>
                <a:cs typeface="Arial" pitchFamily="34" charset="-120"/>
              </a:rPr>
              <a:t>Ongoing support — 0.25 of an engineer</a:t>
            </a:r>
            <a:endParaRPr lang="en-US" sz="840" dirty="0"/>
          </a:p>
        </p:txBody>
      </p:sp>
      <p:sp>
        <p:nvSpPr>
          <p:cNvPr id="19" name="Text 16"/>
          <p:cNvSpPr txBox="1"/>
          <p:nvPr/>
        </p:nvSpPr>
        <p:spPr>
          <a:xfrm>
            <a:off x="4069080" y="5198364"/>
            <a:ext cx="1600200" cy="192024"/>
          </a:xfrm>
          <a:prstGeom prst="rect">
            <a:avLst/>
          </a:prstGeom>
          <a:noFill/>
          <a:ln/>
        </p:spPr>
        <p:txBody>
          <a:bodyPr wrap="square" lIns="0" tIns="0" rIns="0" bIns="0" rtlCol="0" anchor="ctr"/>
          <a:lstStyle/>
          <a:p>
            <a:pPr algn="r" indent="0" marL="0">
              <a:buNone/>
            </a:pPr>
            <a:r>
              <a:rPr lang="en-US" sz="840" b="1" dirty="0">
                <a:solidFill>
                  <a:srgbClr val="1B2430"/>
                </a:solidFill>
                <a:latin typeface="Arial" pitchFamily="34" charset="0"/>
                <a:ea typeface="Arial" pitchFamily="34" charset="-122"/>
                <a:cs typeface="Arial" pitchFamily="34" charset="-120"/>
              </a:rPr>
              <a:t>− €24,400</a:t>
            </a:r>
            <a:endParaRPr lang="en-US" sz="840" dirty="0"/>
          </a:p>
        </p:txBody>
      </p:sp>
      <p:sp>
        <p:nvSpPr>
          <p:cNvPr id="20" name="Text 17"/>
          <p:cNvSpPr txBox="1"/>
          <p:nvPr/>
        </p:nvSpPr>
        <p:spPr>
          <a:xfrm>
            <a:off x="548640" y="5394960"/>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Net value, every year</a:t>
            </a:r>
            <a:endParaRPr lang="en-US" sz="840" dirty="0"/>
          </a:p>
        </p:txBody>
      </p:sp>
      <p:sp>
        <p:nvSpPr>
          <p:cNvPr id="21" name="Text 18"/>
          <p:cNvSpPr txBox="1"/>
          <p:nvPr/>
        </p:nvSpPr>
        <p:spPr>
          <a:xfrm>
            <a:off x="4069080" y="5394960"/>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€125,800</a:t>
            </a:r>
            <a:endParaRPr lang="en-US" sz="840" dirty="0"/>
          </a:p>
        </p:txBody>
      </p:sp>
      <p:sp>
        <p:nvSpPr>
          <p:cNvPr id="22" name="Shape 19"/>
          <p:cNvSpPr/>
          <p:nvPr/>
        </p:nvSpPr>
        <p:spPr>
          <a:xfrm>
            <a:off x="548640" y="5614416"/>
            <a:ext cx="5120640" cy="10973"/>
          </a:xfrm>
          <a:prstGeom prst="rect">
            <a:avLst/>
          </a:prstGeom>
          <a:solidFill>
            <a:srgbClr val="E4E4E0"/>
          </a:solidFill>
          <a:ln/>
        </p:spPr>
      </p:sp>
      <p:sp>
        <p:nvSpPr>
          <p:cNvPr id="23" name="Text 20"/>
          <p:cNvSpPr txBox="1"/>
          <p:nvPr/>
        </p:nvSpPr>
        <p:spPr>
          <a:xfrm>
            <a:off x="548640" y="5669280"/>
            <a:ext cx="5120640" cy="182880"/>
          </a:xfrm>
          <a:prstGeom prst="rect">
            <a:avLst/>
          </a:prstGeom>
          <a:noFill/>
          <a:ln/>
        </p:spPr>
        <p:txBody>
          <a:bodyPr wrap="square" lIns="0" tIns="0" rIns="0" bIns="0" rtlCol="0" anchor="ctr"/>
          <a:lstStyle/>
          <a:p>
            <a:pPr indent="0" marL="0">
              <a:buNone/>
            </a:pPr>
            <a:r>
              <a:rPr lang="en-US" sz="760" b="1" spc="120" kern="0" dirty="0">
                <a:solidFill>
                  <a:srgbClr val="BE185D"/>
                </a:solidFill>
                <a:latin typeface="Arial" pitchFamily="34" charset="0"/>
                <a:ea typeface="Arial" pitchFamily="34" charset="-122"/>
                <a:cs typeface="Arial" pitchFamily="34" charset="-120"/>
              </a:rPr>
              <a:t>ONE-OFF</a:t>
            </a:r>
            <a:endParaRPr lang="en-US" sz="760" dirty="0"/>
          </a:p>
        </p:txBody>
      </p:sp>
      <p:sp>
        <p:nvSpPr>
          <p:cNvPr id="24" name="Text 21"/>
          <p:cNvSpPr txBox="1"/>
          <p:nvPr/>
        </p:nvSpPr>
        <p:spPr>
          <a:xfrm>
            <a:off x="548640" y="5870448"/>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Build — 3 people × 6 months, fully loaded</a:t>
            </a:r>
            <a:endParaRPr lang="en-US" sz="840" dirty="0"/>
          </a:p>
        </p:txBody>
      </p:sp>
      <p:sp>
        <p:nvSpPr>
          <p:cNvPr id="25" name="Text 22"/>
          <p:cNvSpPr txBox="1"/>
          <p:nvPr/>
        </p:nvSpPr>
        <p:spPr>
          <a:xfrm>
            <a:off x="4069080" y="5870448"/>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€146,400</a:t>
            </a:r>
            <a:endParaRPr lang="en-US" sz="840" dirty="0"/>
          </a:p>
        </p:txBody>
      </p:sp>
      <p:sp>
        <p:nvSpPr>
          <p:cNvPr id="26" name="Text 23"/>
          <p:cNvSpPr txBox="1"/>
          <p:nvPr/>
        </p:nvSpPr>
        <p:spPr>
          <a:xfrm>
            <a:off x="548640" y="6067044"/>
            <a:ext cx="3520440" cy="192024"/>
          </a:xfrm>
          <a:prstGeom prst="rect">
            <a:avLst/>
          </a:prstGeom>
          <a:noFill/>
          <a:ln/>
        </p:spPr>
        <p:txBody>
          <a:bodyPr wrap="square" lIns="0" tIns="0" rIns="0" bIns="0" rtlCol="0" anchor="ctr"/>
          <a:lstStyle/>
          <a:p>
            <a:pPr indent="0" marL="0">
              <a:buNone/>
            </a:pPr>
            <a:r>
              <a:rPr lang="en-US" sz="840" b="1" dirty="0">
                <a:solidFill>
                  <a:srgbClr val="1B2430"/>
                </a:solidFill>
                <a:latin typeface="Arial" pitchFamily="34" charset="0"/>
                <a:ea typeface="Arial" pitchFamily="34" charset="-122"/>
                <a:cs typeface="Arial" pitchFamily="34" charset="-120"/>
              </a:rPr>
              <a:t>Payback</a:t>
            </a:r>
            <a:endParaRPr lang="en-US" sz="840" dirty="0"/>
          </a:p>
        </p:txBody>
      </p:sp>
      <p:sp>
        <p:nvSpPr>
          <p:cNvPr id="27" name="Text 24"/>
          <p:cNvSpPr txBox="1"/>
          <p:nvPr/>
        </p:nvSpPr>
        <p:spPr>
          <a:xfrm>
            <a:off x="4069080" y="6067044"/>
            <a:ext cx="1600200" cy="192024"/>
          </a:xfrm>
          <a:prstGeom prst="rect">
            <a:avLst/>
          </a:prstGeom>
          <a:noFill/>
          <a:ln/>
        </p:spPr>
        <p:txBody>
          <a:bodyPr wrap="square" lIns="0" tIns="0" rIns="0" bIns="0" rtlCol="0" anchor="ctr"/>
          <a:lstStyle/>
          <a:p>
            <a:pPr algn="r" indent="0" marL="0">
              <a:buNone/>
            </a:pPr>
            <a:r>
              <a:rPr lang="en-US" sz="840" b="1" dirty="0">
                <a:solidFill>
                  <a:srgbClr val="BE185D"/>
                </a:solidFill>
                <a:latin typeface="Arial" pitchFamily="34" charset="0"/>
                <a:ea typeface="Arial" pitchFamily="34" charset="-122"/>
                <a:cs typeface="Arial" pitchFamily="34" charset="-120"/>
              </a:rPr>
              <a:t>14 months</a:t>
            </a:r>
            <a:endParaRPr lang="en-US" sz="840" dirty="0"/>
          </a:p>
        </p:txBody>
      </p:sp>
      <p:sp>
        <p:nvSpPr>
          <p:cNvPr id="28" name="Text 25"/>
          <p:cNvSpPr txBox="1"/>
          <p:nvPr/>
        </p:nvSpPr>
        <p:spPr>
          <a:xfrm>
            <a:off x="548640" y="6272784"/>
            <a:ext cx="5120640" cy="219456"/>
          </a:xfrm>
          <a:prstGeom prst="rect">
            <a:avLst/>
          </a:prstGeom>
          <a:noFill/>
          <a:ln/>
        </p:spPr>
        <p:txBody>
          <a:bodyPr wrap="square" lIns="0" tIns="0" rIns="0" bIns="0" rtlCol="0" anchor="ctr"/>
          <a:lstStyle/>
          <a:p>
            <a:pPr indent="0" marL="0">
              <a:lnSpc>
                <a:spcPct val="115000"/>
              </a:lnSpc>
              <a:buNone/>
            </a:pPr>
            <a:r>
              <a:rPr lang="en-US" sz="720" i="1" dirty="0">
                <a:solidFill>
                  <a:srgbClr val="6A6A6A"/>
                </a:solidFill>
                <a:latin typeface="Arial" pitchFamily="34" charset="0"/>
                <a:ea typeface="Arial" pitchFamily="34" charset="-122"/>
                <a:cs typeface="Arial" pitchFamily="34" charset="-120"/>
              </a:rPr>
              <a:t>The build is loaded team capacity, not new cash — the AI team is already funded. New cash needed: €2,400 a year. A shorter build costs less: 4 months ≈ €98k.</a:t>
            </a:r>
            <a:endParaRPr lang="en-US" sz="720" dirty="0"/>
          </a:p>
        </p:txBody>
      </p:sp>
      <p:sp>
        <p:nvSpPr>
          <p:cNvPr id="29" name="Text 26"/>
          <p:cNvSpPr txBox="1"/>
          <p:nvPr/>
        </p:nvSpPr>
        <p:spPr>
          <a:xfrm>
            <a:off x="6263640" y="530352"/>
            <a:ext cx="5486400"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B · AI COST TO PROCESS ONE CLAIM</a:t>
            </a:r>
            <a:endParaRPr lang="en-US" sz="9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786384"/>
          <a:ext cx="5486400" cy="914400"/>
        </p:xfrm>
        <a:graphic>
          <a:graphicData uri="http://schemas.openxmlformats.org/drawingml/2006/table">
            <a:tbl>
              <a:tblPr/>
              <a:tblGrid>
                <a:gridCol w="2423160"/>
                <a:gridCol w="914400"/>
                <a:gridCol w="640080"/>
                <a:gridCol w="594360"/>
                <a:gridCol w="91440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Agent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Tokens in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Out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Runs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US$ /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Extraction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11,500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700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0.0314</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Classification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900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0.0032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Validation — rules only, no model</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Exception research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2,500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0.0020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Outcome drafting</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2,200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100%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0.0110</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Subtotal</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0.0476</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 1.75 for retries, guardrails, evals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0.0833</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Per claim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 €0.077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1" name="Text 27"/>
          <p:cNvSpPr txBox="1"/>
          <p:nvPr/>
        </p:nvSpPr>
        <p:spPr>
          <a:xfrm>
            <a:off x="6263640" y="2743200"/>
            <a:ext cx="5486400" cy="237744"/>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One claim ≈ a scanned form, an e-mail and 3–4 attachments. All four agents run on one model tier — gpt-5.6 terra, $2 in / $12 out per million tokens.</a:t>
            </a:r>
            <a:endParaRPr lang="en-US" sz="740" dirty="0"/>
          </a:p>
        </p:txBody>
      </p:sp>
      <p:sp>
        <p:nvSpPr>
          <p:cNvPr id="32" name="Text 28"/>
          <p:cNvSpPr txBox="1"/>
          <p:nvPr/>
        </p:nvSpPr>
        <p:spPr>
          <a:xfrm>
            <a:off x="6263640" y="3035808"/>
            <a:ext cx="5486400" cy="219456"/>
          </a:xfrm>
          <a:prstGeom prst="rect">
            <a:avLst/>
          </a:prstGeom>
          <a:noFill/>
          <a:ln/>
        </p:spPr>
        <p:txBody>
          <a:bodyPr wrap="square" lIns="0" tIns="0" rIns="0" bIns="0" rtlCol="0" anchor="ctr"/>
          <a:lstStyle/>
          <a:p>
            <a:pPr indent="0" marL="0">
              <a:buNone/>
            </a:pPr>
            <a:r>
              <a:rPr lang="en-US" sz="900" b="1" spc="80" kern="0" dirty="0">
                <a:solidFill>
                  <a:srgbClr val="0891B2"/>
                </a:solidFill>
                <a:latin typeface="Arial" pitchFamily="34" charset="0"/>
                <a:ea typeface="Arial" pitchFamily="34" charset="-122"/>
                <a:cs typeface="Arial" pitchFamily="34" charset="-120"/>
              </a:rPr>
              <a:t>C · AZURE, WEST EUROPE — MONTHLY</a:t>
            </a:r>
            <a:endParaRPr lang="en-US" sz="900" dirty="0"/>
          </a:p>
        </p:txBody>
      </p:sp>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6263640" y="3291840"/>
          <a:ext cx="5486400" cy="914400"/>
        </p:xfrm>
        <a:graphic>
          <a:graphicData uri="http://schemas.openxmlformats.org/drawingml/2006/table">
            <a:tbl>
              <a:tblPr/>
              <a:tblGrid>
                <a:gridCol w="4434840"/>
                <a:gridCol w="105156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Component</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US$/mth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 container apps — 2 always on, 2 burst only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55</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PostgreSQL B2s + 64 GiB storage and backup</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61</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Blob storage for documents + audit logs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Net new, incl. ~8% West Europe premium</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134</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4" name="Text 29"/>
          <p:cNvSpPr txBox="1"/>
          <p:nvPr/>
        </p:nvSpPr>
        <p:spPr>
          <a:xfrm>
            <a:off x="6263640" y="4389120"/>
            <a:ext cx="5486400" cy="256032"/>
          </a:xfrm>
          <a:prstGeom prst="rect">
            <a:avLst/>
          </a:prstGeom>
          <a:noFill/>
          <a:ln/>
        </p:spPr>
        <p:txBody>
          <a:bodyPr wrap="square" lIns="0" tIns="0" rIns="0" bIns="0" rtlCol="0" anchor="ctr"/>
          <a:lstStyle/>
          <a:p>
            <a:pPr indent="0" marL="0">
              <a:lnSpc>
                <a:spcPct val="115000"/>
              </a:lnSpc>
              <a:buNone/>
            </a:pPr>
            <a:r>
              <a:rPr lang="en-US" sz="740" i="1" dirty="0">
                <a:solidFill>
                  <a:srgbClr val="6A6A6A"/>
                </a:solidFill>
                <a:latin typeface="Arial" pitchFamily="34" charset="0"/>
                <a:ea typeface="Arial" pitchFamily="34" charset="-122"/>
                <a:cs typeface="Arial" pitchFamily="34" charset="-120"/>
              </a:rPr>
              <a:t>Registry, networking, Key Vault and DevOps (≈ €670/yr) already exist, so they are not charged here. Azure DevOps gives repos and pipelines, not a database — PostgreSQL is genuinely new.</a:t>
            </a:r>
            <a:endParaRPr lang="en-US" sz="740" dirty="0"/>
          </a:p>
        </p:txBody>
      </p:sp>
      <p:sp>
        <p:nvSpPr>
          <p:cNvPr id="35" name="Text 30"/>
          <p:cNvSpPr txBox="1"/>
          <p:nvPr/>
        </p:nvSpPr>
        <p:spPr>
          <a:xfrm>
            <a:off x="6263640" y="4700016"/>
            <a:ext cx="5486400" cy="219456"/>
          </a:xfrm>
          <a:prstGeom prst="rect">
            <a:avLst/>
          </a:prstGeom>
          <a:noFill/>
          <a:ln/>
        </p:spPr>
        <p:txBody>
          <a:bodyPr wrap="square" lIns="0" tIns="0" rIns="0" bIns="0" rtlCol="0" anchor="ctr"/>
          <a:lstStyle/>
          <a:p>
            <a:pPr indent="0" marL="0">
              <a:buNone/>
            </a:pPr>
            <a:r>
              <a:rPr lang="en-US" sz="900" b="1" spc="80" kern="0" dirty="0">
                <a:solidFill>
                  <a:srgbClr val="BE185D"/>
                </a:solidFill>
                <a:latin typeface="Arial" pitchFamily="34" charset="0"/>
                <a:ea typeface="Arial" pitchFamily="34" charset="-122"/>
                <a:cs typeface="Arial" pitchFamily="34" charset="-120"/>
              </a:rPr>
              <a:t>E · WHO ACTUALLY GETS THE TIME BACK</a:t>
            </a:r>
            <a:endParaRPr lang="en-US" sz="900" dirty="0"/>
          </a:p>
        </p:txBody>
      </p:sp>
      <p:sp>
        <p:nvSpPr>
          <p:cNvPr id="36" name="Text 31"/>
          <p:cNvSpPr txBox="1"/>
          <p:nvPr/>
        </p:nvSpPr>
        <p:spPr>
          <a:xfrm>
            <a:off x="6263640" y="4901184"/>
            <a:ext cx="5486400" cy="201168"/>
          </a:xfrm>
          <a:prstGeom prst="rect">
            <a:avLst/>
          </a:prstGeom>
          <a:noFill/>
          <a:ln/>
        </p:spPr>
        <p:txBody>
          <a:bodyPr wrap="square" lIns="0" tIns="0" rIns="0" bIns="0" rtlCol="0" anchor="ctr"/>
          <a:lstStyle/>
          <a:p>
            <a:pPr indent="0" marL="0">
              <a:buNone/>
            </a:pPr>
            <a:r>
              <a:rPr lang="en-US" sz="780" i="1" dirty="0">
                <a:solidFill>
                  <a:srgbClr val="6A1F42"/>
                </a:solidFill>
                <a:latin typeface="Arial" pitchFamily="34" charset="0"/>
                <a:ea typeface="Arial" pitchFamily="34" charset="-122"/>
                <a:cs typeface="Arial" pitchFamily="34" charset="-120"/>
              </a:rPr>
              <a:t>The brief says a support team does intake, not all 30 handlers — so the truth is in the middle rows. Our first question for GGW.</a:t>
            </a:r>
            <a:endParaRPr lang="en-US" sz="780" dirty="0"/>
          </a:p>
        </p:txBody>
      </p:sp>
      <p:graphicFrame>
        <p:nvGraphicFramePr>
          <p:cNvPr id="33" name="Table 3"/>
          <p:cNvGraphicFramePr>
            <a:graphicFrameLocks noGrp="1"/>
          </p:cNvGraphicFramePr>
          <p:nvPr>
            <p:extLst>
              <p:ext uri="{D42A27DB-BD31-4B8C-83A1-F6EECF244321}">
                <p14:modId xmlns:p14="http://schemas.microsoft.com/office/powerpoint/2010/main" val="1579011935"/>
              </p:ext>
            </p:extLst>
          </p:nvPr>
        </p:nvGraphicFramePr>
        <p:xfrm>
          <a:off x="6263640" y="5138928"/>
          <a:ext cx="5486400" cy="914400"/>
        </p:xfrm>
        <a:graphic>
          <a:graphicData uri="http://schemas.openxmlformats.org/drawingml/2006/table">
            <a:tbl>
              <a:tblPr/>
              <a:tblGrid>
                <a:gridCol w="1920240"/>
                <a:gridCol w="1234440"/>
                <a:gridCol w="1188720"/>
                <a:gridCol w="1143000"/>
              </a:tblGrid>
              <a:tr h="214884">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Intake handled by…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Claims each,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Intake work,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3A3A3A"/>
                          </a:solidFill>
                          <a:latin typeface="Arial" pitchFamily="34" charset="0"/>
                          <a:ea typeface="Arial" pitchFamily="34" charset="-122"/>
                          <a:cs typeface="Arial" pitchFamily="34" charset="-120"/>
                        </a:rPr>
                        <a:t>Time freed, per day</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all 30 claims handlers</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1.7</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1.1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35 min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 support team of 12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2.8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88 min</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 support team of 8</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6.2</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4.2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2.2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r h="214884">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a support team of 6</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8.3</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5.6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A3A3A"/>
                          </a:solidFill>
                          <a:latin typeface="Arial" pitchFamily="34" charset="0"/>
                          <a:ea typeface="Arial" pitchFamily="34" charset="-122"/>
                          <a:cs typeface="Arial" pitchFamily="34" charset="-120"/>
                        </a:rPr>
                        <a:t>2.9 h</a:t>
                      </a:r>
                      <a:endParaRPr lang="en-US" sz="780" dirty="0">
                        <a:latin typeface="Arial" charset="0"/>
                        <a:ea typeface="Arial" charset="0"/>
                        <a:cs typeface="Arial" charset="0"/>
                      </a:endParaRPr>
                    </a:p>
                  </a:txBody>
                  <a:tcPr marL="91440" marR="91440" marT="45720" marB="45720" anchor="ctr">
                    <a:lnL w="6350" cap="flat" cmpd="sng" algn="ctr">
                      <a:solidFill>
                        <a:srgbClr val="E4E4E0"/>
                      </a:solidFill>
                      <a:prstDash val="solid"/>
                      <a:round/>
                      <a:headEnd type="none" w="med" len="med"/>
                      <a:tailEnd type="none" w="med" len="med"/>
                    </a:lnL>
                    <a:lnR w="6350" cap="flat" cmpd="sng" algn="ctr">
                      <a:solidFill>
                        <a:srgbClr val="E4E4E0"/>
                      </a:solidFill>
                      <a:prstDash val="solid"/>
                      <a:round/>
                      <a:headEnd type="none" w="med" len="med"/>
                      <a:tailEnd type="none" w="med" len="med"/>
                    </a:lnR>
                    <a:lnT w="6350" cap="flat" cmpd="sng" algn="ctr">
                      <a:solidFill>
                        <a:srgbClr val="E4E4E0"/>
                      </a:solidFill>
                      <a:prstDash val="solid"/>
                      <a:round/>
                      <a:headEnd type="none" w="med" len="med"/>
                      <a:tailEnd type="none" w="med" len="med"/>
                    </a:lnT>
                    <a:lnB w="6350" cap="flat" cmpd="sng" algn="ctr">
                      <a:solidFill>
                        <a:srgbClr val="E4E4E0"/>
                      </a:solidFill>
                      <a:prstDash val="solid"/>
                      <a:round/>
                      <a:headEnd type="none" w="med" len="med"/>
                      <a:tailEnd type="none" w="med" len="med"/>
                    </a:lnB>
                    <a:solidFill>
                      <a:srgbClr val="FFFFFF"/>
                    </a:solidFill>
                  </a:tcPr>
                </a:tc>
              </a:tr>
            </a:tbl>
          </a:graphicData>
        </a:graphic>
      </p:graphicFrame>
      <p:sp>
        <p:nvSpPr>
          <p:cNvPr id="38" name="Text 32"/>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39" name="Text 33"/>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8 / 9</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8"/>
        </a:solidFill>
      </p:bgPr>
    </p:bg>
    <p:spTree>
      <p:nvGrpSpPr>
        <p:cNvPr id="1" name=""/>
        <p:cNvGrpSpPr/>
        <p:nvPr/>
      </p:nvGrpSpPr>
      <p:grpSpPr>
        <a:xfrm>
          <a:off x="0" y="0"/>
          <a:ext cx="0" cy="0"/>
          <a:chOff x="0" y="0"/>
          <a:chExt cx="0" cy="0"/>
        </a:xfrm>
      </p:grpSpPr>
      <p:sp>
        <p:nvSpPr>
          <p:cNvPr id="2" name="Text 0"/>
          <p:cNvSpPr txBox="1"/>
          <p:nvPr/>
        </p:nvSpPr>
        <p:spPr>
          <a:xfrm>
            <a:off x="365760" y="118872"/>
            <a:ext cx="9326880" cy="310896"/>
          </a:xfrm>
          <a:prstGeom prst="rect">
            <a:avLst/>
          </a:prstGeom>
          <a:noFill/>
          <a:ln/>
        </p:spPr>
        <p:txBody>
          <a:bodyPr wrap="square" lIns="0" tIns="0" rIns="0" bIns="0" rtlCol="0" anchor="ctr"/>
          <a:lstStyle/>
          <a:p>
            <a:pPr indent="0" marL="0">
              <a:buNone/>
            </a:pPr>
            <a:r>
              <a:rPr lang="en-US" sz="1400" b="1" dirty="0">
                <a:solidFill>
                  <a:srgbClr val="1B2430"/>
                </a:solidFill>
                <a:latin typeface="Cambria" pitchFamily="34" charset="0"/>
                <a:ea typeface="Cambria" pitchFamily="34" charset="-122"/>
                <a:cs typeface="Cambria" pitchFamily="34" charset="-120"/>
              </a:rPr>
              <a:t>What is sourced, and what is our assumption — kept separate on purpose</a:t>
            </a:r>
            <a:endParaRPr lang="en-US" sz="1400" dirty="0"/>
          </a:p>
        </p:txBody>
      </p:sp>
      <p:sp>
        <p:nvSpPr>
          <p:cNvPr id="3" name="Text 1"/>
          <p:cNvSpPr txBox="1"/>
          <p:nvPr/>
        </p:nvSpPr>
        <p:spPr>
          <a:xfrm>
            <a:off x="8595360" y="146304"/>
            <a:ext cx="3227832" cy="274320"/>
          </a:xfrm>
          <a:prstGeom prst="rect">
            <a:avLst/>
          </a:prstGeom>
          <a:noFill/>
          <a:ln/>
        </p:spPr>
        <p:txBody>
          <a:bodyPr wrap="square" lIns="0" tIns="0" rIns="0" bIns="0" rtlCol="0" anchor="ctr"/>
          <a:lstStyle/>
          <a:p>
            <a:pPr algn="r" indent="0" marL="0">
              <a:buNone/>
            </a:pPr>
            <a:r>
              <a:rPr lang="en-US" sz="950" b="1" spc="140" kern="0" dirty="0">
                <a:solidFill>
                  <a:srgbClr val="5B6472"/>
                </a:solidFill>
                <a:latin typeface="Arial" pitchFamily="34" charset="0"/>
                <a:ea typeface="Arial" pitchFamily="34" charset="-122"/>
                <a:cs typeface="Arial" pitchFamily="34" charset="-120"/>
              </a:rPr>
              <a:t>SOURCES &amp; ASSUMPTIONS</a:t>
            </a:r>
            <a:endParaRPr lang="en-US" sz="950" dirty="0"/>
          </a:p>
        </p:txBody>
      </p:sp>
      <p:sp>
        <p:nvSpPr>
          <p:cNvPr id="4" name="Shape 2"/>
          <p:cNvSpPr/>
          <p:nvPr/>
        </p:nvSpPr>
        <p:spPr>
          <a:xfrm>
            <a:off x="365760" y="548640"/>
            <a:ext cx="45720" cy="310896"/>
          </a:xfrm>
          <a:prstGeom prst="rect">
            <a:avLst/>
          </a:prstGeom>
          <a:solidFill>
            <a:srgbClr val="0891B2"/>
          </a:solidFill>
          <a:ln/>
        </p:spPr>
      </p:sp>
      <p:sp>
        <p:nvSpPr>
          <p:cNvPr id="5" name="Text 3"/>
          <p:cNvSpPr txBox="1"/>
          <p:nvPr/>
        </p:nvSpPr>
        <p:spPr>
          <a:xfrm>
            <a:off x="530352" y="53035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Wage base</a:t>
            </a:r>
            <a:endParaRPr lang="en-US" sz="860" dirty="0"/>
          </a:p>
        </p:txBody>
      </p:sp>
      <p:sp>
        <p:nvSpPr>
          <p:cNvPr id="6" name="Text 4"/>
          <p:cNvSpPr txBox="1"/>
          <p:nvPr/>
        </p:nvSpPr>
        <p:spPr>
          <a:xfrm>
            <a:off x="530352" y="68580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Sachbearbeiter Schadenregulierung, €45,100 gross</a:t>
            </a:r>
            <a:endParaRPr lang="en-US" sz="800" dirty="0"/>
          </a:p>
        </p:txBody>
      </p:sp>
      <p:sp>
        <p:nvSpPr>
          <p:cNvPr id="7" name="Text 5">
            <a:hlinkClick r:id="rId1" tooltip="StepStone Gehaltsreport"/>
          </p:cNvPr>
          <p:cNvSpPr txBox="1"/>
          <p:nvPr/>
        </p:nvSpPr>
        <p:spPr>
          <a:xfrm>
            <a:off x="5669280" y="58521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1" invalidUrl="" action="" tgtFrame="" tooltip="StepStone Gehaltsreport" history="1" highlightClick="0" endSnd="0">
                  <a:extLst>
                    <a:ext uri="{A12FA001-AC4F-418D-AE19-62706E023703}">
                      <ahyp:hlinkClr xmlns:ahyp="http://schemas.microsoft.com/office/drawing/2018/hyperlinkcolor" val="tx"/>
                    </a:ext>
                  </a:extLst>
                </a:hlinkClick>
              </a:rPr>
              <a:t>StepStone Gehaltsreport</a:t>
            </a:r>
            <a:endParaRPr lang="en-US" sz="840" dirty="0"/>
          </a:p>
        </p:txBody>
      </p:sp>
      <p:sp>
        <p:nvSpPr>
          <p:cNvPr id="8" name="Shape 6"/>
          <p:cNvSpPr/>
          <p:nvPr/>
        </p:nvSpPr>
        <p:spPr>
          <a:xfrm>
            <a:off x="365760" y="914400"/>
            <a:ext cx="45720" cy="310896"/>
          </a:xfrm>
          <a:prstGeom prst="rect">
            <a:avLst/>
          </a:prstGeom>
          <a:solidFill>
            <a:srgbClr val="0891B2"/>
          </a:solidFill>
          <a:ln/>
        </p:spPr>
      </p:sp>
      <p:sp>
        <p:nvSpPr>
          <p:cNvPr id="9" name="Text 7"/>
          <p:cNvSpPr txBox="1"/>
          <p:nvPr/>
        </p:nvSpPr>
        <p:spPr>
          <a:xfrm>
            <a:off x="530352" y="89611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Employer on-cost</a:t>
            </a:r>
            <a:endParaRPr lang="en-US" sz="860" dirty="0"/>
          </a:p>
        </p:txBody>
      </p:sp>
      <p:sp>
        <p:nvSpPr>
          <p:cNvPr id="10" name="Text 8"/>
          <p:cNvSpPr txBox="1"/>
          <p:nvPr/>
        </p:nvSpPr>
        <p:spPr>
          <a:xfrm>
            <a:off x="530352" y="105156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 €23 per €100 gross — health, pension, unemployment, care</a:t>
            </a:r>
            <a:endParaRPr lang="en-US" sz="800" dirty="0"/>
          </a:p>
        </p:txBody>
      </p:sp>
      <p:sp>
        <p:nvSpPr>
          <p:cNvPr id="11" name="Text 9">
            <a:hlinkClick r:id="rId2" tooltip="Lohnnebenkosten 2026, sevdesk"/>
          </p:cNvPr>
          <p:cNvSpPr txBox="1"/>
          <p:nvPr/>
        </p:nvSpPr>
        <p:spPr>
          <a:xfrm>
            <a:off x="5669280" y="95097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2" invalidUrl="" action="" tgtFrame="" tooltip="Lohnnebenkosten 2026, sevdesk" history="1" highlightClick="0" endSnd="0">
                  <a:extLst>
                    <a:ext uri="{A12FA001-AC4F-418D-AE19-62706E023703}">
                      <ahyp:hlinkClr xmlns:ahyp="http://schemas.microsoft.com/office/drawing/2018/hyperlinkcolor" val="tx"/>
                    </a:ext>
                  </a:extLst>
                </a:hlinkClick>
              </a:rPr>
              <a:t>Lohnnebenkosten 2026, sevdesk</a:t>
            </a:r>
            <a:endParaRPr lang="en-US" sz="840" dirty="0"/>
          </a:p>
        </p:txBody>
      </p:sp>
      <p:sp>
        <p:nvSpPr>
          <p:cNvPr id="12" name="Shape 10"/>
          <p:cNvSpPr/>
          <p:nvPr/>
        </p:nvSpPr>
        <p:spPr>
          <a:xfrm>
            <a:off x="365760" y="1280160"/>
            <a:ext cx="45720" cy="310896"/>
          </a:xfrm>
          <a:prstGeom prst="rect">
            <a:avLst/>
          </a:prstGeom>
          <a:solidFill>
            <a:srgbClr val="0891B2"/>
          </a:solidFill>
          <a:ln/>
        </p:spPr>
      </p:sp>
      <p:sp>
        <p:nvSpPr>
          <p:cNvPr id="13" name="Text 11"/>
          <p:cNvSpPr txBox="1"/>
          <p:nvPr/>
        </p:nvSpPr>
        <p:spPr>
          <a:xfrm>
            <a:off x="530352" y="126187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Working time, breaks</a:t>
            </a:r>
            <a:endParaRPr lang="en-US" sz="860" dirty="0"/>
          </a:p>
        </p:txBody>
      </p:sp>
      <p:sp>
        <p:nvSpPr>
          <p:cNvPr id="14" name="Text 12"/>
          <p:cNvSpPr txBox="1"/>
          <p:nvPr/>
        </p:nvSpPr>
        <p:spPr>
          <a:xfrm>
            <a:off x="530352" y="141732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38 h tariff week; statutory break rules</a:t>
            </a:r>
            <a:endParaRPr lang="en-US" sz="800" dirty="0"/>
          </a:p>
        </p:txBody>
      </p:sp>
      <p:sp>
        <p:nvSpPr>
          <p:cNvPr id="15" name="Text 13">
            <a:hlinkClick r:id="rId3" tooltip="Arbeitszeitgesetz §4"/>
          </p:cNvPr>
          <p:cNvSpPr txBox="1"/>
          <p:nvPr/>
        </p:nvSpPr>
        <p:spPr>
          <a:xfrm>
            <a:off x="5669280" y="131673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3" invalidUrl="" action="" tgtFrame="" tooltip="Arbeitszeitgesetz §4" history="1" highlightClick="0" endSnd="0">
                  <a:extLst>
                    <a:ext uri="{A12FA001-AC4F-418D-AE19-62706E023703}">
                      <ahyp:hlinkClr xmlns:ahyp="http://schemas.microsoft.com/office/drawing/2018/hyperlinkcolor" val="tx"/>
                    </a:ext>
                  </a:extLst>
                </a:hlinkClick>
              </a:rPr>
              <a:t>Arbeitszeitgesetz §4</a:t>
            </a:r>
            <a:endParaRPr lang="en-US" sz="840" dirty="0"/>
          </a:p>
        </p:txBody>
      </p:sp>
      <p:sp>
        <p:nvSpPr>
          <p:cNvPr id="16" name="Shape 14"/>
          <p:cNvSpPr/>
          <p:nvPr/>
        </p:nvSpPr>
        <p:spPr>
          <a:xfrm>
            <a:off x="365760" y="1645920"/>
            <a:ext cx="45720" cy="310896"/>
          </a:xfrm>
          <a:prstGeom prst="rect">
            <a:avLst/>
          </a:prstGeom>
          <a:solidFill>
            <a:srgbClr val="0891B2"/>
          </a:solidFill>
          <a:ln/>
        </p:spPr>
      </p:sp>
      <p:sp>
        <p:nvSpPr>
          <p:cNvPr id="17" name="Text 15"/>
          <p:cNvSpPr txBox="1"/>
          <p:nvPr/>
        </p:nvSpPr>
        <p:spPr>
          <a:xfrm>
            <a:off x="530352" y="162763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Model prices</a:t>
            </a:r>
            <a:endParaRPr lang="en-US" sz="860" dirty="0"/>
          </a:p>
        </p:txBody>
      </p:sp>
      <p:sp>
        <p:nvSpPr>
          <p:cNvPr id="18" name="Text 16"/>
          <p:cNvSpPr txBox="1"/>
          <p:nvPr/>
        </p:nvSpPr>
        <p:spPr>
          <a:xfrm>
            <a:off x="530352" y="178308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gpt-5.6 terra — $2 in / $12 out per million tokens</a:t>
            </a:r>
            <a:endParaRPr lang="en-US" sz="800" dirty="0"/>
          </a:p>
        </p:txBody>
      </p:sp>
      <p:sp>
        <p:nvSpPr>
          <p:cNvPr id="19" name="Text 17">
            <a:hlinkClick r:id="rId4" tooltip="OpenAI API pricing"/>
          </p:cNvPr>
          <p:cNvSpPr txBox="1"/>
          <p:nvPr/>
        </p:nvSpPr>
        <p:spPr>
          <a:xfrm>
            <a:off x="5669280" y="168249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4" invalidUrl="" action="" tgtFrame="" tooltip="OpenAI API pricing" history="1" highlightClick="0" endSnd="0">
                  <a:extLst>
                    <a:ext uri="{A12FA001-AC4F-418D-AE19-62706E023703}">
                      <ahyp:hlinkClr xmlns:ahyp="http://schemas.microsoft.com/office/drawing/2018/hyperlinkcolor" val="tx"/>
                    </a:ext>
                  </a:extLst>
                </a:hlinkClick>
              </a:rPr>
              <a:t>OpenAI API pricing</a:t>
            </a:r>
            <a:endParaRPr lang="en-US" sz="840" dirty="0"/>
          </a:p>
        </p:txBody>
      </p:sp>
      <p:sp>
        <p:nvSpPr>
          <p:cNvPr id="20" name="Shape 18"/>
          <p:cNvSpPr/>
          <p:nvPr/>
        </p:nvSpPr>
        <p:spPr>
          <a:xfrm>
            <a:off x="365760" y="2011680"/>
            <a:ext cx="45720" cy="310896"/>
          </a:xfrm>
          <a:prstGeom prst="rect">
            <a:avLst/>
          </a:prstGeom>
          <a:solidFill>
            <a:srgbClr val="0891B2"/>
          </a:solidFill>
          <a:ln/>
        </p:spPr>
      </p:sp>
      <p:sp>
        <p:nvSpPr>
          <p:cNvPr id="21" name="Text 19"/>
          <p:cNvSpPr txBox="1"/>
          <p:nvPr/>
        </p:nvSpPr>
        <p:spPr>
          <a:xfrm>
            <a:off x="530352" y="199339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Container hosting</a:t>
            </a:r>
            <a:endParaRPr lang="en-US" sz="860" dirty="0"/>
          </a:p>
        </p:txBody>
      </p:sp>
      <p:sp>
        <p:nvSpPr>
          <p:cNvPr id="22" name="Text 20"/>
          <p:cNvSpPr txBox="1"/>
          <p:nvPr/>
        </p:nvSpPr>
        <p:spPr>
          <a:xfrm>
            <a:off x="530352" y="214884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Consumption plan rates and the monthly free grant</a:t>
            </a:r>
            <a:endParaRPr lang="en-US" sz="800" dirty="0"/>
          </a:p>
        </p:txBody>
      </p:sp>
      <p:sp>
        <p:nvSpPr>
          <p:cNvPr id="23" name="Text 21">
            <a:hlinkClick r:id="rId5" tooltip="Azure Container Apps pricing"/>
          </p:cNvPr>
          <p:cNvSpPr txBox="1"/>
          <p:nvPr/>
        </p:nvSpPr>
        <p:spPr>
          <a:xfrm>
            <a:off x="5669280" y="204825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5" invalidUrl="" action="" tgtFrame="" tooltip="Azure Container Apps pricing" history="1" highlightClick="0" endSnd="0">
                  <a:extLst>
                    <a:ext uri="{A12FA001-AC4F-418D-AE19-62706E023703}">
                      <ahyp:hlinkClr xmlns:ahyp="http://schemas.microsoft.com/office/drawing/2018/hyperlinkcolor" val="tx"/>
                    </a:ext>
                  </a:extLst>
                </a:hlinkClick>
              </a:rPr>
              <a:t>Azure Container Apps pricing</a:t>
            </a:r>
            <a:endParaRPr lang="en-US" sz="840" dirty="0"/>
          </a:p>
        </p:txBody>
      </p:sp>
      <p:sp>
        <p:nvSpPr>
          <p:cNvPr id="24" name="Shape 22"/>
          <p:cNvSpPr/>
          <p:nvPr/>
        </p:nvSpPr>
        <p:spPr>
          <a:xfrm>
            <a:off x="365760" y="2377440"/>
            <a:ext cx="45720" cy="310896"/>
          </a:xfrm>
          <a:prstGeom prst="rect">
            <a:avLst/>
          </a:prstGeom>
          <a:solidFill>
            <a:srgbClr val="0891B2"/>
          </a:solidFill>
          <a:ln/>
        </p:spPr>
      </p:sp>
      <p:sp>
        <p:nvSpPr>
          <p:cNvPr id="25" name="Text 23"/>
          <p:cNvSpPr txBox="1"/>
          <p:nvPr/>
        </p:nvSpPr>
        <p:spPr>
          <a:xfrm>
            <a:off x="530352" y="235915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Database</a:t>
            </a:r>
            <a:endParaRPr lang="en-US" sz="860" dirty="0"/>
          </a:p>
        </p:txBody>
      </p:sp>
      <p:sp>
        <p:nvSpPr>
          <p:cNvPr id="26" name="Text 24"/>
          <p:cNvSpPr txBox="1"/>
          <p:nvPr/>
        </p:nvSpPr>
        <p:spPr>
          <a:xfrm>
            <a:off x="530352" y="251460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PostgreSQL Flexible Server B2s — 2 vCore / 4 GiB</a:t>
            </a:r>
            <a:endParaRPr lang="en-US" sz="800" dirty="0"/>
          </a:p>
        </p:txBody>
      </p:sp>
      <p:sp>
        <p:nvSpPr>
          <p:cNvPr id="27" name="Text 25">
            <a:hlinkClick r:id="rId6" tooltip="Azure Database for PostgreSQL"/>
          </p:cNvPr>
          <p:cNvSpPr txBox="1"/>
          <p:nvPr/>
        </p:nvSpPr>
        <p:spPr>
          <a:xfrm>
            <a:off x="5669280" y="241401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6" invalidUrl="" action="" tgtFrame="" tooltip="Azure Database for PostgreSQL" history="1" highlightClick="0" endSnd="0">
                  <a:extLst>
                    <a:ext uri="{A12FA001-AC4F-418D-AE19-62706E023703}">
                      <ahyp:hlinkClr xmlns:ahyp="http://schemas.microsoft.com/office/drawing/2018/hyperlinkcolor" val="tx"/>
                    </a:ext>
                  </a:extLst>
                </a:hlinkClick>
              </a:rPr>
              <a:t>Azure Database for PostgreSQL</a:t>
            </a:r>
            <a:endParaRPr lang="en-US" sz="840" dirty="0"/>
          </a:p>
        </p:txBody>
      </p:sp>
      <p:sp>
        <p:nvSpPr>
          <p:cNvPr id="28" name="Shape 26"/>
          <p:cNvSpPr/>
          <p:nvPr/>
        </p:nvSpPr>
        <p:spPr>
          <a:xfrm>
            <a:off x="365760" y="2743200"/>
            <a:ext cx="45720" cy="310896"/>
          </a:xfrm>
          <a:prstGeom prst="rect">
            <a:avLst/>
          </a:prstGeom>
          <a:solidFill>
            <a:srgbClr val="0891B2"/>
          </a:solidFill>
          <a:ln/>
        </p:spPr>
      </p:sp>
      <p:sp>
        <p:nvSpPr>
          <p:cNvPr id="29" name="Text 27"/>
          <p:cNvSpPr txBox="1"/>
          <p:nvPr/>
        </p:nvSpPr>
        <p:spPr>
          <a:xfrm>
            <a:off x="530352" y="272491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Build-team pay</a:t>
            </a:r>
            <a:endParaRPr lang="en-US" sz="860" dirty="0"/>
          </a:p>
        </p:txBody>
      </p:sp>
      <p:sp>
        <p:nvSpPr>
          <p:cNvPr id="30" name="Text 28"/>
          <p:cNvSpPr txBox="1"/>
          <p:nvPr/>
        </p:nvSpPr>
        <p:spPr>
          <a:xfrm>
            <a:off x="530352" y="288036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Senior ML engineer ≈ €98k; juniors at €70k as briefed</a:t>
            </a:r>
            <a:endParaRPr lang="en-US" sz="800" dirty="0"/>
          </a:p>
        </p:txBody>
      </p:sp>
      <p:sp>
        <p:nvSpPr>
          <p:cNvPr id="31" name="Text 29">
            <a:hlinkClick r:id="rId7" tooltip="Glassdoor, ML Engineer Germany"/>
          </p:cNvPr>
          <p:cNvSpPr txBox="1"/>
          <p:nvPr/>
        </p:nvSpPr>
        <p:spPr>
          <a:xfrm>
            <a:off x="5669280" y="277977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7" invalidUrl="" action="" tgtFrame="" tooltip="Glassdoor, ML Engineer Germany" history="1" highlightClick="0" endSnd="0">
                  <a:extLst>
                    <a:ext uri="{A12FA001-AC4F-418D-AE19-62706E023703}">
                      <ahyp:hlinkClr xmlns:ahyp="http://schemas.microsoft.com/office/drawing/2018/hyperlinkcolor" val="tx"/>
                    </a:ext>
                  </a:extLst>
                </a:hlinkClick>
              </a:rPr>
              <a:t>Glassdoor, ML Engineer Germany</a:t>
            </a:r>
            <a:endParaRPr lang="en-US" sz="840" dirty="0"/>
          </a:p>
        </p:txBody>
      </p:sp>
      <p:sp>
        <p:nvSpPr>
          <p:cNvPr id="32" name="Shape 30"/>
          <p:cNvSpPr/>
          <p:nvPr/>
        </p:nvSpPr>
        <p:spPr>
          <a:xfrm>
            <a:off x="365760" y="3108960"/>
            <a:ext cx="45720" cy="310896"/>
          </a:xfrm>
          <a:prstGeom prst="rect">
            <a:avLst/>
          </a:prstGeom>
          <a:solidFill>
            <a:srgbClr val="0891B2"/>
          </a:solidFill>
          <a:ln/>
        </p:spPr>
      </p:sp>
      <p:sp>
        <p:nvSpPr>
          <p:cNvPr id="33" name="Text 31"/>
          <p:cNvSpPr txBox="1"/>
          <p:nvPr/>
        </p:nvSpPr>
        <p:spPr>
          <a:xfrm>
            <a:off x="530352" y="309067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Upkeep after go-live</a:t>
            </a:r>
            <a:endParaRPr lang="en-US" sz="860" dirty="0"/>
          </a:p>
        </p:txBody>
      </p:sp>
      <p:sp>
        <p:nvSpPr>
          <p:cNvPr id="34" name="Text 32"/>
          <p:cNvSpPr txBox="1"/>
          <p:nvPr/>
        </p:nvSpPr>
        <p:spPr>
          <a:xfrm>
            <a:off x="530352" y="324612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15–20% of build effort a year — our 0.25 FTE is 17%</a:t>
            </a:r>
            <a:endParaRPr lang="en-US" sz="800" dirty="0"/>
          </a:p>
        </p:txBody>
      </p:sp>
      <p:sp>
        <p:nvSpPr>
          <p:cNvPr id="35" name="Text 33"/>
          <p:cNvSpPr txBox="1"/>
          <p:nvPr/>
        </p:nvSpPr>
        <p:spPr>
          <a:xfrm>
            <a:off x="5669280" y="3145536"/>
            <a:ext cx="6035040" cy="219456"/>
          </a:xfrm>
          <a:prstGeom prst="rect">
            <a:avLst/>
          </a:prstGeom>
          <a:noFill/>
          <a:ln/>
        </p:spPr>
        <p:txBody>
          <a:bodyPr wrap="square" lIns="0" tIns="0" rIns="0" bIns="0" rtlCol="0" anchor="ctr"/>
          <a:lstStyle/>
          <a:p>
            <a:pPr indent="0" marL="0">
              <a:buNone/>
            </a:pPr>
            <a:r>
              <a:rPr lang="en-US" sz="840" i="1" dirty="0">
                <a:solidFill>
                  <a:srgbClr val="5A5A5A"/>
                </a:solidFill>
                <a:latin typeface="Arial" pitchFamily="34" charset="0"/>
                <a:ea typeface="Arial" pitchFamily="34" charset="-122"/>
                <a:cs typeface="Arial" pitchFamily="34" charset="-120"/>
              </a:rPr>
              <a:t>Software maintenance rule of thumb</a:t>
            </a:r>
            <a:endParaRPr lang="en-US" sz="840" dirty="0"/>
          </a:p>
        </p:txBody>
      </p:sp>
      <p:sp>
        <p:nvSpPr>
          <p:cNvPr id="36" name="Shape 34"/>
          <p:cNvSpPr/>
          <p:nvPr/>
        </p:nvSpPr>
        <p:spPr>
          <a:xfrm>
            <a:off x="365760" y="3474720"/>
            <a:ext cx="45720" cy="310896"/>
          </a:xfrm>
          <a:prstGeom prst="rect">
            <a:avLst/>
          </a:prstGeom>
          <a:solidFill>
            <a:srgbClr val="0891B2"/>
          </a:solidFill>
          <a:ln/>
        </p:spPr>
      </p:sp>
      <p:sp>
        <p:nvSpPr>
          <p:cNvPr id="37" name="Text 35"/>
          <p:cNvSpPr txBox="1"/>
          <p:nvPr/>
        </p:nvSpPr>
        <p:spPr>
          <a:xfrm>
            <a:off x="530352" y="345643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Industry baseline</a:t>
            </a:r>
            <a:endParaRPr lang="en-US" sz="860" dirty="0"/>
          </a:p>
        </p:txBody>
      </p:sp>
      <p:sp>
        <p:nvSpPr>
          <p:cNvPr id="38" name="Text 36"/>
          <p:cNvSpPr txBox="1"/>
          <p:nvPr/>
        </p:nvSpPr>
        <p:spPr>
          <a:xfrm>
            <a:off x="530352" y="361188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17 of 20 carriers still manual; none let AI decide alone</a:t>
            </a:r>
            <a:endParaRPr lang="en-US" sz="800" dirty="0"/>
          </a:p>
        </p:txBody>
      </p:sp>
      <p:sp>
        <p:nvSpPr>
          <p:cNvPr id="39" name="Text 37">
            <a:hlinkClick r:id="rId8" tooltip="Decerto, 2026 Claims Decisioning Pulse"/>
          </p:cNvPr>
          <p:cNvSpPr txBox="1"/>
          <p:nvPr/>
        </p:nvSpPr>
        <p:spPr>
          <a:xfrm>
            <a:off x="5669280" y="351129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8" invalidUrl="" action="" tgtFrame="" tooltip="Decerto, 2026 Claims Decisioning Pulse" history="1" highlightClick="0" endSnd="0">
                  <a:extLst>
                    <a:ext uri="{A12FA001-AC4F-418D-AE19-62706E023703}">
                      <ahyp:hlinkClr xmlns:ahyp="http://schemas.microsoft.com/office/drawing/2018/hyperlinkcolor" val="tx"/>
                    </a:ext>
                  </a:extLst>
                </a:hlinkClick>
              </a:rPr>
              <a:t>Decerto, 2026 Claims Decisioning Pulse</a:t>
            </a:r>
            <a:endParaRPr lang="en-US" sz="840" dirty="0"/>
          </a:p>
        </p:txBody>
      </p:sp>
      <p:sp>
        <p:nvSpPr>
          <p:cNvPr id="40" name="Shape 38"/>
          <p:cNvSpPr/>
          <p:nvPr/>
        </p:nvSpPr>
        <p:spPr>
          <a:xfrm>
            <a:off x="365760" y="3840480"/>
            <a:ext cx="45720" cy="310896"/>
          </a:xfrm>
          <a:prstGeom prst="rect">
            <a:avLst/>
          </a:prstGeom>
          <a:solidFill>
            <a:srgbClr val="0891B2"/>
          </a:solidFill>
          <a:ln/>
        </p:spPr>
      </p:sp>
      <p:sp>
        <p:nvSpPr>
          <p:cNvPr id="41" name="Text 39"/>
          <p:cNvSpPr txBox="1"/>
          <p:nvPr/>
        </p:nvSpPr>
        <p:spPr>
          <a:xfrm>
            <a:off x="530352" y="382219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Where value comes from</a:t>
            </a:r>
            <a:endParaRPr lang="en-US" sz="860" dirty="0"/>
          </a:p>
        </p:txBody>
      </p:sp>
      <p:sp>
        <p:nvSpPr>
          <p:cNvPr id="42" name="Text 40"/>
          <p:cNvSpPr txBox="1"/>
          <p:nvPr/>
        </p:nvSpPr>
        <p:spPr>
          <a:xfrm>
            <a:off x="530352" y="397764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The 10-20-70 split — algorithms, technology, people</a:t>
            </a:r>
            <a:endParaRPr lang="en-US" sz="800" dirty="0"/>
          </a:p>
        </p:txBody>
      </p:sp>
      <p:sp>
        <p:nvSpPr>
          <p:cNvPr id="43" name="Text 41">
            <a:hlinkClick r:id="rId9" tooltip="BCG, AI in customer service operations"/>
          </p:cNvPr>
          <p:cNvSpPr txBox="1"/>
          <p:nvPr/>
        </p:nvSpPr>
        <p:spPr>
          <a:xfrm>
            <a:off x="5669280" y="387705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9" invalidUrl="" action="" tgtFrame="" tooltip="BCG, AI in customer service operations" history="1" highlightClick="0" endSnd="0">
                  <a:extLst>
                    <a:ext uri="{A12FA001-AC4F-418D-AE19-62706E023703}">
                      <ahyp:hlinkClr xmlns:ahyp="http://schemas.microsoft.com/office/drawing/2018/hyperlinkcolor" val="tx"/>
                    </a:ext>
                  </a:extLst>
                </a:hlinkClick>
              </a:rPr>
              <a:t>BCG, AI in customer service operations</a:t>
            </a:r>
            <a:endParaRPr lang="en-US" sz="840" dirty="0"/>
          </a:p>
        </p:txBody>
      </p:sp>
      <p:sp>
        <p:nvSpPr>
          <p:cNvPr id="44" name="Shape 42"/>
          <p:cNvSpPr/>
          <p:nvPr/>
        </p:nvSpPr>
        <p:spPr>
          <a:xfrm>
            <a:off x="365760" y="4206240"/>
            <a:ext cx="45720" cy="310896"/>
          </a:xfrm>
          <a:prstGeom prst="rect">
            <a:avLst/>
          </a:prstGeom>
          <a:solidFill>
            <a:srgbClr val="0891B2"/>
          </a:solidFill>
          <a:ln/>
        </p:spPr>
      </p:sp>
      <p:sp>
        <p:nvSpPr>
          <p:cNvPr id="45" name="Text 43"/>
          <p:cNvSpPr txBox="1"/>
          <p:nvPr/>
        </p:nvSpPr>
        <p:spPr>
          <a:xfrm>
            <a:off x="530352" y="418795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Fixing import failures</a:t>
            </a:r>
            <a:endParaRPr lang="en-US" sz="860" dirty="0"/>
          </a:p>
        </p:txBody>
      </p:sp>
      <p:sp>
        <p:nvSpPr>
          <p:cNvPr id="46" name="Text 44"/>
          <p:cNvSpPr txBox="1"/>
          <p:nvPr/>
        </p:nvSpPr>
        <p:spPr>
          <a:xfrm>
            <a:off x="530352" y="434340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Retry vs. dead-letter, idempotency keys, alert on rate</a:t>
            </a:r>
            <a:endParaRPr lang="en-US" sz="800" dirty="0"/>
          </a:p>
        </p:txBody>
      </p:sp>
      <p:sp>
        <p:nvSpPr>
          <p:cNvPr id="47" name="Text 45">
            <a:hlinkClick r:id="rId10" tooltip="Dead-letter queues and poison messages"/>
          </p:cNvPr>
          <p:cNvSpPr txBox="1"/>
          <p:nvPr/>
        </p:nvSpPr>
        <p:spPr>
          <a:xfrm>
            <a:off x="5669280" y="4242816"/>
            <a:ext cx="6035040" cy="219456"/>
          </a:xfrm>
          <a:prstGeom prst="rect">
            <a:avLst/>
          </a:prstGeom>
          <a:noFill/>
          <a:ln/>
        </p:spPr>
        <p:txBody>
          <a:bodyPr wrap="square" lIns="0" tIns="0" rIns="0" bIns="0" rtlCol="0" anchor="ctr"/>
          <a:lstStyle/>
          <a:p>
            <a:pPr indent="0" marL="0">
              <a:buNone/>
            </a:pPr>
            <a:r>
              <a:rPr lang="en-US" sz="840" u="sng" dirty="0">
                <a:solidFill>
                  <a:srgbClr val="0B5F8A"/>
                </a:solidFill>
                <a:latin typeface="Arial" pitchFamily="34" charset="0"/>
                <a:ea typeface="Arial" pitchFamily="34" charset="-122"/>
                <a:cs typeface="Arial" pitchFamily="34" charset="-120"/>
                <a:hlinkClick r:id="rId10" invalidUrl="" action="" tgtFrame="" tooltip="Dead-letter queues and poison messages" history="1" highlightClick="0" endSnd="0">
                  <a:extLst>
                    <a:ext uri="{A12FA001-AC4F-418D-AE19-62706E023703}">
                      <ahyp:hlinkClr xmlns:ahyp="http://schemas.microsoft.com/office/drawing/2018/hyperlinkcolor" val="tx"/>
                    </a:ext>
                  </a:extLst>
                </a:hlinkClick>
              </a:rPr>
              <a:t>Dead-letter queues and poison messages</a:t>
            </a:r>
            <a:endParaRPr lang="en-US" sz="840" dirty="0"/>
          </a:p>
        </p:txBody>
      </p:sp>
      <p:sp>
        <p:nvSpPr>
          <p:cNvPr id="48" name="Shape 46"/>
          <p:cNvSpPr/>
          <p:nvPr/>
        </p:nvSpPr>
        <p:spPr>
          <a:xfrm>
            <a:off x="365760" y="4572000"/>
            <a:ext cx="45720" cy="310896"/>
          </a:xfrm>
          <a:prstGeom prst="rect">
            <a:avLst/>
          </a:prstGeom>
          <a:solidFill>
            <a:srgbClr val="0891B2"/>
          </a:solidFill>
          <a:ln/>
        </p:spPr>
      </p:sp>
      <p:sp>
        <p:nvSpPr>
          <p:cNvPr id="49" name="Text 47"/>
          <p:cNvSpPr txBox="1"/>
          <p:nvPr/>
        </p:nvSpPr>
        <p:spPr>
          <a:xfrm>
            <a:off x="530352" y="4553712"/>
            <a:ext cx="1965960" cy="182880"/>
          </a:xfrm>
          <a:prstGeom prst="rect">
            <a:avLst/>
          </a:prstGeom>
          <a:noFill/>
          <a:ln/>
        </p:spPr>
        <p:txBody>
          <a:bodyPr wrap="square" lIns="0" tIns="0" rIns="0" bIns="0" rtlCol="0" anchor="ctr"/>
          <a:lstStyle/>
          <a:p>
            <a:pPr indent="0" marL="0">
              <a:buNone/>
            </a:pPr>
            <a:r>
              <a:rPr lang="en-US" sz="860" b="1" dirty="0">
                <a:solidFill>
                  <a:srgbClr val="1B2430"/>
                </a:solidFill>
                <a:latin typeface="Arial" pitchFamily="34" charset="0"/>
                <a:ea typeface="Arial" pitchFamily="34" charset="-122"/>
                <a:cs typeface="Arial" pitchFamily="34" charset="-120"/>
              </a:rPr>
              <a:t>Volumes and shares</a:t>
            </a:r>
            <a:endParaRPr lang="en-US" sz="860" dirty="0"/>
          </a:p>
        </p:txBody>
      </p:sp>
      <p:sp>
        <p:nvSpPr>
          <p:cNvPr id="50" name="Text 48"/>
          <p:cNvSpPr txBox="1"/>
          <p:nvPr/>
        </p:nvSpPr>
        <p:spPr>
          <a:xfrm>
            <a:off x="530352" y="4709160"/>
            <a:ext cx="4937760" cy="182880"/>
          </a:xfrm>
          <a:prstGeom prst="rect">
            <a:avLst/>
          </a:prstGeom>
          <a:noFill/>
          <a:ln/>
        </p:spPr>
        <p:txBody>
          <a:bodyPr wrap="square" lIns="0" tIns="0" rIns="0" bIns="0" rtlCol="0" anchor="ctr"/>
          <a:lstStyle/>
          <a:p>
            <a:pPr indent="0" marL="0">
              <a:buNone/>
            </a:pPr>
            <a:r>
              <a:rPr lang="en-US" sz="800" dirty="0">
                <a:solidFill>
                  <a:srgbClr val="5A5A5A"/>
                </a:solidFill>
                <a:latin typeface="Arial" pitchFamily="34" charset="0"/>
                <a:ea typeface="Arial" pitchFamily="34" charset="-122"/>
                <a:cs typeface="Arial" pitchFamily="34" charset="-120"/>
              </a:rPr>
              <a:t>~50 first reports a day · 65% minor · ~30 handlers</a:t>
            </a:r>
            <a:endParaRPr lang="en-US" sz="800" dirty="0"/>
          </a:p>
        </p:txBody>
      </p:sp>
      <p:sp>
        <p:nvSpPr>
          <p:cNvPr id="51" name="Text 49"/>
          <p:cNvSpPr txBox="1"/>
          <p:nvPr/>
        </p:nvSpPr>
        <p:spPr>
          <a:xfrm>
            <a:off x="5669280" y="4608576"/>
            <a:ext cx="6035040" cy="219456"/>
          </a:xfrm>
          <a:prstGeom prst="rect">
            <a:avLst/>
          </a:prstGeom>
          <a:noFill/>
          <a:ln/>
        </p:spPr>
        <p:txBody>
          <a:bodyPr wrap="square" lIns="0" tIns="0" rIns="0" bIns="0" rtlCol="0" anchor="ctr"/>
          <a:lstStyle/>
          <a:p>
            <a:pPr indent="0" marL="0">
              <a:buNone/>
            </a:pPr>
            <a:r>
              <a:rPr lang="en-US" sz="840" i="1" dirty="0">
                <a:solidFill>
                  <a:srgbClr val="5A5A5A"/>
                </a:solidFill>
                <a:latin typeface="Arial" pitchFamily="34" charset="0"/>
                <a:ea typeface="Arial" pitchFamily="34" charset="-122"/>
                <a:cs typeface="Arial" pitchFamily="34" charset="-120"/>
              </a:rPr>
              <a:t>GGW case study brief</a:t>
            </a:r>
            <a:endParaRPr lang="en-US" sz="840" dirty="0"/>
          </a:p>
        </p:txBody>
      </p:sp>
      <p:sp>
        <p:nvSpPr>
          <p:cNvPr id="52" name="Shape 50"/>
          <p:cNvSpPr/>
          <p:nvPr/>
        </p:nvSpPr>
        <p:spPr>
          <a:xfrm>
            <a:off x="365760" y="4956048"/>
            <a:ext cx="11365992" cy="1097280"/>
          </a:xfrm>
          <a:prstGeom prst="roundRect">
            <a:avLst>
              <a:gd name="adj" fmla="val 5000"/>
            </a:avLst>
          </a:prstGeom>
          <a:solidFill>
            <a:srgbClr val="FDF3E3"/>
          </a:solidFill>
          <a:ln w="15240">
            <a:solidFill>
              <a:srgbClr val="D97706"/>
            </a:solidFill>
            <a:prstDash val="solid"/>
          </a:ln>
        </p:spPr>
      </p:sp>
      <p:sp>
        <p:nvSpPr>
          <p:cNvPr id="53" name="Text 51"/>
          <p:cNvSpPr txBox="1"/>
          <p:nvPr/>
        </p:nvSpPr>
        <p:spPr>
          <a:xfrm>
            <a:off x="548640" y="5056632"/>
            <a:ext cx="10972800" cy="219456"/>
          </a:xfrm>
          <a:prstGeom prst="rect">
            <a:avLst/>
          </a:prstGeom>
          <a:noFill/>
          <a:ln/>
        </p:spPr>
        <p:txBody>
          <a:bodyPr wrap="square" lIns="0" tIns="0" rIns="0" bIns="0" rtlCol="0" anchor="ctr"/>
          <a:lstStyle/>
          <a:p>
            <a:pPr indent="0" marL="0">
              <a:buNone/>
            </a:pPr>
            <a:r>
              <a:rPr lang="en-US" sz="860" b="1" spc="60" kern="0" dirty="0">
                <a:solidFill>
                  <a:srgbClr val="9A5A0A"/>
                </a:solidFill>
                <a:latin typeface="Arial" pitchFamily="34" charset="0"/>
                <a:ea typeface="Arial" pitchFamily="34" charset="-122"/>
                <a:cs typeface="Arial" pitchFamily="34" charset="-120"/>
              </a:rPr>
              <a:t>OUR ASSUMPTIONS — NOT SOURCED, AND THE FIRST THING WE WOULD TEST</a:t>
            </a:r>
            <a:endParaRPr lang="en-US" sz="860" dirty="0"/>
          </a:p>
        </p:txBody>
      </p:sp>
      <p:sp>
        <p:nvSpPr>
          <p:cNvPr id="54" name="Text 52"/>
          <p:cNvSpPr txBox="1"/>
          <p:nvPr/>
        </p:nvSpPr>
        <p:spPr>
          <a:xfrm>
            <a:off x="548640" y="5285232"/>
            <a:ext cx="10972800" cy="694944"/>
          </a:xfrm>
          <a:prstGeom prst="rect">
            <a:avLst/>
          </a:prstGeom>
          <a:noFill/>
          <a:ln/>
        </p:spPr>
        <p:txBody>
          <a:bodyPr wrap="square" lIns="0" tIns="0" rIns="0" bIns="0" rtlCol="0" anchor="ctr"/>
          <a:lstStyle/>
          <a:p>
            <a:pPr indent="0" marL="0">
              <a:lnSpc>
                <a:spcPct val="120000"/>
              </a:lnSpc>
              <a:buNone/>
            </a:pPr>
            <a:r>
              <a:rPr lang="en-US" sz="840" dirty="0">
                <a:solidFill>
                  <a:srgbClr val="44403A"/>
                </a:solidFill>
                <a:latin typeface="Arial" pitchFamily="34" charset="0"/>
                <a:ea typeface="Arial" pitchFamily="34" charset="-122"/>
                <a:cs typeface="Arial" pitchFamily="34" charset="-120"/>
              </a:rPr>
              <a:t>Every per-step minute on slide 6 · the 30% allowance for breaks and interruptions · how often a CPR is missing (30%) or underwriting is asked (25%) · how often the redesign raises an exception (20%) · the tokens a typical claim needs · the €146k build · the 0.25 FTE upkeep · and how many people staff intake, which sets the per-person saving.</a:t>
            </a:r>
            <a:endParaRPr lang="en-US" sz="840" dirty="0"/>
          </a:p>
          <a:p>
            <a:pPr indent="0" marL="0">
              <a:lnSpc>
                <a:spcPct val="120000"/>
              </a:lnSpc>
              <a:buNone/>
            </a:pPr>
            <a:endParaRPr lang="en-US" sz="840" dirty="0"/>
          </a:p>
          <a:p>
            <a:pPr indent="0" marL="0">
              <a:lnSpc>
                <a:spcPct val="120000"/>
              </a:lnSpc>
              <a:buNone/>
            </a:pPr>
            <a:r>
              <a:rPr lang="en-US" sz="840" dirty="0">
                <a:solidFill>
                  <a:srgbClr val="44403A"/>
                </a:solidFill>
                <a:latin typeface="Arial" pitchFamily="34" charset="0"/>
                <a:ea typeface="Arial" pitchFamily="34" charset="-122"/>
                <a:cs typeface="Arial" pitchFamily="34" charset="-120"/>
              </a:rPr>
              <a:t>Two weeks of watching live intake would replace all of these with real measurements. That is step one of the plan, not an afterthought.</a:t>
            </a:r>
            <a:endParaRPr lang="en-US" sz="840" dirty="0"/>
          </a:p>
        </p:txBody>
      </p:sp>
      <p:sp>
        <p:nvSpPr>
          <p:cNvPr id="55" name="Text 53"/>
          <p:cNvSpPr txBox="1"/>
          <p:nvPr/>
        </p:nvSpPr>
        <p:spPr>
          <a:xfrm>
            <a:off x="365760" y="6126480"/>
            <a:ext cx="11430000" cy="237744"/>
          </a:xfrm>
          <a:prstGeom prst="rect">
            <a:avLst/>
          </a:prstGeom>
          <a:noFill/>
          <a:ln/>
        </p:spPr>
        <p:txBody>
          <a:bodyPr wrap="square" lIns="0" tIns="0" rIns="0" bIns="0" rtlCol="0" anchor="ctr"/>
          <a:lstStyle/>
          <a:p>
            <a:pPr indent="0" marL="0">
              <a:buNone/>
            </a:pPr>
            <a:r>
              <a:rPr lang="en-US" sz="700" dirty="0">
                <a:solidFill>
                  <a:srgbClr val="5B6472"/>
                </a:solidFill>
                <a:latin typeface="Arial" pitchFamily="34" charset="0"/>
                <a:ea typeface="Arial" pitchFamily="34" charset="-122"/>
                <a:cs typeface="Arial" pitchFamily="34" charset="-120"/>
              </a:rPr>
              <a:t>Prices checked September 2026 · US$ converted at €0.92 · every euro figure is fully loaded — gross pay plus employer contributions</a:t>
            </a:r>
            <a:endParaRPr lang="en-US" sz="700" dirty="0"/>
          </a:p>
        </p:txBody>
      </p:sp>
      <p:sp>
        <p:nvSpPr>
          <p:cNvPr id="56" name="Text 54"/>
          <p:cNvSpPr txBox="1"/>
          <p:nvPr/>
        </p:nvSpPr>
        <p:spPr>
          <a:xfrm>
            <a:off x="365760" y="6601968"/>
            <a:ext cx="5486400" cy="219456"/>
          </a:xfrm>
          <a:prstGeom prst="rect">
            <a:avLst/>
          </a:prstGeom>
          <a:noFill/>
          <a:ln/>
        </p:spPr>
        <p:txBody>
          <a:bodyPr wrap="square" lIns="0" tIns="0" rIns="0" bIns="0" rtlCol="0" anchor="ctr"/>
          <a:lstStyle/>
          <a:p>
            <a:pPr indent="0" marL="0">
              <a:buNone/>
            </a:pPr>
            <a:r>
              <a:rPr lang="en-US" sz="800" dirty="0">
                <a:solidFill>
                  <a:srgbClr val="5B6472"/>
                </a:solidFill>
                <a:latin typeface="Arial" pitchFamily="34" charset="0"/>
                <a:ea typeface="Arial" pitchFamily="34" charset="-122"/>
                <a:cs typeface="Arial" pitchFamily="34" charset="-120"/>
              </a:rPr>
              <a:t>GGW Claims Workflow Redesign · FNOL</a:t>
            </a:r>
            <a:endParaRPr lang="en-US" sz="800" dirty="0"/>
          </a:p>
        </p:txBody>
      </p:sp>
      <p:sp>
        <p:nvSpPr>
          <p:cNvPr id="57" name="Text 55"/>
          <p:cNvSpPr txBox="1"/>
          <p:nvPr/>
        </p:nvSpPr>
        <p:spPr>
          <a:xfrm>
            <a:off x="11247120" y="6601968"/>
            <a:ext cx="594360" cy="219456"/>
          </a:xfrm>
          <a:prstGeom prst="rect">
            <a:avLst/>
          </a:prstGeom>
          <a:noFill/>
          <a:ln/>
        </p:spPr>
        <p:txBody>
          <a:bodyPr wrap="square" lIns="0" tIns="0" rIns="0" bIns="0" rtlCol="0" anchor="ctr"/>
          <a:lstStyle/>
          <a:p>
            <a:pPr algn="r" indent="0" marL="0">
              <a:buNone/>
            </a:pPr>
            <a:r>
              <a:rPr lang="en-US" sz="800" dirty="0">
                <a:solidFill>
                  <a:srgbClr val="5B6472"/>
                </a:solidFill>
                <a:latin typeface="Arial" pitchFamily="34" charset="0"/>
                <a:ea typeface="Arial" pitchFamily="34" charset="-122"/>
                <a:cs typeface="Arial" pitchFamily="34" charset="-120"/>
              </a:rPr>
              <a:t>9 / 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FNOL — Today vs. AI-Native, in three parts</dc:title>
  <dc:subject>PptxGenJS Presentation</dc:subject>
  <dc:creator>GGW Case Study</dc:creator>
  <cp:lastModifiedBy>GGW Case Study</cp:lastModifiedBy>
  <cp:revision>1</cp:revision>
  <dcterms:created xsi:type="dcterms:W3CDTF">2026-09-06T20:42:39Z</dcterms:created>
  <dcterms:modified xsi:type="dcterms:W3CDTF">2026-09-06T20:42:39Z</dcterms:modified>
</cp:coreProperties>
</file>